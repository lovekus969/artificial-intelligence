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54"/>
  </p:notesMasterIdLst>
  <p:handoutMasterIdLst>
    <p:handoutMasterId r:id="rId55"/>
  </p:handoutMasterIdLst>
  <p:sldIdLst>
    <p:sldId id="256" r:id="rId2"/>
    <p:sldId id="257" r:id="rId3"/>
    <p:sldId id="258" r:id="rId4"/>
    <p:sldId id="259" r:id="rId5"/>
    <p:sldId id="260" r:id="rId6"/>
    <p:sldId id="309" r:id="rId7"/>
    <p:sldId id="308" r:id="rId8"/>
    <p:sldId id="261" r:id="rId9"/>
    <p:sldId id="262" r:id="rId10"/>
    <p:sldId id="310" r:id="rId11"/>
    <p:sldId id="263" r:id="rId12"/>
    <p:sldId id="311" r:id="rId13"/>
    <p:sldId id="264" r:id="rId14"/>
    <p:sldId id="312" r:id="rId15"/>
    <p:sldId id="265" r:id="rId16"/>
    <p:sldId id="313" r:id="rId17"/>
    <p:sldId id="314" r:id="rId18"/>
    <p:sldId id="266" r:id="rId19"/>
    <p:sldId id="315" r:id="rId20"/>
    <p:sldId id="267" r:id="rId21"/>
    <p:sldId id="268" r:id="rId22"/>
    <p:sldId id="316" r:id="rId23"/>
    <p:sldId id="317" r:id="rId24"/>
    <p:sldId id="318" r:id="rId25"/>
    <p:sldId id="269" r:id="rId26"/>
    <p:sldId id="319" r:id="rId27"/>
    <p:sldId id="270" r:id="rId28"/>
    <p:sldId id="320" r:id="rId29"/>
    <p:sldId id="271" r:id="rId30"/>
    <p:sldId id="272" r:id="rId31"/>
    <p:sldId id="321" r:id="rId32"/>
    <p:sldId id="273" r:id="rId33"/>
    <p:sldId id="274" r:id="rId34"/>
    <p:sldId id="305" r:id="rId35"/>
    <p:sldId id="276" r:id="rId36"/>
    <p:sldId id="322" r:id="rId37"/>
    <p:sldId id="277" r:id="rId38"/>
    <p:sldId id="278" r:id="rId39"/>
    <p:sldId id="280" r:id="rId40"/>
    <p:sldId id="323" r:id="rId41"/>
    <p:sldId id="281" r:id="rId42"/>
    <p:sldId id="324" r:id="rId43"/>
    <p:sldId id="327" r:id="rId44"/>
    <p:sldId id="282" r:id="rId45"/>
    <p:sldId id="326" r:id="rId46"/>
    <p:sldId id="325" r:id="rId47"/>
    <p:sldId id="283" r:id="rId48"/>
    <p:sldId id="284" r:id="rId49"/>
    <p:sldId id="285" r:id="rId50"/>
    <p:sldId id="286" r:id="rId51"/>
    <p:sldId id="287" r:id="rId52"/>
    <p:sldId id="288" r:id="rId53"/>
  </p:sldIdLst>
  <p:sldSz cx="9144000" cy="6858000" type="screen4x3"/>
  <p:notesSz cx="6881813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lberschatz, Avi" initials="SA" lastIdx="1" clrIdx="0">
    <p:extLst>
      <p:ext uri="{19B8F6BF-5375-455C-9EA6-DF929625EA0E}">
        <p15:presenceInfo xmlns:p15="http://schemas.microsoft.com/office/powerpoint/2012/main" userId="S::avi@yale.edu::016206a9-3acf-4d04-9473-be90a77fcf7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  <a:srgbClr val="800000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33" autoAdjust="0"/>
    <p:restoredTop sz="94667"/>
  </p:normalViewPr>
  <p:slideViewPr>
    <p:cSldViewPr snapToGrid="0">
      <p:cViewPr varScale="1">
        <p:scale>
          <a:sx n="80" d="100"/>
          <a:sy n="80" d="100"/>
        </p:scale>
        <p:origin x="734" y="58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9668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54292038-6B0F-2949-BFB3-4480D592610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3CBFB87-3130-8A40-8B9F-D30E7EF9A78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algn="r"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F0701F88-43FF-0741-8A3A-C0F52350229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3A87DA65-858F-5A45-B34A-C02AA0EBFC0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algn="r" defTabSz="876300">
              <a:defRPr sz="1100">
                <a:latin typeface="Helvetica" pitchFamily="2" charset="0"/>
              </a:defRPr>
            </a:lvl1pPr>
          </a:lstStyle>
          <a:p>
            <a:pPr>
              <a:defRPr/>
            </a:pPr>
            <a:fld id="{C746EC8E-B597-402D-9662-ABD14BABEE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A289FF7-9133-044D-B490-8A3FD0ABAE4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37CAAC1-3D1D-9E43-A83C-E5D89AC6506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00488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DED26F54-2C52-46FF-BCE0-8696D75415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180789FC-DD11-5542-803A-9516EB334E3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416425"/>
            <a:ext cx="5046663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58A87854-4AA0-1349-AAA1-90BFC8DE2E9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97C6A482-1B06-854B-9B2C-D5CE05B662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0488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8DDF7C7-3008-4DC4-9F8B-1490BCFC99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DDF7C7-3008-4DC4-9F8B-1490BCFC99E7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5612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51A2E241-E71B-4B35-B69B-2D69D5409309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CA593407-3A83-4E89-8524-3F2D7E670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63C094EE-E8AB-42C7-A23E-1CE65617C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465B52CB-4EE3-4303-91A6-1E3D2BCA2D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5912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47A6F8-52F5-4B26-AA4F-1FB7C19F8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01483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1281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96944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50761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94927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6788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 marL="742950" indent="-285750">
              <a:buFont typeface="Wingdings" panose="05000000000000000000" pitchFamily="2" charset="2"/>
              <a:buChar char="§"/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1367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4207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8059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8954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>
            <a:extLst>
              <a:ext uri="{FF2B5EF4-FFF2-40B4-BE49-F238E27FC236}">
                <a16:creationId xmlns:a16="http://schemas.microsoft.com/office/drawing/2014/main" id="{711A7626-44E9-4D96-BC9A-F6A4BE08DC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AC79F07-0E6C-44FE-917F-8A0EE9E669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584B750-FEEC-0B4D-999E-B75B39028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BB3E8C43-4EF8-44FA-8DCA-47F2442F536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2FE5170B-2E7A-4B4C-94CA-557F2ECD9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496210B7-549D-3546-82A3-21674AB19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1561" name="Text Box 9">
            <a:extLst>
              <a:ext uri="{FF2B5EF4-FFF2-40B4-BE49-F238E27FC236}">
                <a16:creationId xmlns:a16="http://schemas.microsoft.com/office/drawing/2014/main" id="{5C6426E9-6999-5448-90F1-0AD498E21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5290" y="6457949"/>
            <a:ext cx="341760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fld id="{47DE681D-3D41-4CB0-83AA-B406652BB5CF}" type="slidenum">
              <a:rPr lang="en-US" altLang="en-US" sz="1000" b="1" smtClean="0">
                <a:solidFill>
                  <a:srgbClr val="006699"/>
                </a:solidFill>
                <a:latin typeface="Helvetica" pitchFamily="2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6699"/>
              </a:solidFill>
              <a:latin typeface="Helvetica" pitchFamily="2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1" r:id="rId1"/>
    <p:sldLayoutId id="2147484061" r:id="rId2"/>
    <p:sldLayoutId id="2147484062" r:id="rId3"/>
    <p:sldLayoutId id="2147484063" r:id="rId4"/>
    <p:sldLayoutId id="2147484064" r:id="rId5"/>
    <p:sldLayoutId id="2147484065" r:id="rId6"/>
    <p:sldLayoutId id="2147484066" r:id="rId7"/>
    <p:sldLayoutId id="2147484067" r:id="rId8"/>
    <p:sldLayoutId id="2147484068" r:id="rId9"/>
    <p:sldLayoutId id="2147484069" r:id="rId10"/>
    <p:sldLayoutId id="214748407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rPr dirty="0"/>
              <a:t>Intelligent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Today's Topic: Intelligent Agents</a:t>
            </a:r>
          </a:p>
          <a:p>
            <a:endParaRPr dirty="0"/>
          </a:p>
          <a:p>
            <a:r>
              <a:rPr dirty="0"/>
              <a:t>Learning Objectives:</a:t>
            </a:r>
          </a:p>
          <a:p>
            <a:pPr lvl="1"/>
            <a:r>
              <a:rPr lang="en-US" dirty="0"/>
              <a:t>Understand what an agent is</a:t>
            </a:r>
          </a:p>
          <a:p>
            <a:pPr lvl="1"/>
            <a:r>
              <a:rPr lang="en-US" dirty="0"/>
              <a:t>Define rationality for agents</a:t>
            </a:r>
          </a:p>
          <a:p>
            <a:pPr lvl="1"/>
            <a:r>
              <a:rPr lang="en-US" dirty="0"/>
              <a:t>Classify task environments</a:t>
            </a:r>
          </a:p>
          <a:p>
            <a:pPr lvl="1"/>
            <a:r>
              <a:rPr lang="en-US" dirty="0"/>
              <a:t>Explore different agent architectures</a:t>
            </a:r>
          </a:p>
          <a:p>
            <a:pPr lvl="1"/>
            <a:r>
              <a:rPr lang="en-US" dirty="0"/>
              <a:t>Introduction to learning agents</a:t>
            </a:r>
          </a:p>
          <a:p>
            <a:endParaRPr dirty="0"/>
          </a:p>
          <a:p>
            <a:r>
              <a:rPr dirty="0"/>
              <a:t>"An agent is anything that can be viewed as perceiving its environment through sensors and acting upon that environment through actuators."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rPr dirty="0"/>
              <a:t>What is an Agent?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b="1" dirty="0"/>
              <a:t>Agent = Architecture + Program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b="1" dirty="0"/>
              <a:t>Human</a:t>
            </a:r>
            <a:r>
              <a:rPr lang="en-CA" dirty="0"/>
              <a:t>: Eyes, ears (sensors) | Hands, legs, vocal tract (actuators)</a:t>
            </a:r>
          </a:p>
          <a:p>
            <a:r>
              <a:rPr lang="en-CA" b="1" dirty="0"/>
              <a:t>Robotic</a:t>
            </a:r>
            <a:r>
              <a:rPr lang="en-CA" dirty="0"/>
              <a:t>: Cameras, range finders | Motors, grippers</a:t>
            </a:r>
          </a:p>
          <a:p>
            <a:r>
              <a:rPr lang="en-CA" b="1" dirty="0"/>
              <a:t>Software</a:t>
            </a:r>
            <a:r>
              <a:rPr lang="en-CA" dirty="0"/>
              <a:t>: File contents, network packets | Writing files, sending packets</a:t>
            </a:r>
          </a:p>
          <a:p>
            <a:endParaRPr lang="en-CA" dirty="0"/>
          </a:p>
          <a:p>
            <a:r>
              <a:rPr lang="en-CA" b="1" dirty="0"/>
              <a:t>Key Point</a:t>
            </a:r>
            <a:r>
              <a:rPr lang="en-CA" dirty="0"/>
              <a:t>: The environment is the part of the universe the agent interacts with</a:t>
            </a:r>
          </a:p>
        </p:txBody>
      </p:sp>
      <p:pic>
        <p:nvPicPr>
          <p:cNvPr id="16388" name="Picture 4" descr="What Is a Rational AI Agent?">
            <a:extLst>
              <a:ext uri="{FF2B5EF4-FFF2-40B4-BE49-F238E27FC236}">
                <a16:creationId xmlns:a16="http://schemas.microsoft.com/office/drawing/2014/main" id="{6D1FFA2E-4A62-4930-8762-CAB70283A8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0840" y="1607628"/>
            <a:ext cx="5862320" cy="2528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t>Percepts and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Fundamental Concepts</a:t>
            </a:r>
            <a:r>
              <a:rPr dirty="0"/>
              <a:t>:</a:t>
            </a:r>
          </a:p>
          <a:p>
            <a:pPr lvl="1"/>
            <a:r>
              <a:rPr b="1" dirty="0"/>
              <a:t>Percept</a:t>
            </a:r>
            <a:r>
              <a:rPr dirty="0"/>
              <a:t>: Content of agent's sensors at any given instant</a:t>
            </a:r>
          </a:p>
          <a:p>
            <a:pPr lvl="1"/>
            <a:r>
              <a:rPr b="1" dirty="0"/>
              <a:t>Percept Sequence</a:t>
            </a:r>
            <a:r>
              <a:rPr dirty="0"/>
              <a:t>: Complete history of everything agent has perceived</a:t>
            </a:r>
          </a:p>
          <a:p>
            <a:pPr lvl="1"/>
            <a:r>
              <a:rPr b="1" dirty="0"/>
              <a:t>Agent Function</a:t>
            </a:r>
            <a:r>
              <a:rPr dirty="0"/>
              <a:t>: Maps percept sequences to actions</a:t>
            </a:r>
          </a:p>
          <a:p>
            <a:pPr lvl="2"/>
            <a:r>
              <a:rPr dirty="0"/>
              <a:t>f: P* → A</a:t>
            </a:r>
          </a:p>
          <a:p>
            <a:endParaRPr dirty="0"/>
          </a:p>
          <a:p>
            <a:r>
              <a:rPr b="1" dirty="0"/>
              <a:t>Agent Program</a:t>
            </a:r>
            <a:r>
              <a:rPr dirty="0"/>
              <a:t>: Concrete implementation of agent function</a:t>
            </a:r>
          </a:p>
          <a:p>
            <a:endParaRPr dirty="0"/>
          </a:p>
          <a:p>
            <a:r>
              <a:rPr b="1" dirty="0"/>
              <a:t>Important Distinction:</a:t>
            </a:r>
          </a:p>
          <a:p>
            <a:pPr lvl="1"/>
            <a:r>
              <a:rPr dirty="0"/>
              <a:t>Agent function = abstract mathematical description</a:t>
            </a:r>
          </a:p>
          <a:p>
            <a:pPr lvl="1"/>
            <a:r>
              <a:rPr dirty="0"/>
              <a:t>Agent program = runs on physical system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rPr dirty="0"/>
              <a:t>Example - Vacuum Cleaner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450" y="1233488"/>
            <a:ext cx="8229600" cy="5262562"/>
          </a:xfrm>
        </p:spPr>
        <p:txBody>
          <a:bodyPr/>
          <a:lstStyle/>
          <a:p>
            <a:r>
              <a:rPr b="1" dirty="0"/>
              <a:t>Simple Environment:</a:t>
            </a:r>
          </a:p>
          <a:p>
            <a:pPr lvl="1"/>
            <a:r>
              <a:rPr dirty="0"/>
              <a:t>Two locations: A and B</a:t>
            </a:r>
          </a:p>
          <a:p>
            <a:pPr lvl="1"/>
            <a:r>
              <a:rPr dirty="0"/>
              <a:t>Each can be Clean or Dirty</a:t>
            </a:r>
          </a:p>
          <a:p>
            <a:pPr lvl="1"/>
            <a:r>
              <a:rPr dirty="0"/>
              <a:t>Agent perceives: location and dirt status</a:t>
            </a:r>
          </a:p>
          <a:p>
            <a:endParaRPr dirty="0"/>
          </a:p>
          <a:p>
            <a:r>
              <a:rPr b="1" dirty="0"/>
              <a:t>Available Actions:</a:t>
            </a:r>
          </a:p>
          <a:p>
            <a:pPr lvl="1"/>
            <a:r>
              <a:rPr lang="en-US" dirty="0"/>
              <a:t>Turn </a:t>
            </a:r>
            <a:r>
              <a:rPr dirty="0"/>
              <a:t>Left, </a:t>
            </a:r>
            <a:r>
              <a:rPr lang="en-US" dirty="0"/>
              <a:t>Turn </a:t>
            </a:r>
            <a:r>
              <a:rPr dirty="0"/>
              <a:t>Right, </a:t>
            </a:r>
            <a:r>
              <a:rPr lang="en-US" dirty="0"/>
              <a:t>Pickup Dirt</a:t>
            </a:r>
            <a:r>
              <a:rPr dirty="0"/>
              <a:t>, </a:t>
            </a:r>
            <a:r>
              <a:rPr dirty="0" err="1"/>
              <a:t>NoOp</a:t>
            </a:r>
            <a:endParaRPr dirty="0"/>
          </a:p>
          <a:p>
            <a:endParaRPr dirty="0"/>
          </a:p>
          <a:p>
            <a:r>
              <a:rPr b="1" dirty="0"/>
              <a:t>Agent Function (Partial):</a:t>
            </a:r>
          </a:p>
          <a:p>
            <a:pPr lvl="1"/>
            <a:r>
              <a:rPr dirty="0"/>
              <a:t>[A, Clean] → </a:t>
            </a:r>
            <a:r>
              <a:rPr lang="en-US" dirty="0"/>
              <a:t>Turn </a:t>
            </a:r>
            <a:r>
              <a:rPr dirty="0"/>
              <a:t>Right</a:t>
            </a:r>
          </a:p>
          <a:p>
            <a:pPr lvl="1"/>
            <a:r>
              <a:rPr dirty="0"/>
              <a:t>[A, Dirty] → </a:t>
            </a:r>
            <a:r>
              <a:rPr lang="en-US" dirty="0"/>
              <a:t>Pickup Dirt</a:t>
            </a:r>
            <a:endParaRPr dirty="0"/>
          </a:p>
          <a:p>
            <a:pPr lvl="1"/>
            <a:r>
              <a:rPr dirty="0"/>
              <a:t>[B, Clean] → </a:t>
            </a:r>
            <a:r>
              <a:rPr lang="en-US" dirty="0"/>
              <a:t>Turn </a:t>
            </a:r>
            <a:r>
              <a:rPr dirty="0"/>
              <a:t>Left</a:t>
            </a:r>
          </a:p>
          <a:p>
            <a:pPr lvl="1"/>
            <a:r>
              <a:rPr dirty="0"/>
              <a:t>[B, Dirty] → </a:t>
            </a:r>
            <a:r>
              <a:rPr lang="en-US" dirty="0"/>
              <a:t>Pickup Dirt</a:t>
            </a:r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t>The Vacuum World - State 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State Space Properties:</a:t>
            </a:r>
          </a:p>
          <a:p>
            <a:pPr lvl="1"/>
            <a:r>
              <a:rPr dirty="0"/>
              <a:t>2 possible locations for agent</a:t>
            </a:r>
            <a:r>
              <a:rPr lang="en-US" dirty="0"/>
              <a:t> (A or B)</a:t>
            </a:r>
            <a:endParaRPr dirty="0"/>
          </a:p>
          <a:p>
            <a:pPr lvl="1"/>
            <a:r>
              <a:rPr dirty="0"/>
              <a:t>2² = 4 possible dirt configurations</a:t>
            </a:r>
            <a:endParaRPr lang="en-US" dirty="0"/>
          </a:p>
          <a:p>
            <a:pPr lvl="2"/>
            <a:r>
              <a:rPr lang="en-US" dirty="0"/>
              <a:t>(A clean, B clean)</a:t>
            </a:r>
          </a:p>
          <a:p>
            <a:pPr lvl="2"/>
            <a:r>
              <a:rPr lang="en-US" dirty="0"/>
              <a:t>(A dirty, B clean)</a:t>
            </a:r>
          </a:p>
          <a:p>
            <a:pPr lvl="2"/>
            <a:r>
              <a:rPr lang="en-US" dirty="0"/>
              <a:t>(A clean, B dirty)</a:t>
            </a:r>
          </a:p>
          <a:p>
            <a:pPr lvl="2"/>
            <a:r>
              <a:rPr lang="en-US" dirty="0"/>
              <a:t>(A dirty, B dirty)</a:t>
            </a:r>
          </a:p>
          <a:p>
            <a:pPr lvl="1"/>
            <a:r>
              <a:rPr dirty="0"/>
              <a:t>Total: 2 × 4 = 8 states</a:t>
            </a:r>
          </a:p>
          <a:p>
            <a:endParaRPr dirty="0"/>
          </a:p>
          <a:p>
            <a:r>
              <a:rPr dirty="0"/>
              <a:t>General n-cell vacuum world:</a:t>
            </a:r>
          </a:p>
          <a:p>
            <a:pPr lvl="1"/>
            <a:r>
              <a:rPr dirty="0"/>
              <a:t>n possible agent locations</a:t>
            </a:r>
          </a:p>
          <a:p>
            <a:pPr lvl="1"/>
            <a:r>
              <a:rPr dirty="0"/>
              <a:t>2ⁿ dirt configurations</a:t>
            </a:r>
          </a:p>
          <a:p>
            <a:pPr lvl="1"/>
            <a:r>
              <a:rPr dirty="0"/>
              <a:t>Total: n × 2ⁿ states</a:t>
            </a:r>
          </a:p>
          <a:p>
            <a:r>
              <a:rPr dirty="0"/>
              <a:t>Challenge: As environments grow, explicit tabulation becomes impossible!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t>The Vacuum World - State Space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744B99-AA0A-4698-B780-556E3B5BF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98" y="1173306"/>
            <a:ext cx="8485203" cy="508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642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rPr lang="en-US" dirty="0"/>
              <a:t>Action Tabulation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see this → do that</a:t>
            </a:r>
          </a:p>
          <a:p>
            <a:pPr lvl="1"/>
            <a:r>
              <a:rPr lang="en-US" dirty="0"/>
              <a:t>State → Action</a:t>
            </a:r>
          </a:p>
          <a:p>
            <a:pPr lvl="1"/>
            <a:r>
              <a:rPr lang="en-US" dirty="0"/>
              <a:t>One row for each state</a:t>
            </a:r>
          </a:p>
          <a:p>
            <a:r>
              <a:rPr lang="en-US" dirty="0"/>
              <a:t>But in realistic environments:</a:t>
            </a:r>
          </a:p>
          <a:p>
            <a:pPr lvl="1"/>
            <a:r>
              <a:rPr lang="en-US" dirty="0"/>
              <a:t>You </a:t>
            </a:r>
            <a:r>
              <a:rPr lang="en-US" b="1" dirty="0"/>
              <a:t>cannot list all states</a:t>
            </a:r>
            <a:endParaRPr lang="en-US" dirty="0"/>
          </a:p>
          <a:p>
            <a:pPr lvl="1"/>
            <a:r>
              <a:rPr lang="en-US" dirty="0"/>
              <a:t>You </a:t>
            </a:r>
            <a:r>
              <a:rPr lang="en-US" b="1" dirty="0"/>
              <a:t>cannot store actions for every case</a:t>
            </a:r>
            <a:endParaRPr lang="en-US" dirty="0"/>
          </a:p>
          <a:p>
            <a:pPr lvl="1"/>
            <a:r>
              <a:rPr lang="en-US" dirty="0"/>
              <a:t>You </a:t>
            </a:r>
            <a:r>
              <a:rPr lang="en-US" b="1" dirty="0"/>
              <a:t>cannot plan by brute-force enumeration</a:t>
            </a:r>
          </a:p>
          <a:p>
            <a:pPr lvl="2"/>
            <a:r>
              <a:rPr lang="en-US" dirty="0"/>
              <a:t>Your program cannot be made out of a bunch of </a:t>
            </a:r>
            <a:r>
              <a:rPr lang="en-US" b="1" dirty="0"/>
              <a:t>if</a:t>
            </a:r>
            <a:r>
              <a:rPr lang="en-US" dirty="0"/>
              <a:t> statements or constantly looks up actions in a giant lookup table</a:t>
            </a:r>
          </a:p>
          <a:p>
            <a:r>
              <a:rPr lang="en-US" dirty="0"/>
              <a:t>Instead of explicit tables, agents must use:</a:t>
            </a:r>
          </a:p>
          <a:p>
            <a:pPr lvl="1"/>
            <a:r>
              <a:rPr lang="en-US" dirty="0"/>
              <a:t>General rules</a:t>
            </a:r>
          </a:p>
          <a:p>
            <a:pPr lvl="1"/>
            <a:r>
              <a:rPr lang="en-US" dirty="0"/>
              <a:t>Search algorithms</a:t>
            </a:r>
          </a:p>
          <a:p>
            <a:pPr lvl="1"/>
            <a:r>
              <a:rPr lang="en-US" dirty="0"/>
              <a:t>Planning</a:t>
            </a:r>
          </a:p>
          <a:p>
            <a:pPr lvl="1"/>
            <a:r>
              <a:rPr lang="en-US" dirty="0"/>
              <a:t>Learning (ML / RL)</a:t>
            </a:r>
          </a:p>
          <a:p>
            <a:pPr lvl="1"/>
            <a:r>
              <a:rPr lang="en-US" dirty="0"/>
              <a:t>Function approximation (e.g., neural networks)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3C157E-6186-44D4-98C9-E5609F0C9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672" y="1374425"/>
            <a:ext cx="2191056" cy="25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377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rPr dirty="0"/>
              <a:t>What Makes an Agent Good?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450" y="990600"/>
            <a:ext cx="8229600" cy="4773613"/>
          </a:xfrm>
        </p:spPr>
        <p:txBody>
          <a:bodyPr/>
          <a:lstStyle/>
          <a:p>
            <a:r>
              <a:rPr b="1" dirty="0"/>
              <a:t>Question</a:t>
            </a:r>
            <a:r>
              <a:rPr dirty="0"/>
              <a:t>: How do we fill in the agent function table</a:t>
            </a:r>
            <a:r>
              <a:rPr lang="en-US" dirty="0"/>
              <a:t>/policy</a:t>
            </a:r>
            <a:r>
              <a:rPr dirty="0"/>
              <a:t> correctly?</a:t>
            </a:r>
            <a:endParaRPr lang="en-US" dirty="0"/>
          </a:p>
          <a:p>
            <a:pPr lvl="1"/>
            <a:r>
              <a:rPr lang="en-CA" dirty="0"/>
              <a:t>How do we know what is the </a:t>
            </a:r>
            <a:r>
              <a:rPr lang="en-US" i="1" dirty="0"/>
              <a:t>correct</a:t>
            </a:r>
            <a:r>
              <a:rPr lang="en-US" dirty="0"/>
              <a:t> action is for each situation?</a:t>
            </a:r>
            <a:endParaRPr dirty="0"/>
          </a:p>
          <a:p>
            <a:pPr lvl="1"/>
            <a:r>
              <a:rPr lang="en-US" dirty="0"/>
              <a:t>There is no universally “right” action unless we first define what </a:t>
            </a:r>
            <a:r>
              <a:rPr lang="en-US" b="1" dirty="0"/>
              <a:t>success means</a:t>
            </a:r>
            <a:r>
              <a:rPr lang="en-US" dirty="0"/>
              <a:t>.</a:t>
            </a:r>
          </a:p>
          <a:p>
            <a:r>
              <a:rPr b="1" dirty="0"/>
              <a:t>The Answer</a:t>
            </a:r>
            <a:r>
              <a:rPr dirty="0"/>
              <a:t>: It depends on:</a:t>
            </a:r>
          </a:p>
          <a:p>
            <a:pPr lvl="1"/>
            <a:r>
              <a:rPr dirty="0"/>
              <a:t>What we want the agent to achieve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Maximum cleanliness, Minimal time, Minimal noise, …etc.</a:t>
            </a:r>
            <a:endParaRPr dirty="0"/>
          </a:p>
          <a:p>
            <a:pPr lvl="1"/>
            <a:r>
              <a:rPr dirty="0"/>
              <a:t>The environment it operates in</a:t>
            </a:r>
            <a:endParaRPr lang="en-US" dirty="0"/>
          </a:p>
          <a:p>
            <a:pPr lvl="2"/>
            <a:r>
              <a:rPr lang="en-US" dirty="0"/>
              <a:t>Are there obstacles? How big is the space?</a:t>
            </a:r>
            <a:endParaRPr dirty="0"/>
          </a:p>
          <a:p>
            <a:pPr lvl="1"/>
            <a:r>
              <a:rPr dirty="0"/>
              <a:t>The actions available to it</a:t>
            </a:r>
            <a:endParaRPr lang="en-US" dirty="0"/>
          </a:p>
          <a:p>
            <a:pPr lvl="2"/>
            <a:r>
              <a:rPr lang="en-US" dirty="0"/>
              <a:t>What the agent </a:t>
            </a:r>
            <a:r>
              <a:rPr lang="en-US" i="1" dirty="0"/>
              <a:t>can</a:t>
            </a:r>
            <a:r>
              <a:rPr lang="en-US" dirty="0"/>
              <a:t> do shapes what it </a:t>
            </a:r>
            <a:r>
              <a:rPr lang="en-US" i="1" dirty="0"/>
              <a:t>should</a:t>
            </a:r>
            <a:r>
              <a:rPr lang="en-US" dirty="0"/>
              <a:t> do.</a:t>
            </a:r>
            <a:endParaRPr dirty="0"/>
          </a:p>
          <a:p>
            <a:pPr lvl="1"/>
            <a:r>
              <a:rPr dirty="0"/>
              <a:t>What it can perceive</a:t>
            </a:r>
          </a:p>
          <a:p>
            <a:pPr lvl="2"/>
            <a:r>
              <a:rPr lang="en-US" dirty="0"/>
              <a:t>Limited perception forces different strategies than full observability.</a:t>
            </a:r>
            <a:endParaRPr dirty="0"/>
          </a:p>
          <a:p>
            <a:endParaRPr lang="en-US" b="1" dirty="0"/>
          </a:p>
          <a:p>
            <a:r>
              <a:rPr b="1" dirty="0"/>
              <a:t>Key Insight</a:t>
            </a:r>
            <a:r>
              <a:rPr dirty="0"/>
              <a:t>:</a:t>
            </a:r>
            <a:r>
              <a:rPr lang="en-US" dirty="0"/>
              <a:t> </a:t>
            </a:r>
            <a:r>
              <a:rPr dirty="0"/>
              <a:t>"Good" is defined by consequences, not by the agent's internal reasoning process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rPr dirty="0"/>
              <a:t>Performance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performance measure</a:t>
            </a:r>
            <a:r>
              <a:rPr lang="en-US" dirty="0"/>
              <a:t> is how we evaluate whether an agent is doing well.</a:t>
            </a:r>
          </a:p>
          <a:p>
            <a:r>
              <a:rPr lang="en-US" dirty="0"/>
              <a:t>A performance measure evaluates the </a:t>
            </a:r>
            <a:r>
              <a:rPr lang="en-US" b="1" dirty="0"/>
              <a:t>outcomes over time</a:t>
            </a:r>
            <a:r>
              <a:rPr lang="en-US" dirty="0"/>
              <a:t> — that is, the </a:t>
            </a:r>
            <a:r>
              <a:rPr lang="en-US" b="1" dirty="0"/>
              <a:t>sequence of environment states</a:t>
            </a:r>
            <a:r>
              <a:rPr lang="en-US" dirty="0"/>
              <a:t> produced by the agent’s actions.</a:t>
            </a:r>
          </a:p>
          <a:p>
            <a:endParaRPr lang="en-US" dirty="0"/>
          </a:p>
          <a:p>
            <a:r>
              <a:rPr lang="en-US" dirty="0"/>
              <a:t>It does </a:t>
            </a:r>
            <a:r>
              <a:rPr lang="en-US" b="1" dirty="0"/>
              <a:t>not</a:t>
            </a:r>
            <a:r>
              <a:rPr lang="en-US" dirty="0"/>
              <a:t> judge:</a:t>
            </a:r>
          </a:p>
          <a:p>
            <a:pPr lvl="1"/>
            <a:r>
              <a:rPr lang="en-US" dirty="0"/>
              <a:t>how clever the agent is,</a:t>
            </a:r>
          </a:p>
          <a:p>
            <a:pPr lvl="1"/>
            <a:r>
              <a:rPr lang="en-US" dirty="0"/>
              <a:t>what algorithm it uses,</a:t>
            </a:r>
          </a:p>
          <a:p>
            <a:pPr lvl="1"/>
            <a:r>
              <a:rPr lang="en-US" dirty="0"/>
              <a:t>or whether it reasons like a human.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rPr dirty="0"/>
              <a:t>Performance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450" y="854076"/>
            <a:ext cx="8229600" cy="4910138"/>
          </a:xfrm>
        </p:spPr>
        <p:txBody>
          <a:bodyPr/>
          <a:lstStyle/>
          <a:p>
            <a:r>
              <a:rPr b="1" dirty="0"/>
              <a:t>Example</a:t>
            </a:r>
            <a:r>
              <a:rPr dirty="0"/>
              <a:t> - Vacuum World:</a:t>
            </a:r>
          </a:p>
          <a:p>
            <a:pPr lvl="1"/>
            <a:r>
              <a:rPr lang="en-CA" b="1" dirty="0"/>
              <a:t>Bad Performance Measure</a:t>
            </a:r>
            <a:r>
              <a:rPr dirty="0"/>
              <a:t>: </a:t>
            </a:r>
            <a:endParaRPr lang="en-US" dirty="0"/>
          </a:p>
          <a:p>
            <a:pPr lvl="2"/>
            <a:r>
              <a:rPr dirty="0"/>
              <a:t>Reward for dirt cleaned up</a:t>
            </a:r>
          </a:p>
          <a:p>
            <a:pPr lvl="2"/>
            <a:r>
              <a:rPr dirty="0"/>
              <a:t>Agent could dump dirt and clean repeatedly!</a:t>
            </a:r>
            <a:endParaRPr lang="en-CA" dirty="0"/>
          </a:p>
          <a:p>
            <a:pPr lvl="3"/>
            <a:r>
              <a:rPr lang="en-US" dirty="0"/>
              <a:t>So the agent is </a:t>
            </a:r>
            <a:r>
              <a:rPr lang="en-US" b="1" dirty="0"/>
              <a:t>optimizing the reward</a:t>
            </a:r>
            <a:r>
              <a:rPr lang="en-US" dirty="0"/>
              <a:t>, not the real goal.</a:t>
            </a:r>
          </a:p>
          <a:p>
            <a:pPr lvl="3"/>
            <a:r>
              <a:rPr lang="en-US" dirty="0"/>
              <a:t>This is an example of </a:t>
            </a:r>
            <a:r>
              <a:rPr lang="en-US" b="1" dirty="0"/>
              <a:t>reward hacking</a:t>
            </a:r>
            <a:r>
              <a:rPr lang="en-US" dirty="0"/>
              <a:t> or </a:t>
            </a:r>
            <a:r>
              <a:rPr lang="en-US" b="1" dirty="0"/>
              <a:t>perverse incentives</a:t>
            </a:r>
            <a:r>
              <a:rPr lang="en-US" dirty="0"/>
              <a:t>.</a:t>
            </a:r>
          </a:p>
          <a:p>
            <a:pPr lvl="1"/>
            <a:r>
              <a:rPr b="1" dirty="0"/>
              <a:t>Good</a:t>
            </a:r>
            <a:r>
              <a:rPr lang="en-CA" b="1" dirty="0"/>
              <a:t> Performance Measure </a:t>
            </a:r>
            <a:r>
              <a:rPr dirty="0"/>
              <a:t>:</a:t>
            </a:r>
          </a:p>
          <a:p>
            <a:pPr lvl="2"/>
            <a:r>
              <a:rPr dirty="0"/>
              <a:t>+1 point per clean square at each time step</a:t>
            </a:r>
            <a:endParaRPr lang="en-CA" dirty="0"/>
          </a:p>
          <a:p>
            <a:pPr lvl="3"/>
            <a:r>
              <a:rPr lang="en-US" dirty="0"/>
              <a:t>encourages keeping the environment clean over time</a:t>
            </a:r>
            <a:endParaRPr dirty="0"/>
          </a:p>
          <a:p>
            <a:pPr lvl="2"/>
            <a:r>
              <a:rPr dirty="0"/>
              <a:t>Penalty for electricity consumed</a:t>
            </a:r>
            <a:endParaRPr lang="en-CA" dirty="0"/>
          </a:p>
          <a:p>
            <a:pPr lvl="3"/>
            <a:r>
              <a:rPr lang="en-US" dirty="0"/>
              <a:t>discourages unnecessary movement or cleaning</a:t>
            </a:r>
            <a:endParaRPr dirty="0"/>
          </a:p>
          <a:p>
            <a:pPr lvl="2"/>
            <a:r>
              <a:rPr dirty="0"/>
              <a:t>Penalty for noise generated</a:t>
            </a:r>
          </a:p>
          <a:p>
            <a:pPr lvl="3"/>
            <a:r>
              <a:rPr lang="en-CA" dirty="0"/>
              <a:t>discourages excessive operation</a:t>
            </a:r>
            <a:endParaRPr dirty="0"/>
          </a:p>
          <a:p>
            <a:r>
              <a:rPr b="1" dirty="0"/>
              <a:t>Golden Rule</a:t>
            </a:r>
            <a:r>
              <a:rPr dirty="0"/>
              <a:t>:</a:t>
            </a:r>
          </a:p>
          <a:p>
            <a:pPr lvl="1"/>
            <a:r>
              <a:rPr dirty="0"/>
              <a:t>Design performance measures according to </a:t>
            </a:r>
            <a:r>
              <a:rPr b="1" dirty="0"/>
              <a:t>what you want achieved </a:t>
            </a:r>
            <a:r>
              <a:rPr dirty="0"/>
              <a:t>in the environment, not how you think the agent should behave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32177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t>Rationality - Formal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47750"/>
            <a:ext cx="8578850" cy="5810250"/>
          </a:xfrm>
        </p:spPr>
        <p:txBody>
          <a:bodyPr/>
          <a:lstStyle/>
          <a:p>
            <a:r>
              <a:rPr b="1" dirty="0"/>
              <a:t>A rational agent</a:t>
            </a:r>
            <a:r>
              <a:rPr dirty="0"/>
              <a:t>:</a:t>
            </a:r>
          </a:p>
          <a:p>
            <a:pPr lvl="1"/>
            <a:r>
              <a:rPr dirty="0"/>
              <a:t>For each possible </a:t>
            </a:r>
            <a:r>
              <a:rPr i="1" dirty="0"/>
              <a:t>percept sequence</a:t>
            </a:r>
            <a:r>
              <a:rPr lang="en-CA" i="1" dirty="0"/>
              <a:t> </a:t>
            </a:r>
            <a:r>
              <a:rPr lang="en-CA" dirty="0"/>
              <a:t>(i.e., entire history)</a:t>
            </a:r>
            <a:r>
              <a:rPr dirty="0"/>
              <a:t>, selects an action that is expected to </a:t>
            </a:r>
            <a:r>
              <a:rPr b="1" dirty="0"/>
              <a:t>maximize</a:t>
            </a:r>
            <a:r>
              <a:rPr dirty="0"/>
              <a:t> its performance measure, given:</a:t>
            </a:r>
          </a:p>
          <a:p>
            <a:pPr lvl="2"/>
            <a:r>
              <a:rPr dirty="0"/>
              <a:t>The evidence provided by the percept sequence</a:t>
            </a:r>
          </a:p>
          <a:p>
            <a:pPr lvl="2"/>
            <a:r>
              <a:rPr dirty="0"/>
              <a:t>Whatever built-in knowledge the agent has</a:t>
            </a:r>
            <a:endParaRPr lang="en-CA" dirty="0"/>
          </a:p>
          <a:p>
            <a:pPr lvl="3"/>
            <a:r>
              <a:rPr lang="en-US" dirty="0"/>
              <a:t>models of how the world works</a:t>
            </a:r>
          </a:p>
          <a:p>
            <a:pPr lvl="3"/>
            <a:r>
              <a:rPr lang="en-US" dirty="0"/>
              <a:t>probabilities of events</a:t>
            </a:r>
          </a:p>
          <a:p>
            <a:pPr lvl="3"/>
            <a:r>
              <a:rPr lang="en-US" dirty="0"/>
              <a:t>rules of physics</a:t>
            </a:r>
          </a:p>
          <a:p>
            <a:pPr lvl="3"/>
            <a:r>
              <a:rPr lang="en-US" dirty="0"/>
              <a:t>…etc.</a:t>
            </a:r>
            <a:endParaRPr dirty="0"/>
          </a:p>
          <a:p>
            <a:endParaRPr dirty="0"/>
          </a:p>
          <a:p>
            <a:r>
              <a:rPr b="1" dirty="0"/>
              <a:t>Four Factors Determining Rationality</a:t>
            </a:r>
            <a:r>
              <a:rPr dirty="0"/>
              <a:t>:</a:t>
            </a:r>
          </a:p>
          <a:p>
            <a:pPr lvl="1"/>
            <a:r>
              <a:rPr dirty="0"/>
              <a:t>The performance measure</a:t>
            </a:r>
            <a:r>
              <a:rPr lang="en-CA" dirty="0"/>
              <a:t> (</a:t>
            </a:r>
            <a:r>
              <a:rPr lang="en-US" dirty="0"/>
              <a:t>Rationality is always defined relative to goals.)</a:t>
            </a:r>
            <a:endParaRPr dirty="0"/>
          </a:p>
          <a:p>
            <a:pPr lvl="1"/>
            <a:r>
              <a:rPr dirty="0"/>
              <a:t>Agent's prior knowledge of environment</a:t>
            </a:r>
          </a:p>
          <a:p>
            <a:pPr lvl="1"/>
            <a:r>
              <a:rPr dirty="0"/>
              <a:t>Actions agent can perform</a:t>
            </a:r>
            <a:r>
              <a:rPr lang="en-CA" dirty="0"/>
              <a:t> (</a:t>
            </a:r>
            <a:r>
              <a:rPr lang="en-US" dirty="0"/>
              <a:t>cannot be blamed for not doing what it can’t do)</a:t>
            </a:r>
            <a:endParaRPr dirty="0"/>
          </a:p>
          <a:p>
            <a:pPr lvl="1"/>
            <a:r>
              <a:rPr dirty="0"/>
              <a:t>Agent's percept sequence to date</a:t>
            </a:r>
            <a:r>
              <a:rPr lang="en-CA" dirty="0"/>
              <a:t> (i.e., experience)</a:t>
            </a:r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rPr sz="2800" dirty="0"/>
              <a:t>Rationality vs. Omniscience</a:t>
            </a:r>
            <a:r>
              <a:rPr lang="en-CA" sz="2800" dirty="0"/>
              <a:t> (om-NISH-</a:t>
            </a:r>
            <a:r>
              <a:rPr lang="en-CA" sz="2800" dirty="0" err="1"/>
              <a:t>uhns</a:t>
            </a:r>
            <a:r>
              <a:rPr lang="en-CA" sz="2800" dirty="0"/>
              <a:t>)</a:t>
            </a:r>
            <a:endParaRPr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Rational ≠ Perfect</a:t>
            </a:r>
          </a:p>
          <a:p>
            <a:r>
              <a:rPr lang="en-US" dirty="0"/>
              <a:t>A rational agent:</a:t>
            </a:r>
          </a:p>
          <a:p>
            <a:pPr lvl="1"/>
            <a:r>
              <a:rPr lang="en-US" dirty="0"/>
              <a:t>may make mistakes</a:t>
            </a:r>
          </a:p>
          <a:p>
            <a:pPr lvl="1"/>
            <a:r>
              <a:rPr lang="en-US" dirty="0"/>
              <a:t>may fail</a:t>
            </a:r>
          </a:p>
          <a:p>
            <a:pPr lvl="1"/>
            <a:r>
              <a:rPr lang="en-US" dirty="0"/>
              <a:t>may have incomplete information</a:t>
            </a:r>
          </a:p>
          <a:p>
            <a:r>
              <a:rPr lang="en-US" dirty="0"/>
              <a:t>But it still acts optimally </a:t>
            </a:r>
            <a:r>
              <a:rPr lang="en-US" b="1" dirty="0"/>
              <a:t>given its knowledge and perceptions</a:t>
            </a:r>
            <a:r>
              <a:rPr lang="en-US" dirty="0"/>
              <a:t>.</a:t>
            </a:r>
          </a:p>
          <a:p>
            <a:r>
              <a:rPr lang="en-US" dirty="0"/>
              <a:t>This avoids confusing:</a:t>
            </a:r>
          </a:p>
          <a:p>
            <a:pPr lvl="1"/>
            <a:r>
              <a:rPr lang="en-US" dirty="0"/>
              <a:t>rationality with omniscience (knowing everything)</a:t>
            </a:r>
          </a:p>
          <a:p>
            <a:pPr lvl="1"/>
            <a:r>
              <a:rPr lang="en-US" dirty="0"/>
              <a:t>which is an important distinction in AI theory.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78131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rPr sz="2800" dirty="0"/>
              <a:t>Rationality vs. Omniscience</a:t>
            </a:r>
            <a:r>
              <a:rPr lang="en-CA" sz="2800" dirty="0"/>
              <a:t> (om-NISH-</a:t>
            </a:r>
            <a:r>
              <a:rPr lang="en-CA" sz="2800" dirty="0" err="1"/>
              <a:t>uhns</a:t>
            </a:r>
            <a:r>
              <a:rPr lang="en-CA" sz="2800" dirty="0"/>
              <a:t>)</a:t>
            </a:r>
            <a:endParaRPr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33488"/>
            <a:ext cx="8578850" cy="4530725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rational</a:t>
            </a:r>
            <a:r>
              <a:rPr lang="en-US" dirty="0"/>
              <a:t> agent Does the best possible thing it can, </a:t>
            </a:r>
            <a:r>
              <a:rPr lang="en-US" b="1" dirty="0"/>
              <a:t>given what it knows </a:t>
            </a:r>
            <a:r>
              <a:rPr lang="en-US" dirty="0"/>
              <a:t>and</a:t>
            </a:r>
            <a:r>
              <a:rPr lang="en-US" b="1" dirty="0"/>
              <a:t> what it can do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it answers the question:</a:t>
            </a:r>
          </a:p>
          <a:p>
            <a:pPr lvl="2"/>
            <a:r>
              <a:rPr lang="en-US" dirty="0"/>
              <a:t>“What is the best action based on my information right now?”</a:t>
            </a:r>
          </a:p>
          <a:p>
            <a:r>
              <a:rPr lang="en-US" dirty="0"/>
              <a:t>An </a:t>
            </a:r>
            <a:r>
              <a:rPr lang="en-US" b="1" dirty="0"/>
              <a:t>omniscient</a:t>
            </a:r>
            <a:r>
              <a:rPr lang="en-US" dirty="0"/>
              <a:t> agent always knows the true state of the world and the exact outcome of every possible action.</a:t>
            </a:r>
          </a:p>
          <a:p>
            <a:pPr lvl="1"/>
            <a:r>
              <a:rPr lang="en-US" dirty="0"/>
              <a:t>So it always chooses the action that leads to the </a:t>
            </a:r>
            <a:r>
              <a:rPr lang="en-US" b="1" dirty="0"/>
              <a:t>best actual result</a:t>
            </a:r>
            <a:r>
              <a:rPr lang="en-US" dirty="0"/>
              <a:t>, not just the best expected one.</a:t>
            </a:r>
          </a:p>
          <a:p>
            <a:pPr lvl="1"/>
            <a:endParaRPr lang="en-CA" b="1" dirty="0"/>
          </a:p>
          <a:p>
            <a:r>
              <a:rPr b="1" dirty="0"/>
              <a:t>Scenario: Crossing the street</a:t>
            </a:r>
          </a:p>
          <a:p>
            <a:pPr lvl="1"/>
            <a:r>
              <a:rPr lang="en-US" dirty="0"/>
              <a:t>You look both ways (no traffic visible)</a:t>
            </a:r>
          </a:p>
          <a:p>
            <a:pPr lvl="1"/>
            <a:r>
              <a:rPr lang="en-US" dirty="0"/>
              <a:t>Start crossing rationally</a:t>
            </a:r>
          </a:p>
          <a:p>
            <a:pPr lvl="1"/>
            <a:r>
              <a:rPr lang="en-US" dirty="0"/>
              <a:t>Cargo door falls from a plane at 33,000 feet</a:t>
            </a:r>
          </a:p>
          <a:p>
            <a:pPr lvl="1"/>
            <a:r>
              <a:rPr lang="en-US" dirty="0"/>
              <a:t>You are flattened</a:t>
            </a:r>
          </a:p>
          <a:p>
            <a:r>
              <a:rPr lang="en-US" b="1" dirty="0"/>
              <a:t>Were you irrational</a:t>
            </a:r>
            <a:r>
              <a:rPr lang="en-US" dirty="0"/>
              <a:t>? NO!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rPr sz="2800" dirty="0"/>
              <a:t>Rationality vs. Omniscience</a:t>
            </a:r>
            <a:r>
              <a:rPr lang="en-CA" sz="2800" dirty="0"/>
              <a:t> (om-NISH-</a:t>
            </a:r>
            <a:r>
              <a:rPr lang="en-CA" sz="2800" dirty="0" err="1"/>
              <a:t>uhns</a:t>
            </a:r>
            <a:r>
              <a:rPr lang="en-CA" sz="2800" dirty="0"/>
              <a:t>)</a:t>
            </a:r>
            <a:endParaRPr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450" y="1262063"/>
            <a:ext cx="8229600" cy="4530725"/>
          </a:xfrm>
        </p:spPr>
        <p:txBody>
          <a:bodyPr/>
          <a:lstStyle/>
          <a:p>
            <a:r>
              <a:rPr lang="en-US" b="1" dirty="0"/>
              <a:t>Key Distinctions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Rationality</a:t>
            </a:r>
          </a:p>
          <a:p>
            <a:pPr lvl="2"/>
            <a:r>
              <a:rPr lang="en-US" dirty="0"/>
              <a:t>Maximizes expected performance</a:t>
            </a:r>
          </a:p>
          <a:p>
            <a:pPr lvl="2"/>
            <a:r>
              <a:rPr lang="en-US" dirty="0"/>
              <a:t>Based on probabilities and evidence</a:t>
            </a:r>
          </a:p>
          <a:p>
            <a:pPr lvl="2"/>
            <a:r>
              <a:rPr lang="en-US" dirty="0"/>
              <a:t>What AI agents can aim for</a:t>
            </a:r>
          </a:p>
          <a:p>
            <a:pPr lvl="1"/>
            <a:r>
              <a:rPr lang="en-US" b="1" dirty="0"/>
              <a:t>Omniscience</a:t>
            </a:r>
          </a:p>
          <a:p>
            <a:pPr lvl="2"/>
            <a:r>
              <a:rPr lang="en-US" dirty="0"/>
              <a:t>Maximizes actual performance</a:t>
            </a:r>
          </a:p>
          <a:p>
            <a:pPr lvl="2"/>
            <a:r>
              <a:rPr lang="en-US" dirty="0"/>
              <a:t>Requires perfect future knowledge</a:t>
            </a:r>
          </a:p>
          <a:p>
            <a:pPr lvl="2"/>
            <a:r>
              <a:rPr lang="en-US" dirty="0"/>
              <a:t>Physically impossible</a:t>
            </a:r>
          </a:p>
          <a:p>
            <a:pPr lvl="1"/>
            <a:r>
              <a:rPr lang="en-US" b="1" dirty="0"/>
              <a:t>Perfection</a:t>
            </a:r>
          </a:p>
          <a:p>
            <a:pPr lvl="2"/>
            <a:r>
              <a:rPr lang="en-US" dirty="0"/>
              <a:t>Means never making mistakes</a:t>
            </a:r>
          </a:p>
          <a:p>
            <a:pPr lvl="2"/>
            <a:r>
              <a:rPr lang="en-US" dirty="0"/>
              <a:t>Impossible in uncertain environments</a:t>
            </a:r>
          </a:p>
          <a:p>
            <a:pPr lvl="1"/>
            <a:r>
              <a:rPr lang="en-US" dirty="0"/>
              <a:t>So:</a:t>
            </a:r>
          </a:p>
          <a:p>
            <a:pPr lvl="2"/>
            <a:r>
              <a:rPr lang="en-US" dirty="0"/>
              <a:t>Rational agents can fail and still be rational.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401857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t>Rationality Requires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 Rational Agent Should:</a:t>
            </a:r>
          </a:p>
          <a:p>
            <a:pPr lvl="1"/>
            <a:r>
              <a:rPr lang="en-US" b="1" dirty="0"/>
              <a:t>Gather Information</a:t>
            </a:r>
          </a:p>
          <a:p>
            <a:pPr lvl="2"/>
            <a:r>
              <a:rPr lang="en-US" dirty="0"/>
              <a:t>Good decisions require good information.</a:t>
            </a:r>
          </a:p>
          <a:p>
            <a:pPr lvl="2"/>
            <a:r>
              <a:rPr lang="en-US" dirty="0"/>
              <a:t>If the agent does not know enough about the current situation, it should try to </a:t>
            </a:r>
            <a:r>
              <a:rPr lang="en-US" b="1" dirty="0"/>
              <a:t>reduce uncertainty</a:t>
            </a:r>
            <a:r>
              <a:rPr lang="en-US" dirty="0"/>
              <a:t>.</a:t>
            </a:r>
            <a:endParaRPr lang="en-US" b="1" dirty="0"/>
          </a:p>
          <a:p>
            <a:pPr lvl="2"/>
            <a:r>
              <a:rPr lang="en-US" dirty="0"/>
              <a:t>Example: Look before crossing the street</a:t>
            </a:r>
          </a:p>
          <a:p>
            <a:pPr lvl="2"/>
            <a:r>
              <a:rPr lang="en-US" dirty="0"/>
              <a:t>Exploration in unknown environments:</a:t>
            </a:r>
          </a:p>
          <a:p>
            <a:pPr lvl="3"/>
            <a:r>
              <a:rPr lang="en-US" dirty="0"/>
              <a:t>explore new areas</a:t>
            </a:r>
          </a:p>
          <a:p>
            <a:pPr lvl="3"/>
            <a:r>
              <a:rPr lang="en-US" dirty="0"/>
              <a:t>try actions to learn what happens</a:t>
            </a:r>
          </a:p>
          <a:p>
            <a:pPr lvl="2"/>
            <a:r>
              <a:rPr lang="en-US" dirty="0"/>
              <a:t>essential in:</a:t>
            </a:r>
          </a:p>
          <a:p>
            <a:pPr lvl="3"/>
            <a:r>
              <a:rPr lang="en-US" dirty="0"/>
              <a:t>robotics</a:t>
            </a:r>
          </a:p>
          <a:p>
            <a:pPr lvl="3"/>
            <a:r>
              <a:rPr lang="en-US" dirty="0"/>
              <a:t>reinforcement learning</a:t>
            </a:r>
          </a:p>
          <a:p>
            <a:pPr lvl="3"/>
            <a:r>
              <a:rPr lang="en-US" dirty="0"/>
              <a:t>game-playing agents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t>Rationality Requires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 Rational Agent Should:</a:t>
            </a:r>
          </a:p>
          <a:p>
            <a:pPr lvl="1"/>
            <a:r>
              <a:rPr lang="en-US" b="1" dirty="0"/>
              <a:t>Learn from Experience</a:t>
            </a:r>
          </a:p>
          <a:p>
            <a:pPr lvl="2"/>
            <a:r>
              <a:rPr lang="en-US" dirty="0"/>
              <a:t>If an agent keeps repeating the same mistakes, it is not behaving rationally over time.</a:t>
            </a:r>
          </a:p>
          <a:p>
            <a:pPr lvl="2"/>
            <a:r>
              <a:rPr lang="en-US" dirty="0"/>
              <a:t>A rational agent should:</a:t>
            </a:r>
          </a:p>
          <a:p>
            <a:pPr lvl="3"/>
            <a:r>
              <a:rPr lang="en-US" dirty="0"/>
              <a:t>use feedback from past actions</a:t>
            </a:r>
          </a:p>
          <a:p>
            <a:pPr lvl="3"/>
            <a:r>
              <a:rPr lang="en-US" dirty="0"/>
              <a:t>Improve performance over time</a:t>
            </a:r>
          </a:p>
          <a:p>
            <a:pPr lvl="2"/>
            <a:r>
              <a:rPr lang="en-US" dirty="0"/>
              <a:t>The agent updates:</a:t>
            </a:r>
          </a:p>
          <a:p>
            <a:pPr lvl="3"/>
            <a:r>
              <a:rPr lang="en-US" dirty="0"/>
              <a:t>its internal model</a:t>
            </a:r>
          </a:p>
          <a:p>
            <a:pPr lvl="3"/>
            <a:r>
              <a:rPr lang="en-US" dirty="0"/>
              <a:t>or its policy</a:t>
            </a:r>
          </a:p>
          <a:p>
            <a:pPr lvl="3"/>
            <a:r>
              <a:rPr lang="en-US" dirty="0"/>
              <a:t>or its value estimates</a:t>
            </a:r>
          </a:p>
          <a:p>
            <a:pPr lvl="2"/>
            <a:r>
              <a:rPr lang="en-US" dirty="0"/>
              <a:t>This is the foundation of:</a:t>
            </a:r>
          </a:p>
          <a:p>
            <a:pPr lvl="3"/>
            <a:r>
              <a:rPr lang="en-US" dirty="0"/>
              <a:t>reinforcement learning</a:t>
            </a:r>
          </a:p>
          <a:p>
            <a:pPr lvl="3"/>
            <a:r>
              <a:rPr lang="en-US" dirty="0"/>
              <a:t>adaptive control systems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4856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t>Rationality Requires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450" y="942976"/>
            <a:ext cx="8229600" cy="4821238"/>
          </a:xfrm>
        </p:spPr>
        <p:txBody>
          <a:bodyPr/>
          <a:lstStyle/>
          <a:p>
            <a:r>
              <a:rPr lang="en-US" b="1" dirty="0"/>
              <a:t>A Rational Agent Should:</a:t>
            </a:r>
          </a:p>
          <a:p>
            <a:pPr lvl="1"/>
            <a:r>
              <a:rPr lang="en-US" b="1" dirty="0"/>
              <a:t>Be Autonomous</a:t>
            </a:r>
          </a:p>
          <a:p>
            <a:pPr lvl="2"/>
            <a:r>
              <a:rPr lang="en-US" dirty="0"/>
              <a:t>does not rely entirely on pre-programmed behavior</a:t>
            </a:r>
          </a:p>
          <a:p>
            <a:pPr lvl="2"/>
            <a:r>
              <a:rPr lang="en-US" dirty="0"/>
              <a:t>can adapt when conditions change</a:t>
            </a:r>
          </a:p>
          <a:p>
            <a:pPr lvl="2"/>
            <a:r>
              <a:rPr lang="en-US" dirty="0"/>
              <a:t>If the environment differs from what the designer expected, the agent should still cope.</a:t>
            </a:r>
          </a:p>
          <a:p>
            <a:pPr lvl="2"/>
            <a:r>
              <a:rPr lang="en-US" dirty="0"/>
              <a:t>Because designers cannot anticipate:</a:t>
            </a:r>
          </a:p>
          <a:p>
            <a:pPr lvl="3"/>
            <a:r>
              <a:rPr lang="en-US" dirty="0"/>
              <a:t>every situation</a:t>
            </a:r>
          </a:p>
          <a:p>
            <a:pPr lvl="3"/>
            <a:r>
              <a:rPr lang="en-US" dirty="0"/>
              <a:t>every failure mode</a:t>
            </a:r>
          </a:p>
          <a:p>
            <a:pPr lvl="3"/>
            <a:r>
              <a:rPr lang="en-US" dirty="0"/>
              <a:t>every new environment</a:t>
            </a:r>
          </a:p>
          <a:p>
            <a:pPr lvl="2"/>
            <a:r>
              <a:rPr lang="en-US" dirty="0"/>
              <a:t>So rational agents must: </a:t>
            </a:r>
          </a:p>
          <a:p>
            <a:pPr lvl="3"/>
            <a:r>
              <a:rPr lang="en-US" dirty="0"/>
              <a:t>compensate for incomplete or incorrect prior knowledge.</a:t>
            </a:r>
          </a:p>
          <a:p>
            <a:pPr lvl="2"/>
            <a:r>
              <a:rPr lang="en-US" dirty="0"/>
              <a:t>This means:</a:t>
            </a:r>
          </a:p>
          <a:p>
            <a:pPr lvl="3"/>
            <a:r>
              <a:rPr lang="en-US" dirty="0"/>
              <a:t>adjusting strategies</a:t>
            </a:r>
          </a:p>
          <a:p>
            <a:pPr lvl="3"/>
            <a:r>
              <a:rPr lang="en-US" dirty="0"/>
              <a:t>updating beliefs</a:t>
            </a:r>
          </a:p>
          <a:p>
            <a:pPr lvl="3"/>
            <a:r>
              <a:rPr lang="en-US" dirty="0"/>
              <a:t>changing behavior when needed</a:t>
            </a:r>
            <a:endParaRPr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243968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t>PEAS Description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450" y="952500"/>
            <a:ext cx="8229600" cy="4811713"/>
          </a:xfrm>
        </p:spPr>
        <p:txBody>
          <a:bodyPr/>
          <a:lstStyle/>
          <a:p>
            <a:r>
              <a:rPr lang="en-US" dirty="0"/>
              <a:t>When we design an AI agent, the first question is not:</a:t>
            </a:r>
          </a:p>
          <a:p>
            <a:pPr lvl="1"/>
            <a:r>
              <a:rPr lang="en-US" dirty="0"/>
              <a:t>“What algorithm should we use?”</a:t>
            </a:r>
          </a:p>
          <a:p>
            <a:r>
              <a:rPr lang="en-US" dirty="0"/>
              <a:t>The first question is:</a:t>
            </a:r>
          </a:p>
          <a:p>
            <a:pPr lvl="1"/>
            <a:r>
              <a:rPr lang="en-US" dirty="0"/>
              <a:t>“What exactly is the agent supposed to do, and in what world?”</a:t>
            </a:r>
          </a:p>
          <a:p>
            <a:pPr lvl="2"/>
            <a:r>
              <a:rPr lang="en-US" dirty="0"/>
              <a:t>That’s what </a:t>
            </a:r>
            <a:r>
              <a:rPr lang="en-US" b="1" dirty="0"/>
              <a:t>PEAS</a:t>
            </a:r>
            <a:r>
              <a:rPr lang="en-US" dirty="0"/>
              <a:t> helps us define.</a:t>
            </a:r>
            <a:endParaRPr dirty="0"/>
          </a:p>
          <a:p>
            <a:endParaRPr lang="en-CA" dirty="0"/>
          </a:p>
          <a:p>
            <a:r>
              <a:rPr b="1" dirty="0"/>
              <a:t>Performance:</a:t>
            </a:r>
          </a:p>
          <a:p>
            <a:pPr lvl="1"/>
            <a:r>
              <a:rPr lang="en-US" dirty="0"/>
              <a:t>This defines what </a:t>
            </a:r>
            <a:r>
              <a:rPr lang="en-US" b="1" dirty="0"/>
              <a:t>success means</a:t>
            </a:r>
            <a:r>
              <a:rPr lang="en-US" dirty="0"/>
              <a:t> for the agent.</a:t>
            </a:r>
          </a:p>
          <a:p>
            <a:r>
              <a:rPr b="1" dirty="0"/>
              <a:t>Environment:</a:t>
            </a:r>
          </a:p>
          <a:p>
            <a:pPr lvl="1"/>
            <a:r>
              <a:rPr lang="en-US" dirty="0"/>
              <a:t>This is everything outside the agent that affects it.</a:t>
            </a:r>
          </a:p>
          <a:p>
            <a:r>
              <a:rPr lang="en-US" b="1" dirty="0"/>
              <a:t>Actuators:</a:t>
            </a:r>
          </a:p>
          <a:p>
            <a:pPr lvl="1"/>
            <a:r>
              <a:rPr lang="en-US" dirty="0"/>
              <a:t>Actuators are how the agent </a:t>
            </a:r>
            <a:r>
              <a:rPr lang="en-US" b="1" dirty="0"/>
              <a:t>acts on the environment</a:t>
            </a:r>
            <a:r>
              <a:rPr lang="en-US" dirty="0"/>
              <a:t>.</a:t>
            </a:r>
          </a:p>
          <a:p>
            <a:r>
              <a:rPr b="1" dirty="0"/>
              <a:t>Sensors:</a:t>
            </a:r>
          </a:p>
          <a:p>
            <a:pPr lvl="1"/>
            <a:r>
              <a:rPr lang="en-US" dirty="0"/>
              <a:t>Sensors are how the agent </a:t>
            </a:r>
            <a:r>
              <a:rPr lang="en-US" b="1" dirty="0"/>
              <a:t>perceives the environment</a:t>
            </a:r>
            <a:r>
              <a:rPr lang="en-US" dirty="0"/>
              <a:t>.</a:t>
            </a:r>
            <a:endParaRPr dirty="0"/>
          </a:p>
          <a:p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t>PEAS Description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450" y="952500"/>
            <a:ext cx="8229600" cy="4811713"/>
          </a:xfrm>
        </p:spPr>
        <p:txBody>
          <a:bodyPr/>
          <a:lstStyle/>
          <a:p>
            <a:r>
              <a:rPr lang="en-US" dirty="0" err="1"/>
              <a:t>Withou</a:t>
            </a:r>
            <a:r>
              <a:rPr lang="en-US" dirty="0"/>
              <a:t> PEAS, we may design:</a:t>
            </a:r>
          </a:p>
          <a:p>
            <a:pPr lvl="1"/>
            <a:r>
              <a:rPr lang="en-US" dirty="0"/>
              <a:t>the wrong objective</a:t>
            </a:r>
          </a:p>
          <a:p>
            <a:pPr lvl="1"/>
            <a:r>
              <a:rPr lang="en-US" dirty="0"/>
              <a:t>the wrong model</a:t>
            </a:r>
          </a:p>
          <a:p>
            <a:pPr lvl="1"/>
            <a:r>
              <a:rPr lang="en-US" dirty="0"/>
              <a:t>or unrealistic capabilities</a:t>
            </a:r>
          </a:p>
          <a:p>
            <a:endParaRPr lang="en-CA" b="1" dirty="0"/>
          </a:p>
          <a:p>
            <a:r>
              <a:rPr b="1" dirty="0"/>
              <a:t>Example</a:t>
            </a:r>
            <a:r>
              <a:rPr dirty="0"/>
              <a:t>: Automated Taxi Driver</a:t>
            </a:r>
          </a:p>
          <a:p>
            <a:pPr lvl="1"/>
            <a:r>
              <a:rPr b="1" dirty="0"/>
              <a:t>Performance:</a:t>
            </a:r>
          </a:p>
          <a:p>
            <a:pPr lvl="2"/>
            <a:r>
              <a:rPr dirty="0"/>
              <a:t>Safe, fast, legal, comfortable, maximize profits</a:t>
            </a:r>
          </a:p>
          <a:p>
            <a:pPr lvl="1"/>
            <a:r>
              <a:rPr b="1" dirty="0"/>
              <a:t>Environment:</a:t>
            </a:r>
          </a:p>
          <a:p>
            <a:pPr lvl="2"/>
            <a:r>
              <a:rPr dirty="0"/>
              <a:t>Roads, traffic, pedestrians, weather, police</a:t>
            </a:r>
          </a:p>
          <a:p>
            <a:pPr lvl="1"/>
            <a:r>
              <a:rPr lang="en-US" b="1" dirty="0"/>
              <a:t>Actuators:</a:t>
            </a:r>
          </a:p>
          <a:p>
            <a:pPr lvl="2"/>
            <a:r>
              <a:rPr lang="en-US" dirty="0"/>
              <a:t>Steering, accelerator, brake, horn, display</a:t>
            </a:r>
          </a:p>
          <a:p>
            <a:pPr lvl="1"/>
            <a:r>
              <a:rPr b="1" dirty="0"/>
              <a:t>Sensors:</a:t>
            </a:r>
          </a:p>
          <a:p>
            <a:pPr lvl="2"/>
            <a:r>
              <a:rPr dirty="0"/>
              <a:t>Cameras, radar, GPS, speedometer, microphones</a:t>
            </a:r>
          </a:p>
          <a:p>
            <a:endParaRPr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437595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rPr lang="en-CA" dirty="0"/>
              <a:t>More </a:t>
            </a:r>
            <a:r>
              <a:rPr dirty="0"/>
              <a:t>PEAS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Medical Diagnosis System:</a:t>
            </a:r>
          </a:p>
          <a:p>
            <a:pPr lvl="1"/>
            <a:r>
              <a:rPr dirty="0"/>
              <a:t>P: Healthy patient, reduced costs</a:t>
            </a:r>
          </a:p>
          <a:p>
            <a:pPr lvl="1"/>
            <a:r>
              <a:rPr dirty="0"/>
              <a:t>E: Patient, hospital, staff</a:t>
            </a:r>
          </a:p>
          <a:p>
            <a:pPr lvl="1"/>
            <a:r>
              <a:rPr dirty="0"/>
              <a:t>A: Display questions/tests/diagnoses</a:t>
            </a:r>
          </a:p>
          <a:p>
            <a:pPr lvl="1"/>
            <a:r>
              <a:rPr dirty="0"/>
              <a:t>S: Keyboard/voice entry of symptoms</a:t>
            </a:r>
          </a:p>
          <a:p>
            <a:endParaRPr dirty="0"/>
          </a:p>
          <a:p>
            <a:r>
              <a:rPr b="1" dirty="0"/>
              <a:t>Part-Picking Robot:</a:t>
            </a:r>
          </a:p>
          <a:p>
            <a:pPr lvl="1"/>
            <a:r>
              <a:rPr dirty="0"/>
              <a:t>P: % of parts in correct bins</a:t>
            </a:r>
          </a:p>
          <a:p>
            <a:pPr lvl="1"/>
            <a:r>
              <a:rPr dirty="0"/>
              <a:t>E: Conveyor belt, bins</a:t>
            </a:r>
          </a:p>
          <a:p>
            <a:pPr lvl="1"/>
            <a:r>
              <a:rPr dirty="0"/>
              <a:t>A: Jointed arm and hand</a:t>
            </a:r>
          </a:p>
          <a:p>
            <a:pPr lvl="1"/>
            <a:r>
              <a:rPr dirty="0"/>
              <a:t>S: Camera, tactile sensors, joint angle sensors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rPr dirty="0"/>
              <a:t>Properties of Task Environments (1/3)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450" y="990600"/>
            <a:ext cx="8229600" cy="4773613"/>
          </a:xfrm>
        </p:spPr>
        <p:txBody>
          <a:bodyPr/>
          <a:lstStyle/>
          <a:p>
            <a:r>
              <a:rPr b="1" dirty="0"/>
              <a:t>1. Fully Observable vs. Partially Observable</a:t>
            </a:r>
          </a:p>
          <a:p>
            <a:pPr lvl="1"/>
            <a:r>
              <a:rPr b="1" dirty="0"/>
              <a:t>Fully</a:t>
            </a:r>
            <a:r>
              <a:rPr dirty="0"/>
              <a:t>: </a:t>
            </a:r>
            <a:r>
              <a:rPr lang="en-US" dirty="0"/>
              <a:t>The agent’s sensors provide access to </a:t>
            </a:r>
            <a:r>
              <a:rPr lang="en-US" b="1" dirty="0"/>
              <a:t>all information needed to make optimal decisions</a:t>
            </a:r>
            <a:r>
              <a:rPr lang="en-US" dirty="0"/>
              <a:t> about the current state. E.g., Chess.</a:t>
            </a:r>
          </a:p>
          <a:p>
            <a:pPr lvl="2"/>
            <a:r>
              <a:rPr lang="en-US" dirty="0"/>
              <a:t>This allows:</a:t>
            </a:r>
          </a:p>
          <a:p>
            <a:pPr lvl="3"/>
            <a:r>
              <a:rPr lang="en-US" dirty="0"/>
              <a:t>precise planning</a:t>
            </a:r>
          </a:p>
          <a:p>
            <a:pPr lvl="3"/>
            <a:r>
              <a:rPr lang="en-US" dirty="0"/>
              <a:t>deterministic reasoning</a:t>
            </a:r>
          </a:p>
          <a:p>
            <a:pPr lvl="2"/>
            <a:r>
              <a:rPr lang="en-US" dirty="0"/>
              <a:t>classical search and planning work well</a:t>
            </a:r>
          </a:p>
          <a:p>
            <a:pPr lvl="1"/>
            <a:r>
              <a:rPr b="1" dirty="0"/>
              <a:t>Partially</a:t>
            </a:r>
            <a:r>
              <a:rPr dirty="0"/>
              <a:t>: </a:t>
            </a:r>
            <a:r>
              <a:rPr lang="en-US" dirty="0"/>
              <a:t>The agent’s sensors give </a:t>
            </a:r>
            <a:r>
              <a:rPr lang="en-US" b="1" dirty="0"/>
              <a:t>incomplete, noisy, or indirect information</a:t>
            </a:r>
            <a:r>
              <a:rPr lang="en-US" dirty="0"/>
              <a:t> about the true state. E.g., Poker.</a:t>
            </a:r>
            <a:endParaRPr dirty="0"/>
          </a:p>
          <a:p>
            <a:pPr lvl="2"/>
            <a:r>
              <a:rPr lang="en-US" dirty="0"/>
              <a:t>So you must:</a:t>
            </a:r>
          </a:p>
          <a:p>
            <a:pPr lvl="3"/>
            <a:r>
              <a:rPr lang="en-US" dirty="0"/>
              <a:t>estimate probabilities</a:t>
            </a:r>
          </a:p>
          <a:p>
            <a:pPr lvl="3"/>
            <a:r>
              <a:rPr lang="en-US" dirty="0"/>
              <a:t>reason under uncertainty</a:t>
            </a:r>
          </a:p>
          <a:p>
            <a:pPr lvl="2"/>
            <a:r>
              <a:rPr lang="en-US" dirty="0"/>
              <a:t>In partially observable environments:</a:t>
            </a:r>
          </a:p>
          <a:p>
            <a:pPr lvl="3"/>
            <a:r>
              <a:rPr lang="en-US" dirty="0"/>
              <a:t>agents must maintain internal models</a:t>
            </a:r>
          </a:p>
          <a:p>
            <a:pPr lvl="3"/>
            <a:r>
              <a:rPr lang="en-US" dirty="0"/>
              <a:t>use probabilities</a:t>
            </a:r>
          </a:p>
          <a:p>
            <a:pPr lvl="3"/>
            <a:r>
              <a:rPr lang="en-US" dirty="0"/>
              <a:t>rely on learning and inference</a:t>
            </a:r>
          </a:p>
          <a:p>
            <a:pPr lvl="4"/>
            <a:endParaRPr lang="en-US" dirty="0"/>
          </a:p>
          <a:p>
            <a:pPr lvl="2"/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rPr dirty="0"/>
              <a:t>Properties of Task Environments (1/3)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2. Single-Agent vs. Multiagent</a:t>
            </a:r>
          </a:p>
          <a:p>
            <a:pPr lvl="1"/>
            <a:r>
              <a:rPr b="1" dirty="0"/>
              <a:t>Single</a:t>
            </a:r>
            <a:r>
              <a:rPr dirty="0"/>
              <a:t>: </a:t>
            </a:r>
            <a:r>
              <a:rPr lang="en-US" dirty="0"/>
              <a:t>Only one agent is making decisions that affect outcomes.</a:t>
            </a:r>
          </a:p>
          <a:p>
            <a:pPr lvl="2"/>
            <a:r>
              <a:rPr lang="en-US" b="1" dirty="0"/>
              <a:t>Example:</a:t>
            </a:r>
          </a:p>
          <a:p>
            <a:pPr lvl="3"/>
            <a:r>
              <a:rPr lang="en-US" dirty="0"/>
              <a:t>Crossword puzzle</a:t>
            </a:r>
          </a:p>
          <a:p>
            <a:pPr lvl="3"/>
            <a:r>
              <a:rPr lang="en-US" dirty="0"/>
              <a:t>Route planning with static obstacles</a:t>
            </a:r>
          </a:p>
          <a:p>
            <a:pPr lvl="2"/>
            <a:r>
              <a:rPr lang="en-US" dirty="0"/>
              <a:t>The agent only needs to worry about:</a:t>
            </a:r>
          </a:p>
          <a:p>
            <a:pPr lvl="3"/>
            <a:r>
              <a:rPr lang="en-US" dirty="0"/>
              <a:t>the environment dynamics</a:t>
            </a:r>
          </a:p>
          <a:p>
            <a:pPr lvl="1"/>
            <a:endParaRPr dirty="0"/>
          </a:p>
          <a:p>
            <a:pPr lvl="1"/>
            <a:r>
              <a:rPr b="1" dirty="0"/>
              <a:t>Multiagent</a:t>
            </a:r>
            <a:r>
              <a:rPr dirty="0"/>
              <a:t>: </a:t>
            </a:r>
            <a:r>
              <a:rPr lang="en-US" dirty="0"/>
              <a:t>Other agents exist and their actions affect your success.</a:t>
            </a:r>
          </a:p>
          <a:p>
            <a:pPr lvl="2"/>
            <a:r>
              <a:rPr lang="en-US" dirty="0"/>
              <a:t>Your performance now depends on </a:t>
            </a:r>
            <a:r>
              <a:rPr lang="en-US" b="1" dirty="0"/>
              <a:t>what others do</a:t>
            </a:r>
            <a:r>
              <a:rPr lang="en-US" dirty="0"/>
              <a:t>, not just what you do.</a:t>
            </a:r>
            <a:endParaRPr dirty="0"/>
          </a:p>
          <a:p>
            <a:endParaRPr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524631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rPr dirty="0"/>
              <a:t>Properties of Task Environments (1/3)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2. Single-Agent vs. Multiagent</a:t>
            </a:r>
          </a:p>
          <a:p>
            <a:pPr lvl="2"/>
            <a:r>
              <a:rPr b="1" dirty="0"/>
              <a:t>Competitive: </a:t>
            </a:r>
            <a:r>
              <a:rPr lang="en-CA" dirty="0"/>
              <a:t>E.g., </a:t>
            </a:r>
            <a:r>
              <a:rPr dirty="0"/>
              <a:t>Chess, poker</a:t>
            </a:r>
            <a:endParaRPr lang="en-CA" dirty="0"/>
          </a:p>
          <a:p>
            <a:pPr lvl="3"/>
            <a:r>
              <a:rPr lang="en-US" dirty="0"/>
              <a:t>Here, success means:</a:t>
            </a:r>
          </a:p>
          <a:p>
            <a:pPr lvl="4"/>
            <a:r>
              <a:rPr lang="en-US" dirty="0"/>
              <a:t>reducing opponent’s success</a:t>
            </a:r>
          </a:p>
          <a:p>
            <a:pPr lvl="3"/>
            <a:r>
              <a:rPr lang="en-US" dirty="0"/>
              <a:t>So agents must:</a:t>
            </a:r>
          </a:p>
          <a:p>
            <a:pPr lvl="4"/>
            <a:r>
              <a:rPr lang="en-US" dirty="0"/>
              <a:t>predict opponent moves</a:t>
            </a:r>
          </a:p>
          <a:p>
            <a:pPr lvl="4"/>
            <a:r>
              <a:rPr lang="en-US" dirty="0"/>
              <a:t>use game theory</a:t>
            </a:r>
          </a:p>
          <a:p>
            <a:pPr lvl="4"/>
            <a:r>
              <a:rPr lang="en-US" dirty="0"/>
              <a:t>plan strategically</a:t>
            </a:r>
          </a:p>
          <a:p>
            <a:pPr lvl="2"/>
            <a:r>
              <a:rPr lang="en-US" b="1" dirty="0"/>
              <a:t>Cooperative: </a:t>
            </a:r>
            <a:r>
              <a:rPr lang="en-US" dirty="0"/>
              <a:t>E.g., Taxi driving</a:t>
            </a:r>
          </a:p>
          <a:p>
            <a:pPr lvl="3"/>
            <a:r>
              <a:rPr lang="en-US" dirty="0"/>
              <a:t>everyone wants to avoid collisions</a:t>
            </a:r>
          </a:p>
          <a:p>
            <a:pPr lvl="3"/>
            <a:r>
              <a:rPr lang="en-US" dirty="0"/>
              <a:t>follow traffic rules</a:t>
            </a:r>
          </a:p>
          <a:p>
            <a:pPr lvl="3"/>
            <a:r>
              <a:rPr lang="en-US" dirty="0"/>
              <a:t>reach destinations safely</a:t>
            </a:r>
          </a:p>
          <a:p>
            <a:pPr lvl="3"/>
            <a:r>
              <a:rPr lang="en-US" dirty="0"/>
              <a:t>So agents must:</a:t>
            </a:r>
          </a:p>
          <a:p>
            <a:pPr lvl="4"/>
            <a:r>
              <a:rPr lang="en-US" dirty="0"/>
              <a:t>coordinate implicitly</a:t>
            </a:r>
          </a:p>
          <a:p>
            <a:pPr lvl="4"/>
            <a:r>
              <a:rPr lang="en-US" dirty="0"/>
              <a:t>follow social and legal conventions</a:t>
            </a:r>
          </a:p>
          <a:p>
            <a:pPr lvl="5"/>
            <a:endParaRPr lang="en-US"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93068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rPr dirty="0"/>
              <a:t>Properties of Task Environments (1/3)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2. Single-Agent vs. Multiagent</a:t>
            </a:r>
          </a:p>
          <a:p>
            <a:pPr lvl="2"/>
            <a:r>
              <a:rPr lang="en-US" dirty="0"/>
              <a:t>Why Agent Interaction Changes Everything</a:t>
            </a:r>
          </a:p>
          <a:p>
            <a:pPr lvl="3"/>
            <a:r>
              <a:rPr lang="en-US" dirty="0"/>
              <a:t>In multiagent environments:</a:t>
            </a:r>
          </a:p>
          <a:p>
            <a:pPr lvl="4"/>
            <a:r>
              <a:rPr lang="en-US" dirty="0"/>
              <a:t>the environment is no longer fixed</a:t>
            </a:r>
          </a:p>
          <a:p>
            <a:pPr lvl="4"/>
            <a:r>
              <a:rPr lang="en-US" dirty="0"/>
              <a:t>it changes based on other agents’ strategies</a:t>
            </a:r>
          </a:p>
          <a:p>
            <a:pPr lvl="3"/>
            <a:r>
              <a:rPr lang="en-US" dirty="0"/>
              <a:t>So the problem becomes:</a:t>
            </a:r>
          </a:p>
          <a:p>
            <a:pPr lvl="4"/>
            <a:r>
              <a:rPr lang="en-US" dirty="0"/>
              <a:t>reasoning about other decision-makers, not just physics.</a:t>
            </a:r>
          </a:p>
          <a:p>
            <a:pPr lvl="3"/>
            <a:r>
              <a:rPr lang="en-US" dirty="0"/>
              <a:t>This leads to:</a:t>
            </a:r>
          </a:p>
          <a:p>
            <a:pPr lvl="4"/>
            <a:r>
              <a:rPr lang="en-US" dirty="0"/>
              <a:t>game theory</a:t>
            </a:r>
          </a:p>
          <a:p>
            <a:pPr lvl="4"/>
            <a:r>
              <a:rPr lang="en-US" dirty="0"/>
              <a:t>opponent modeling</a:t>
            </a:r>
          </a:p>
          <a:p>
            <a:pPr lvl="4"/>
            <a:r>
              <a:rPr lang="en-US" dirty="0"/>
              <a:t>negotiation and coordination strategies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834087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t>Properties of Task Environments (2/3)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33488"/>
            <a:ext cx="8578850" cy="4530725"/>
          </a:xfrm>
        </p:spPr>
        <p:txBody>
          <a:bodyPr/>
          <a:lstStyle/>
          <a:p>
            <a:r>
              <a:rPr lang="en-CA" b="1" dirty="0"/>
              <a:t>3. Deterministic vs. Nondeterministic</a:t>
            </a:r>
          </a:p>
          <a:p>
            <a:pPr lvl="1"/>
            <a:r>
              <a:rPr lang="en-CA" b="1" dirty="0"/>
              <a:t>Deterministic</a:t>
            </a:r>
            <a:r>
              <a:rPr lang="en-CA" dirty="0"/>
              <a:t>: </a:t>
            </a:r>
          </a:p>
          <a:p>
            <a:pPr lvl="2"/>
            <a:r>
              <a:rPr lang="en-US" dirty="0"/>
              <a:t>Given the current state and the agent’s action, the </a:t>
            </a:r>
            <a:r>
              <a:rPr lang="en-US" b="1" dirty="0"/>
              <a:t>next state is completely predictable</a:t>
            </a:r>
            <a:r>
              <a:rPr lang="en-US" dirty="0"/>
              <a:t>. E.g., Chess.</a:t>
            </a:r>
          </a:p>
          <a:p>
            <a:pPr lvl="2"/>
            <a:r>
              <a:rPr lang="en-US" dirty="0"/>
              <a:t>So planning can be:</a:t>
            </a:r>
          </a:p>
          <a:p>
            <a:pPr lvl="3"/>
            <a:r>
              <a:rPr lang="en-US" dirty="0"/>
              <a:t>precise</a:t>
            </a:r>
          </a:p>
          <a:p>
            <a:pPr lvl="3"/>
            <a:r>
              <a:rPr lang="en-US" dirty="0"/>
              <a:t>tree-based</a:t>
            </a:r>
          </a:p>
          <a:p>
            <a:pPr lvl="3"/>
            <a:r>
              <a:rPr lang="en-US" dirty="0"/>
              <a:t>without probabilities</a:t>
            </a:r>
          </a:p>
          <a:p>
            <a:pPr lvl="1"/>
            <a:r>
              <a:rPr lang="en-CA" b="1" dirty="0"/>
              <a:t>Nondeterministic</a:t>
            </a:r>
            <a:r>
              <a:rPr lang="en-CA" dirty="0"/>
              <a:t>:</a:t>
            </a:r>
          </a:p>
          <a:p>
            <a:pPr lvl="2"/>
            <a:r>
              <a:rPr lang="en-US" dirty="0"/>
              <a:t>The same action in the same situation can lead to </a:t>
            </a:r>
            <a:r>
              <a:rPr lang="en-US" b="1" dirty="0"/>
              <a:t>different outcomes</a:t>
            </a:r>
            <a:r>
              <a:rPr lang="en-US" dirty="0"/>
              <a:t>.</a:t>
            </a:r>
            <a:endParaRPr lang="en-CA" dirty="0"/>
          </a:p>
          <a:p>
            <a:pPr lvl="2"/>
            <a:r>
              <a:rPr lang="en-US" b="1" dirty="0"/>
              <a:t>Examples:</a:t>
            </a:r>
          </a:p>
          <a:p>
            <a:pPr lvl="2"/>
            <a:r>
              <a:rPr lang="en-US" dirty="0"/>
              <a:t>Driving: braking may not stop at the same distance due to rain or ice</a:t>
            </a:r>
          </a:p>
          <a:p>
            <a:pPr lvl="2"/>
            <a:r>
              <a:rPr lang="en-US" dirty="0"/>
              <a:t>Medical treatment: same drug, different patient responses</a:t>
            </a:r>
          </a:p>
          <a:p>
            <a:pPr lvl="1"/>
            <a:r>
              <a:rPr lang="en-CA" b="1" dirty="0"/>
              <a:t>Note</a:t>
            </a:r>
            <a:r>
              <a:rPr lang="en-CA" dirty="0"/>
              <a:t>: Partial observability can make deterministic environments appear nondeterministic</a:t>
            </a:r>
          </a:p>
          <a:p>
            <a:endParaRPr lang="en-CA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t>Properties of Task Environments (2/3)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33488"/>
            <a:ext cx="8578850" cy="4530725"/>
          </a:xfrm>
        </p:spPr>
        <p:txBody>
          <a:bodyPr/>
          <a:lstStyle/>
          <a:p>
            <a:r>
              <a:rPr lang="en-CA" b="1" dirty="0"/>
              <a:t>4. Episodic vs. Sequential</a:t>
            </a:r>
          </a:p>
          <a:p>
            <a:pPr lvl="1"/>
            <a:r>
              <a:rPr lang="en-CA" b="1" dirty="0"/>
              <a:t>Episodic</a:t>
            </a:r>
            <a:r>
              <a:rPr lang="en-CA" dirty="0"/>
              <a:t>: </a:t>
            </a:r>
          </a:p>
          <a:p>
            <a:pPr lvl="2"/>
            <a:r>
              <a:rPr lang="en-US" dirty="0"/>
              <a:t>Each decision is independent of previous ones. </a:t>
            </a:r>
            <a:r>
              <a:rPr lang="en-CA" dirty="0"/>
              <a:t>(e.g., defect inspection)</a:t>
            </a:r>
          </a:p>
          <a:p>
            <a:pPr lvl="2"/>
            <a:r>
              <a:rPr lang="en-US" dirty="0"/>
              <a:t>The agent’s action affects only the </a:t>
            </a:r>
            <a:r>
              <a:rPr lang="en-US" b="1" dirty="0"/>
              <a:t>current episode</a:t>
            </a:r>
            <a:r>
              <a:rPr lang="en-US" dirty="0"/>
              <a:t>, not future ones.</a:t>
            </a:r>
            <a:endParaRPr lang="en-CA" dirty="0"/>
          </a:p>
          <a:p>
            <a:pPr lvl="1"/>
            <a:r>
              <a:rPr lang="en-CA" b="1" dirty="0"/>
              <a:t>Sequential</a:t>
            </a:r>
            <a:r>
              <a:rPr lang="en-CA" dirty="0"/>
              <a:t>: </a:t>
            </a:r>
          </a:p>
          <a:p>
            <a:pPr lvl="2"/>
            <a:r>
              <a:rPr lang="en-US" dirty="0"/>
              <a:t>Current actions affect future states and future rewards. </a:t>
            </a:r>
            <a:r>
              <a:rPr lang="en-CA" dirty="0"/>
              <a:t>(e.g., chess, taxi driving)</a:t>
            </a:r>
          </a:p>
          <a:p>
            <a:pPr lvl="2"/>
            <a:r>
              <a:rPr lang="en-US" dirty="0"/>
              <a:t>So agents must:</a:t>
            </a:r>
          </a:p>
          <a:p>
            <a:pPr lvl="3"/>
            <a:r>
              <a:rPr lang="en-US" dirty="0"/>
              <a:t>plan ahead</a:t>
            </a:r>
          </a:p>
          <a:p>
            <a:pPr lvl="3"/>
            <a:r>
              <a:rPr lang="en-US" dirty="0"/>
              <a:t>consider long-term consequences</a:t>
            </a:r>
          </a:p>
          <a:p>
            <a:pPr lvl="3"/>
            <a:r>
              <a:rPr lang="en-US" dirty="0"/>
              <a:t>trade off short-term gains vs long-term success</a:t>
            </a:r>
          </a:p>
          <a:p>
            <a:pPr lvl="2"/>
            <a:r>
              <a:rPr lang="en-US" dirty="0"/>
              <a:t>This leads to:</a:t>
            </a:r>
          </a:p>
          <a:p>
            <a:pPr lvl="3"/>
            <a:r>
              <a:rPr lang="en-US" dirty="0"/>
              <a:t>search</a:t>
            </a:r>
          </a:p>
          <a:p>
            <a:pPr lvl="3"/>
            <a:r>
              <a:rPr lang="en-US" dirty="0"/>
              <a:t>planning</a:t>
            </a:r>
          </a:p>
          <a:p>
            <a:pPr lvl="3"/>
            <a:r>
              <a:rPr lang="en-US" dirty="0"/>
              <a:t>reinforcement learning with delayed rewards</a:t>
            </a:r>
          </a:p>
          <a:p>
            <a:pPr lvl="2"/>
            <a:endParaRPr lang="en-CA"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350262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t>Properties of Task Environments (3/3)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933450"/>
            <a:ext cx="8712200" cy="4830763"/>
          </a:xfrm>
        </p:spPr>
        <p:txBody>
          <a:bodyPr/>
          <a:lstStyle/>
          <a:p>
            <a:r>
              <a:rPr lang="en-CA" b="1" dirty="0"/>
              <a:t>5. Static vs. Dynamic</a:t>
            </a:r>
          </a:p>
          <a:p>
            <a:pPr lvl="1"/>
            <a:r>
              <a:rPr lang="en-CA" b="1" dirty="0"/>
              <a:t>Static</a:t>
            </a:r>
            <a:r>
              <a:rPr lang="en-CA" dirty="0"/>
              <a:t>: </a:t>
            </a:r>
          </a:p>
          <a:p>
            <a:pPr lvl="2"/>
            <a:r>
              <a:rPr lang="en-CA" dirty="0"/>
              <a:t>Environment </a:t>
            </a:r>
            <a:r>
              <a:rPr lang="en-US" dirty="0"/>
              <a:t>does not change while the agent is deciding what to do.</a:t>
            </a:r>
          </a:p>
          <a:p>
            <a:pPr lvl="2"/>
            <a:r>
              <a:rPr lang="en-US" b="1" dirty="0"/>
              <a:t>Example: </a:t>
            </a:r>
            <a:r>
              <a:rPr lang="en-US" dirty="0"/>
              <a:t>Chess (ignoring the clock) The board does not change while you think.</a:t>
            </a:r>
          </a:p>
          <a:p>
            <a:pPr lvl="2"/>
            <a:r>
              <a:rPr lang="en-US" dirty="0"/>
              <a:t>This allows:</a:t>
            </a:r>
          </a:p>
          <a:p>
            <a:pPr lvl="3"/>
            <a:r>
              <a:rPr lang="en-US" dirty="0"/>
              <a:t>long deliberation</a:t>
            </a:r>
          </a:p>
          <a:p>
            <a:pPr lvl="3"/>
            <a:r>
              <a:rPr lang="en-US" dirty="0"/>
              <a:t>deep search</a:t>
            </a:r>
          </a:p>
          <a:p>
            <a:pPr lvl="1"/>
            <a:r>
              <a:rPr lang="en-CA" b="1" dirty="0"/>
              <a:t>Dynamic</a:t>
            </a:r>
            <a:r>
              <a:rPr lang="en-CA" dirty="0"/>
              <a:t>: Environment changes during deliberation</a:t>
            </a:r>
          </a:p>
          <a:p>
            <a:pPr lvl="2"/>
            <a:r>
              <a:rPr lang="en-US" b="1" dirty="0"/>
              <a:t>Example: </a:t>
            </a:r>
            <a:r>
              <a:rPr lang="en-US" dirty="0"/>
              <a:t>Taxi driving:</a:t>
            </a:r>
          </a:p>
          <a:p>
            <a:pPr lvl="3" indent="-285750">
              <a:buFont typeface="Arial" panose="020B0604020202020204" pitchFamily="34" charset="0"/>
              <a:buChar char="•"/>
            </a:pPr>
            <a:r>
              <a:rPr lang="en-US" dirty="0"/>
              <a:t>pedestrians move</a:t>
            </a:r>
          </a:p>
          <a:p>
            <a:pPr lvl="3" indent="-285750">
              <a:buFont typeface="Arial" panose="020B0604020202020204" pitchFamily="34" charset="0"/>
              <a:buChar char="•"/>
            </a:pPr>
            <a:r>
              <a:rPr lang="en-US" dirty="0"/>
              <a:t>traffic lights change</a:t>
            </a:r>
          </a:p>
          <a:p>
            <a:pPr lvl="3" indent="-285750">
              <a:buFont typeface="Arial" panose="020B0604020202020204" pitchFamily="34" charset="0"/>
              <a:buChar char="•"/>
            </a:pPr>
            <a:r>
              <a:rPr lang="en-US" dirty="0"/>
              <a:t>other cars react</a:t>
            </a:r>
          </a:p>
          <a:p>
            <a:pPr lvl="2"/>
            <a:r>
              <a:rPr lang="en-US" dirty="0"/>
              <a:t>So agents must:</a:t>
            </a:r>
          </a:p>
          <a:p>
            <a:pPr lvl="3"/>
            <a:r>
              <a:rPr lang="en-US" dirty="0"/>
              <a:t>respond in real time</a:t>
            </a:r>
          </a:p>
          <a:p>
            <a:pPr lvl="3"/>
            <a:r>
              <a:rPr lang="en-US" dirty="0"/>
              <a:t>interleave thinking and acting</a:t>
            </a:r>
          </a:p>
          <a:p>
            <a:pPr lvl="1"/>
            <a:endParaRPr lang="en-CA" dirty="0"/>
          </a:p>
          <a:p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t>Properties of Task Environments (3/3)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933450"/>
            <a:ext cx="8712200" cy="4830763"/>
          </a:xfrm>
        </p:spPr>
        <p:txBody>
          <a:bodyPr/>
          <a:lstStyle/>
          <a:p>
            <a:r>
              <a:rPr lang="en-CA" b="1" dirty="0"/>
              <a:t>6. Discrete vs. Continuous</a:t>
            </a:r>
          </a:p>
          <a:p>
            <a:pPr lvl="1"/>
            <a:r>
              <a:rPr lang="en-CA" b="1" dirty="0"/>
              <a:t>Applies to</a:t>
            </a:r>
            <a:r>
              <a:rPr lang="en-CA" dirty="0"/>
              <a:t>: states, time, percepts, actions</a:t>
            </a:r>
          </a:p>
          <a:p>
            <a:pPr lvl="1"/>
            <a:r>
              <a:rPr lang="en-US" b="1" dirty="0"/>
              <a:t>Discrete Environment (e.g., chess)</a:t>
            </a:r>
          </a:p>
          <a:p>
            <a:pPr lvl="2"/>
            <a:r>
              <a:rPr lang="en-US" dirty="0"/>
              <a:t>Everything happens in </a:t>
            </a:r>
            <a:r>
              <a:rPr lang="en-US" b="1" dirty="0"/>
              <a:t>distinct steps or categories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Continuous Environment (e.g., taxi driving)</a:t>
            </a:r>
          </a:p>
          <a:p>
            <a:pPr lvl="2"/>
            <a:r>
              <a:rPr lang="en-US" dirty="0"/>
              <a:t>Variables change over </a:t>
            </a:r>
            <a:r>
              <a:rPr lang="en-US" b="1" dirty="0"/>
              <a:t>real-valued ranges</a:t>
            </a:r>
            <a:r>
              <a:rPr lang="en-US" dirty="0"/>
              <a:t>, not in steps.</a:t>
            </a:r>
          </a:p>
          <a:p>
            <a:pPr lvl="2"/>
            <a:r>
              <a:rPr lang="en-US" dirty="0"/>
              <a:t>This makes problems much harder than discrete games.</a:t>
            </a:r>
            <a:endParaRPr lang="en-CA" dirty="0"/>
          </a:p>
          <a:p>
            <a:r>
              <a:rPr lang="en-CA" b="1" dirty="0"/>
              <a:t>7. Known vs. Unknown</a:t>
            </a:r>
          </a:p>
          <a:p>
            <a:pPr lvl="1"/>
            <a:r>
              <a:rPr lang="en-CA" dirty="0"/>
              <a:t>Refers to agent's knowledge of environment "laws“</a:t>
            </a:r>
          </a:p>
          <a:p>
            <a:pPr lvl="2"/>
            <a:r>
              <a:rPr lang="en-US" dirty="0"/>
              <a:t>Not whether the agent knows the current state — but whether it knows the </a:t>
            </a:r>
            <a:r>
              <a:rPr lang="en-US" b="1" dirty="0"/>
              <a:t>dynamics</a:t>
            </a:r>
            <a:r>
              <a:rPr lang="en-US" dirty="0"/>
              <a:t>.</a:t>
            </a:r>
            <a:endParaRPr lang="en-CA" dirty="0"/>
          </a:p>
          <a:p>
            <a:pPr lvl="1"/>
            <a:r>
              <a:rPr lang="en-CA" b="1" dirty="0"/>
              <a:t>Known</a:t>
            </a:r>
            <a:r>
              <a:rPr lang="en-CA" dirty="0"/>
              <a:t>: </a:t>
            </a:r>
            <a:r>
              <a:rPr lang="en-US" dirty="0"/>
              <a:t>The agent knows what its actions do and how the world responds (possibly probabilistically).</a:t>
            </a:r>
          </a:p>
          <a:p>
            <a:pPr lvl="2"/>
            <a:r>
              <a:rPr lang="en-US" dirty="0"/>
              <a:t>E.g., Chess</a:t>
            </a:r>
            <a:endParaRPr lang="en-CA" dirty="0"/>
          </a:p>
          <a:p>
            <a:pPr lvl="1"/>
            <a:r>
              <a:rPr lang="en-CA" b="1" dirty="0"/>
              <a:t>Unknown</a:t>
            </a:r>
            <a:r>
              <a:rPr lang="en-CA" dirty="0"/>
              <a:t>: </a:t>
            </a:r>
            <a:r>
              <a:rPr lang="en-US" dirty="0"/>
              <a:t>The agent must </a:t>
            </a:r>
            <a:r>
              <a:rPr lang="en-US" b="1" dirty="0"/>
              <a:t>learn how the world works</a:t>
            </a:r>
            <a:r>
              <a:rPr lang="en-US" dirty="0"/>
              <a:t> through experience.</a:t>
            </a:r>
          </a:p>
          <a:p>
            <a:pPr lvl="2"/>
            <a:r>
              <a:rPr lang="en-US" dirty="0"/>
              <a:t>E.g., New market conditions in trading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177428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rPr dirty="0"/>
              <a:t>Agent Program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450" y="1233488"/>
            <a:ext cx="8229600" cy="5116512"/>
          </a:xfrm>
        </p:spPr>
        <p:txBody>
          <a:bodyPr/>
          <a:lstStyle/>
          <a:p>
            <a:r>
              <a:rPr lang="en-US" dirty="0"/>
              <a:t>Basic Skeleton:</a:t>
            </a:r>
          </a:p>
          <a:p>
            <a:pPr marL="400050" lvl="1" indent="0">
              <a:buNone/>
            </a:pPr>
            <a:r>
              <a:rPr lang="en-US" dirty="0" err="1"/>
              <a:t>pythonfunction</a:t>
            </a:r>
            <a:r>
              <a:rPr lang="en-US" dirty="0"/>
              <a:t> AGENT(percept) returns action</a:t>
            </a:r>
          </a:p>
          <a:p>
            <a:pPr marL="400050" lvl="1" indent="0">
              <a:buNone/>
            </a:pPr>
            <a:r>
              <a:rPr lang="en-US" dirty="0"/>
              <a:t>    # Takes current percept as input</a:t>
            </a:r>
          </a:p>
          <a:p>
            <a:pPr marL="400050" lvl="1" indent="0">
              <a:buNone/>
            </a:pPr>
            <a:r>
              <a:rPr lang="en-US" dirty="0"/>
              <a:t>    # Returns action to execute</a:t>
            </a:r>
          </a:p>
          <a:p>
            <a:pPr marL="400050" lvl="1" indent="0">
              <a:buNone/>
            </a:pPr>
            <a:r>
              <a:rPr lang="en-US" dirty="0"/>
              <a:t>```</a:t>
            </a:r>
          </a:p>
          <a:p>
            <a:r>
              <a:rPr lang="en-US" dirty="0"/>
              <a:t>An agent that stores an explicit action for </a:t>
            </a:r>
            <a:r>
              <a:rPr lang="en-US" b="1" dirty="0"/>
              <a:t>every possible percept sequence</a:t>
            </a:r>
            <a:r>
              <a:rPr lang="en-US" dirty="0"/>
              <a:t> it could ever experience</a:t>
            </a:r>
          </a:p>
          <a:p>
            <a:endParaRPr lang="en-US" dirty="0"/>
          </a:p>
          <a:p>
            <a:r>
              <a:rPr lang="en-US" dirty="0"/>
              <a:t>Key Issue: Agent program sees only </a:t>
            </a:r>
            <a:r>
              <a:rPr lang="en-US" i="1" dirty="0"/>
              <a:t>current</a:t>
            </a:r>
            <a:r>
              <a:rPr lang="en-US" dirty="0"/>
              <a:t> percept</a:t>
            </a:r>
          </a:p>
          <a:p>
            <a:pPr lvl="1"/>
            <a:r>
              <a:rPr lang="en-US" dirty="0"/>
              <a:t>If actions depend on percept history, agent must remember!</a:t>
            </a:r>
          </a:p>
          <a:p>
            <a:endParaRPr lang="en-US" dirty="0"/>
          </a:p>
          <a:p>
            <a:r>
              <a:rPr lang="en-US" dirty="0"/>
              <a:t>Memory Requirements:</a:t>
            </a:r>
          </a:p>
          <a:p>
            <a:pPr lvl="1"/>
            <a:r>
              <a:rPr lang="en-US" dirty="0"/>
              <a:t>Full table: Σ|P|ᵗ entries (t = agent lifetime, P = number of percepts)</a:t>
            </a:r>
          </a:p>
          <a:p>
            <a:pPr lvl="1"/>
            <a:r>
              <a:rPr lang="en-US" dirty="0"/>
              <a:t>Completely impractical!</a:t>
            </a:r>
          </a:p>
          <a:p>
            <a:pPr lvl="1"/>
            <a:r>
              <a:rPr lang="en-US" dirty="0"/>
              <a:t>Example: Taxi with 70MB/sec video = 10⁶⁰⁰'⁰⁰⁰'⁰⁰⁰'⁰⁰⁰ entries!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627A14-BF6A-4215-BCE0-FCE8DFC70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752" y="1014283"/>
            <a:ext cx="1825848" cy="211928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t>The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450" y="1233488"/>
            <a:ext cx="8229600" cy="5346699"/>
          </a:xfrm>
        </p:spPr>
        <p:txBody>
          <a:bodyPr/>
          <a:lstStyle/>
          <a:p>
            <a:r>
              <a:rPr b="1" dirty="0"/>
              <a:t>The Problem:</a:t>
            </a:r>
          </a:p>
          <a:p>
            <a:pPr lvl="1"/>
            <a:r>
              <a:rPr dirty="0"/>
              <a:t>Table-driven agents are theoretically correct</a:t>
            </a:r>
          </a:p>
          <a:p>
            <a:pPr lvl="1"/>
            <a:r>
              <a:rPr dirty="0"/>
              <a:t>But completely impractical</a:t>
            </a:r>
          </a:p>
          <a:p>
            <a:endParaRPr dirty="0"/>
          </a:p>
          <a:p>
            <a:r>
              <a:rPr lang="en-US" b="1" dirty="0"/>
              <a:t>The Real Solution: Small Programs, Not Big Tables</a:t>
            </a:r>
          </a:p>
          <a:p>
            <a:pPr lvl="1"/>
            <a:r>
              <a:rPr lang="en-US" dirty="0"/>
              <a:t>Instead of storing answers, we build: compact programs that compute good actions when needed</a:t>
            </a:r>
          </a:p>
          <a:p>
            <a:pPr lvl="1"/>
            <a:r>
              <a:rPr lang="en-US" dirty="0"/>
              <a:t>These programs use:</a:t>
            </a:r>
          </a:p>
          <a:p>
            <a:pPr lvl="2"/>
            <a:r>
              <a:rPr lang="en-US" dirty="0"/>
              <a:t>rules</a:t>
            </a:r>
          </a:p>
          <a:p>
            <a:pPr lvl="2"/>
            <a:r>
              <a:rPr lang="en-US" dirty="0"/>
              <a:t>models</a:t>
            </a:r>
          </a:p>
          <a:p>
            <a:pPr lvl="2"/>
            <a:r>
              <a:rPr lang="en-US" dirty="0"/>
              <a:t>search</a:t>
            </a:r>
          </a:p>
          <a:p>
            <a:pPr lvl="2"/>
            <a:r>
              <a:rPr lang="en-US" dirty="0"/>
              <a:t>learning</a:t>
            </a:r>
          </a:p>
          <a:p>
            <a:pPr lvl="2"/>
            <a:r>
              <a:rPr lang="en-US" dirty="0"/>
              <a:t>value estimation</a:t>
            </a:r>
          </a:p>
          <a:p>
            <a:pPr lvl="1"/>
            <a:r>
              <a:rPr lang="en-US" dirty="0"/>
              <a:t>They generate behavior, not store it! </a:t>
            </a:r>
          </a:p>
          <a:p>
            <a:pPr lvl="1"/>
            <a:endParaRPr lang="en-US" dirty="0"/>
          </a:p>
          <a:p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t>The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450" y="1233488"/>
            <a:ext cx="8229600" cy="5346699"/>
          </a:xfrm>
        </p:spPr>
        <p:txBody>
          <a:bodyPr/>
          <a:lstStyle/>
          <a:p>
            <a:r>
              <a:rPr lang="en-US" dirty="0"/>
              <a:t>So the analogy becomes:</a:t>
            </a:r>
          </a:p>
          <a:p>
            <a:pPr lvl="1"/>
            <a:r>
              <a:rPr lang="en-US" dirty="0"/>
              <a:t>Can we do for intelligence what Newton did for square roots?</a:t>
            </a:r>
          </a:p>
          <a:p>
            <a:r>
              <a:rPr lang="en-US" dirty="0"/>
              <a:t>That is:</a:t>
            </a:r>
          </a:p>
          <a:p>
            <a:pPr lvl="1"/>
            <a:r>
              <a:rPr lang="en-US" dirty="0"/>
              <a:t>Replace massive behavior tables</a:t>
            </a:r>
          </a:p>
          <a:p>
            <a:pPr lvl="1"/>
            <a:r>
              <a:rPr lang="en-US" dirty="0"/>
              <a:t>With compact algorithms that generate intelligent behavior</a:t>
            </a:r>
          </a:p>
          <a:p>
            <a:r>
              <a:rPr lang="en-US" dirty="0"/>
              <a:t>Answer: Yes — Through Agent Architectures</a:t>
            </a:r>
          </a:p>
          <a:p>
            <a:r>
              <a:rPr lang="en-US" dirty="0"/>
              <a:t>This is why AI studies:</a:t>
            </a:r>
          </a:p>
          <a:p>
            <a:pPr lvl="1"/>
            <a:r>
              <a:rPr lang="en-US" dirty="0"/>
              <a:t>simple reflex agents</a:t>
            </a:r>
          </a:p>
          <a:p>
            <a:pPr lvl="1"/>
            <a:r>
              <a:rPr lang="en-US" dirty="0"/>
              <a:t>model-based agents</a:t>
            </a:r>
          </a:p>
          <a:p>
            <a:pPr lvl="1"/>
            <a:r>
              <a:rPr lang="en-US" dirty="0"/>
              <a:t>goal-based agents</a:t>
            </a:r>
          </a:p>
          <a:p>
            <a:pPr lvl="1"/>
            <a:r>
              <a:rPr lang="en-US" dirty="0"/>
              <a:t>utility-based agents</a:t>
            </a:r>
          </a:p>
          <a:p>
            <a:pPr lvl="1"/>
            <a:r>
              <a:rPr lang="en-US" dirty="0"/>
              <a:t>learning agents</a:t>
            </a:r>
          </a:p>
          <a:p>
            <a:r>
              <a:rPr lang="en-US" dirty="0"/>
              <a:t>Each adds more powerful structure so behavior can be produced from:</a:t>
            </a:r>
          </a:p>
          <a:p>
            <a:pPr lvl="1"/>
            <a:r>
              <a:rPr lang="en-US" dirty="0"/>
              <a:t>small representations</a:t>
            </a:r>
          </a:p>
          <a:p>
            <a:pPr lvl="1"/>
            <a:r>
              <a:rPr lang="en-US" dirty="0"/>
              <a:t>not massive tables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91843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t>Four Basic Agent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Agent Architectures </a:t>
            </a:r>
            <a:r>
              <a:rPr dirty="0"/>
              <a:t>(Increasing Complexity):</a:t>
            </a:r>
          </a:p>
          <a:p>
            <a:pPr lvl="1"/>
            <a:r>
              <a:rPr lang="en-US" b="1" dirty="0"/>
              <a:t>Simple Reflex Agents</a:t>
            </a:r>
          </a:p>
          <a:p>
            <a:pPr lvl="2"/>
            <a:r>
              <a:rPr lang="en-US" dirty="0"/>
              <a:t>Respond directly to percepts</a:t>
            </a:r>
          </a:p>
          <a:p>
            <a:pPr lvl="2"/>
            <a:endParaRPr lang="en-US" dirty="0"/>
          </a:p>
          <a:p>
            <a:pPr lvl="1"/>
            <a:r>
              <a:rPr lang="en-US" b="1" dirty="0"/>
              <a:t>Model-Based Reflex Agents</a:t>
            </a:r>
          </a:p>
          <a:p>
            <a:pPr lvl="2"/>
            <a:r>
              <a:rPr lang="en-US" dirty="0"/>
              <a:t>Maintain internal state</a:t>
            </a:r>
          </a:p>
          <a:p>
            <a:pPr lvl="2"/>
            <a:endParaRPr lang="en-US" dirty="0"/>
          </a:p>
          <a:p>
            <a:pPr lvl="1"/>
            <a:r>
              <a:rPr lang="en-US" b="1" dirty="0"/>
              <a:t>Goal-Based Agents</a:t>
            </a:r>
          </a:p>
          <a:p>
            <a:pPr lvl="2"/>
            <a:r>
              <a:rPr lang="en-US" dirty="0"/>
              <a:t>Use goals to guide decisions</a:t>
            </a:r>
          </a:p>
          <a:p>
            <a:pPr lvl="2"/>
            <a:endParaRPr lang="en-US" dirty="0"/>
          </a:p>
          <a:p>
            <a:pPr lvl="1"/>
            <a:r>
              <a:rPr lang="en-US" b="1" dirty="0"/>
              <a:t>Utility-Based Agents</a:t>
            </a:r>
          </a:p>
          <a:p>
            <a:pPr lvl="2"/>
            <a:r>
              <a:rPr lang="en-US" dirty="0"/>
              <a:t>Maximize expected utility</a:t>
            </a:r>
          </a:p>
          <a:p>
            <a:endParaRPr dirty="0"/>
          </a:p>
          <a:p>
            <a:r>
              <a:rPr b="1" dirty="0"/>
              <a:t>Plus:</a:t>
            </a:r>
          </a:p>
          <a:p>
            <a:pPr lvl="1"/>
            <a:r>
              <a:rPr dirty="0"/>
              <a:t>Learning element can be added to any type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t>Simple Reflex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450" y="1000126"/>
            <a:ext cx="8229600" cy="4764088"/>
          </a:xfrm>
        </p:spPr>
        <p:txBody>
          <a:bodyPr/>
          <a:lstStyle/>
          <a:p>
            <a:r>
              <a:rPr lang="en-US" b="1" dirty="0"/>
              <a:t>Characteristics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Select actions based on *current* percept only</a:t>
            </a:r>
          </a:p>
          <a:p>
            <a:pPr lvl="1"/>
            <a:r>
              <a:rPr lang="en-US" dirty="0"/>
              <a:t>Ignore percept history</a:t>
            </a:r>
          </a:p>
          <a:p>
            <a:pPr lvl="1"/>
            <a:r>
              <a:rPr lang="en-US" dirty="0"/>
              <a:t>Implement condition-action rules</a:t>
            </a:r>
          </a:p>
          <a:p>
            <a:r>
              <a:rPr lang="en-US" b="1" dirty="0"/>
              <a:t>Example Rule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if car-in-front-is-braking then initiate-braking</a:t>
            </a:r>
          </a:p>
          <a:p>
            <a:r>
              <a:rPr lang="en-US" b="1" dirty="0"/>
              <a:t>Advantage</a:t>
            </a:r>
            <a:r>
              <a:rPr lang="en-US" dirty="0"/>
              <a:t>: Simple, fast</a:t>
            </a:r>
          </a:p>
          <a:p>
            <a:r>
              <a:rPr lang="en-US" b="1" dirty="0"/>
              <a:t>Limitation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A simple reflex agent chooses actions based only on the current percept, using rules like:</a:t>
            </a:r>
          </a:p>
          <a:p>
            <a:pPr lvl="2"/>
            <a:r>
              <a:rPr lang="en-US" dirty="0"/>
              <a:t>If percept = X, then do action = Y</a:t>
            </a:r>
          </a:p>
          <a:p>
            <a:pPr lvl="1"/>
            <a:r>
              <a:rPr lang="en-US" dirty="0"/>
              <a:t>It has:</a:t>
            </a:r>
          </a:p>
          <a:p>
            <a:pPr lvl="2"/>
            <a:r>
              <a:rPr lang="en-US" dirty="0"/>
              <a:t>no memory</a:t>
            </a:r>
          </a:p>
          <a:p>
            <a:pPr lvl="2"/>
            <a:r>
              <a:rPr lang="en-US" dirty="0"/>
              <a:t>no internal model of the world</a:t>
            </a:r>
          </a:p>
          <a:p>
            <a:pPr lvl="1"/>
            <a:r>
              <a:rPr lang="en-US" dirty="0"/>
              <a:t>This makes it fast and simple, but it also creates serious </a:t>
            </a:r>
            <a:r>
              <a:rPr lang="en-US" dirty="0" err="1"/>
              <a:t>limitations.Works</a:t>
            </a:r>
            <a:r>
              <a:rPr lang="en-US" dirty="0"/>
              <a:t> only if correct decision possible from current percept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rPr dirty="0"/>
              <a:t>Simple Reflex Agent</a:t>
            </a:r>
            <a:r>
              <a:rPr lang="en-CA" dirty="0"/>
              <a:t> Architecture</a:t>
            </a:r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D33DC4-AA6C-4B78-946A-AD9A297F8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11266" name="Picture 2" descr="Diagram showing a simple reflex agent in the types of AI agents taxonomy: environment inputs → perception → condition-action rule → action, with no internal memory.">
            <a:extLst>
              <a:ext uri="{FF2B5EF4-FFF2-40B4-BE49-F238E27FC236}">
                <a16:creationId xmlns:a16="http://schemas.microsoft.com/office/drawing/2014/main" id="{F077487F-E1EE-402E-B1E5-3BFD1DABF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510" y="1093786"/>
            <a:ext cx="8723490" cy="4906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77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rPr dirty="0"/>
              <a:t>Limitations of Simple Reflex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Problem 1: Partial Observability</a:t>
            </a:r>
          </a:p>
          <a:p>
            <a:pPr lvl="1"/>
            <a:r>
              <a:rPr lang="en-US" b="1" dirty="0"/>
              <a:t>Simple reflex rule: </a:t>
            </a:r>
            <a:r>
              <a:rPr lang="en-US" dirty="0"/>
              <a:t>if car-in-front-is-braking then initiate-braking</a:t>
            </a:r>
          </a:p>
          <a:p>
            <a:pPr lvl="1"/>
            <a:r>
              <a:rPr lang="en-US" b="1" dirty="0"/>
              <a:t>The Problem:</a:t>
            </a:r>
            <a:r>
              <a:rPr lang="en-US" dirty="0"/>
              <a:t> From a </a:t>
            </a:r>
            <a:r>
              <a:rPr lang="en-US" i="1" dirty="0"/>
              <a:t>single image/frame</a:t>
            </a:r>
            <a:r>
              <a:rPr lang="en-US" dirty="0"/>
              <a:t>, you might see red lights on the car ahead </a:t>
            </a:r>
          </a:p>
          <a:p>
            <a:pPr lvl="2"/>
            <a:r>
              <a:rPr lang="en-US" dirty="0"/>
              <a:t>Could be: brake lights (braking) ✓</a:t>
            </a:r>
          </a:p>
          <a:p>
            <a:pPr lvl="2"/>
            <a:r>
              <a:rPr lang="en-US" dirty="0"/>
              <a:t>Could be: just taillights (not braking) ✗</a:t>
            </a:r>
          </a:p>
          <a:p>
            <a:pPr lvl="1"/>
            <a:r>
              <a:rPr lang="en-US" dirty="0"/>
              <a:t>So the same percept can correspond to </a:t>
            </a:r>
            <a:r>
              <a:rPr lang="en-US" b="1" dirty="0"/>
              <a:t>different real situations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Because the agent has:</a:t>
            </a:r>
          </a:p>
          <a:p>
            <a:pPr lvl="2"/>
            <a:r>
              <a:rPr lang="en-US" dirty="0"/>
              <a:t>no memory</a:t>
            </a:r>
          </a:p>
          <a:p>
            <a:pPr lvl="2"/>
            <a:r>
              <a:rPr lang="en-US" dirty="0"/>
              <a:t>no ability to compare with previous frames</a:t>
            </a:r>
          </a:p>
          <a:p>
            <a:pPr lvl="1"/>
            <a:r>
              <a:rPr lang="en-US" dirty="0"/>
              <a:t>It cannot tell:</a:t>
            </a:r>
          </a:p>
          <a:p>
            <a:pPr lvl="2"/>
            <a:r>
              <a:rPr lang="en-US" dirty="0"/>
              <a:t>whether the light intensity just changed (braking)</a:t>
            </a:r>
          </a:p>
          <a:p>
            <a:pPr lvl="2"/>
            <a:r>
              <a:rPr lang="en-US" dirty="0"/>
              <a:t>or stayed constant (normal driving)</a:t>
            </a:r>
          </a:p>
          <a:p>
            <a:pPr lvl="1"/>
            <a:r>
              <a:rPr lang="en-US" dirty="0"/>
              <a:t>So simple reflex agents fail when:</a:t>
            </a:r>
          </a:p>
          <a:p>
            <a:pPr lvl="2"/>
            <a:r>
              <a:rPr lang="en-US" dirty="0"/>
              <a:t>the percept does not uniquely determine the true state of the world.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rPr dirty="0"/>
              <a:t>Limitations of Simple Reflex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450" y="942976"/>
            <a:ext cx="8229600" cy="4821238"/>
          </a:xfrm>
        </p:spPr>
        <p:txBody>
          <a:bodyPr/>
          <a:lstStyle/>
          <a:p>
            <a:r>
              <a:rPr dirty="0"/>
              <a:t>Problem 2: Infinite Loops</a:t>
            </a:r>
          </a:p>
          <a:p>
            <a:pPr lvl="1"/>
            <a:r>
              <a:rPr lang="en-US" dirty="0"/>
              <a:t>Scenario: Vacuum agent without location sensor (only has dirt sensor)</a:t>
            </a:r>
          </a:p>
          <a:p>
            <a:pPr lvl="1"/>
            <a:r>
              <a:rPr lang="en-US" dirty="0"/>
              <a:t>Two possible percepts:</a:t>
            </a:r>
          </a:p>
          <a:p>
            <a:pPr lvl="2"/>
            <a:r>
              <a:rPr lang="en-US" dirty="0"/>
              <a:t>[Dirty] → Action: Pickup Dirt ✓ (this works fine)</a:t>
            </a:r>
          </a:p>
          <a:p>
            <a:pPr lvl="2"/>
            <a:r>
              <a:rPr lang="en-US" dirty="0"/>
              <a:t>[Clean] → Action: ??? (what should it do?)</a:t>
            </a:r>
          </a:p>
          <a:p>
            <a:pPr lvl="3"/>
            <a:r>
              <a:rPr lang="en-US" dirty="0"/>
              <a:t>If it turn right and the area is clean, it will keep turning right forever</a:t>
            </a:r>
          </a:p>
          <a:p>
            <a:pPr lvl="1"/>
            <a:r>
              <a:rPr lang="en-US" dirty="0"/>
              <a:t>Because the agent </a:t>
            </a:r>
          </a:p>
          <a:p>
            <a:pPr lvl="2"/>
            <a:r>
              <a:rPr lang="en-US" dirty="0"/>
              <a:t>cannot tell where it has been</a:t>
            </a:r>
          </a:p>
          <a:p>
            <a:pPr lvl="2"/>
            <a:r>
              <a:rPr lang="en-US" dirty="0"/>
              <a:t>cannot tell where dirt might be</a:t>
            </a:r>
          </a:p>
          <a:p>
            <a:r>
              <a:rPr lang="en-US" dirty="0"/>
              <a:t>Simple reflex agents:</a:t>
            </a:r>
          </a:p>
          <a:p>
            <a:pPr lvl="1"/>
            <a:r>
              <a:rPr lang="en-US" dirty="0"/>
              <a:t>cannot resolve ambiguity</a:t>
            </a:r>
          </a:p>
          <a:p>
            <a:pPr lvl="1"/>
            <a:r>
              <a:rPr lang="en-US" dirty="0"/>
              <a:t>cannot track progress</a:t>
            </a:r>
          </a:p>
          <a:p>
            <a:pPr lvl="1"/>
            <a:r>
              <a:rPr lang="en-US" dirty="0"/>
              <a:t>cannot plan or explore</a:t>
            </a:r>
          </a:p>
          <a:p>
            <a:r>
              <a:rPr lang="en-US" dirty="0"/>
              <a:t>They only work well in:</a:t>
            </a:r>
          </a:p>
          <a:p>
            <a:pPr lvl="1"/>
            <a:r>
              <a:rPr lang="en-US" dirty="0"/>
              <a:t>fully observable, simple, and static environments.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405770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rPr dirty="0"/>
              <a:t>Model-Based Reflex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450" y="971550"/>
            <a:ext cx="8229600" cy="4792663"/>
          </a:xfrm>
        </p:spPr>
        <p:txBody>
          <a:bodyPr/>
          <a:lstStyle/>
          <a:p>
            <a:r>
              <a:rPr lang="en-US" dirty="0"/>
              <a:t>Key Idea: Keep track of the part of world you can't see now</a:t>
            </a:r>
          </a:p>
          <a:p>
            <a:r>
              <a:rPr lang="en-US" dirty="0"/>
              <a:t>This is crucial when the environment is:</a:t>
            </a:r>
          </a:p>
          <a:p>
            <a:pPr lvl="1"/>
            <a:r>
              <a:rPr lang="en-US" dirty="0"/>
              <a:t>partially observable</a:t>
            </a:r>
          </a:p>
          <a:p>
            <a:pPr lvl="1"/>
            <a:r>
              <a:rPr lang="en-US" dirty="0"/>
              <a:t>noisy</a:t>
            </a:r>
          </a:p>
          <a:p>
            <a:pPr lvl="1"/>
            <a:r>
              <a:rPr lang="en-US" dirty="0"/>
              <a:t>changing over time</a:t>
            </a:r>
          </a:p>
          <a:p>
            <a:r>
              <a:rPr lang="en-US" dirty="0"/>
              <a:t>Requires Two Types of Knowledge:</a:t>
            </a:r>
          </a:p>
          <a:p>
            <a:pPr lvl="1"/>
            <a:r>
              <a:rPr lang="en-US" b="1" dirty="0"/>
              <a:t>Transition Model</a:t>
            </a:r>
            <a:r>
              <a:rPr lang="en-US" dirty="0"/>
              <a:t>: Tells the agent</a:t>
            </a:r>
          </a:p>
          <a:p>
            <a:pPr lvl="2"/>
            <a:r>
              <a:rPr lang="en-US" dirty="0"/>
              <a:t>if the world is in state S and I take action A, what state is likely to come next.</a:t>
            </a:r>
          </a:p>
          <a:p>
            <a:pPr lvl="3"/>
            <a:r>
              <a:rPr lang="en-US" dirty="0"/>
              <a:t>Example: "Turning steering wheel → car turns right“</a:t>
            </a:r>
          </a:p>
          <a:p>
            <a:pPr lvl="2"/>
            <a:r>
              <a:rPr lang="en-CA" dirty="0"/>
              <a:t>changes that happen independently</a:t>
            </a:r>
          </a:p>
          <a:p>
            <a:pPr lvl="3"/>
            <a:r>
              <a:rPr lang="en-US" dirty="0"/>
              <a:t>Traffic lights change over time even if I do nothing</a:t>
            </a:r>
          </a:p>
          <a:p>
            <a:pPr lvl="1"/>
            <a:r>
              <a:rPr lang="en-US" dirty="0"/>
              <a:t> Sensor Model: Tells the agent how world state reflects in percepts</a:t>
            </a:r>
          </a:p>
          <a:p>
            <a:pPr lvl="2"/>
            <a:r>
              <a:rPr lang="en-US" dirty="0"/>
              <a:t>If the world is in state S, what percept am I likely to receive?</a:t>
            </a:r>
          </a:p>
          <a:p>
            <a:pPr lvl="3"/>
            <a:r>
              <a:rPr lang="en-US" dirty="0"/>
              <a:t>Example: "Brake lights on → likely car ahead is braking"</a:t>
            </a:r>
          </a:p>
          <a:p>
            <a:pPr lvl="3"/>
            <a:r>
              <a:rPr lang="en-US" dirty="0"/>
              <a:t>Example: "Droplets in camera → camera may be wet"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rPr dirty="0"/>
              <a:t>Model-Based Agent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2930" y="4562475"/>
            <a:ext cx="8446770" cy="2122806"/>
          </a:xfrm>
        </p:spPr>
        <p:txBody>
          <a:bodyPr/>
          <a:lstStyle/>
          <a:p>
            <a:r>
              <a:rPr lang="en-US" dirty="0"/>
              <a:t>combining the percept with:</a:t>
            </a:r>
          </a:p>
          <a:p>
            <a:pPr lvl="1"/>
            <a:r>
              <a:rPr lang="en-US" dirty="0"/>
              <a:t>Old state</a:t>
            </a:r>
          </a:p>
          <a:p>
            <a:pPr lvl="1"/>
            <a:r>
              <a:rPr lang="en-US" dirty="0"/>
              <a:t>Knowledge from the Transition Model (how the world evolves)</a:t>
            </a:r>
          </a:p>
          <a:p>
            <a:pPr lvl="1"/>
            <a:r>
              <a:rPr lang="en-US" dirty="0"/>
              <a:t>Knowledge from the Action model (the effect of the agent actions)</a:t>
            </a:r>
          </a:p>
          <a:p>
            <a:r>
              <a:rPr lang="en-US" dirty="0"/>
              <a:t>Generates a "best guess" about current world state</a:t>
            </a:r>
          </a:p>
          <a:p>
            <a:r>
              <a:rPr lang="en-US" dirty="0"/>
              <a:t>Updates State so that it would be used in the next cycle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17D003-D8CD-4E75-8D0F-5654EE4B9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725" y="970052"/>
            <a:ext cx="6117086" cy="368470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rPr dirty="0"/>
              <a:t>Goal-Based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450" y="854076"/>
            <a:ext cx="8229600" cy="4910138"/>
          </a:xfrm>
        </p:spPr>
        <p:txBody>
          <a:bodyPr/>
          <a:lstStyle/>
          <a:p>
            <a:r>
              <a:rPr lang="en-US" dirty="0"/>
              <a:t>In addition to:</a:t>
            </a:r>
          </a:p>
          <a:p>
            <a:pPr lvl="2"/>
            <a:r>
              <a:rPr lang="en-US" dirty="0"/>
              <a:t>sensing the world</a:t>
            </a:r>
          </a:p>
          <a:p>
            <a:pPr lvl="2"/>
            <a:r>
              <a:rPr lang="en-US" dirty="0"/>
              <a:t>keeping an internal state (model-based agent)</a:t>
            </a:r>
          </a:p>
          <a:p>
            <a:pPr lvl="1"/>
            <a:r>
              <a:rPr lang="en-US" dirty="0"/>
              <a:t>it also knows the </a:t>
            </a:r>
            <a:r>
              <a:rPr lang="en-US" b="1" dirty="0"/>
              <a:t>goal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What it is trying to achieve (what states of the world are desirable.)</a:t>
            </a:r>
            <a:endParaRPr dirty="0"/>
          </a:p>
          <a:p>
            <a:r>
              <a:rPr dirty="0"/>
              <a:t>Example:</a:t>
            </a:r>
          </a:p>
          <a:p>
            <a:pPr lvl="1"/>
            <a:r>
              <a:rPr lang="en-US" dirty="0"/>
              <a:t>The taxi can:</a:t>
            </a:r>
          </a:p>
          <a:p>
            <a:pPr lvl="2"/>
            <a:r>
              <a:rPr lang="en-US" dirty="0"/>
              <a:t>turn left</a:t>
            </a:r>
          </a:p>
          <a:p>
            <a:pPr lvl="2"/>
            <a:r>
              <a:rPr lang="en-US" dirty="0"/>
              <a:t>turn right</a:t>
            </a:r>
          </a:p>
          <a:p>
            <a:pPr lvl="2"/>
            <a:r>
              <a:rPr lang="en-US" dirty="0"/>
              <a:t>go straight</a:t>
            </a:r>
          </a:p>
          <a:p>
            <a:pPr lvl="1"/>
            <a:r>
              <a:rPr lang="en-US" dirty="0"/>
              <a:t>But the “correct” action depends entirely on the destination.</a:t>
            </a:r>
          </a:p>
          <a:p>
            <a:pPr lvl="2"/>
            <a:r>
              <a:rPr lang="en-US" dirty="0"/>
              <a:t>At the same intersection:</a:t>
            </a:r>
          </a:p>
          <a:p>
            <a:pPr lvl="3"/>
            <a:r>
              <a:rPr lang="en-US" dirty="0"/>
              <a:t>left might be correct for one passenger</a:t>
            </a:r>
          </a:p>
          <a:p>
            <a:pPr lvl="3"/>
            <a:r>
              <a:rPr lang="en-US" dirty="0"/>
              <a:t>right might be correct for another</a:t>
            </a:r>
          </a:p>
          <a:p>
            <a:pPr lvl="1"/>
            <a:r>
              <a:rPr lang="en-US" dirty="0"/>
              <a:t>So rules like: “If at intersection, turn right”</a:t>
            </a:r>
          </a:p>
          <a:p>
            <a:pPr lvl="2"/>
            <a:r>
              <a:rPr lang="en-US" dirty="0"/>
              <a:t>are useless without knowing the goal.</a:t>
            </a:r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rPr dirty="0"/>
              <a:t>Goal-Based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450" y="854076"/>
            <a:ext cx="8229600" cy="4910138"/>
          </a:xfrm>
        </p:spPr>
        <p:txBody>
          <a:bodyPr/>
          <a:lstStyle/>
          <a:p>
            <a:r>
              <a:rPr lang="en-US" b="1" dirty="0"/>
              <a:t>How Goal-Based Decisions Work</a:t>
            </a:r>
          </a:p>
          <a:p>
            <a:pPr lvl="1"/>
            <a:r>
              <a:rPr lang="en-US" dirty="0"/>
              <a:t>Instead of just reacting, the agent asks:</a:t>
            </a:r>
          </a:p>
          <a:p>
            <a:pPr lvl="2"/>
            <a:r>
              <a:rPr lang="en-US" dirty="0"/>
              <a:t>What will happen if I do action X?</a:t>
            </a:r>
          </a:p>
          <a:p>
            <a:pPr marL="800100" lvl="2" indent="0">
              <a:buNone/>
            </a:pPr>
            <a:r>
              <a:rPr lang="en-US" dirty="0"/>
              <a:t>	→ uses a model of how the world evolves</a:t>
            </a:r>
          </a:p>
          <a:p>
            <a:pPr lvl="2"/>
            <a:r>
              <a:rPr lang="en-US" dirty="0"/>
              <a:t>Will that bring me closer to my goal?</a:t>
            </a:r>
          </a:p>
          <a:p>
            <a:pPr marL="1200150" lvl="3" indent="0">
              <a:buNone/>
            </a:pPr>
            <a:r>
              <a:rPr lang="en-US" dirty="0"/>
              <a:t>→ checks if future state satisfies or approaches goal</a:t>
            </a:r>
          </a:p>
          <a:p>
            <a:pPr lvl="1"/>
            <a:r>
              <a:rPr lang="en-US" dirty="0"/>
              <a:t>So the agent evaluates actions based on:</a:t>
            </a:r>
          </a:p>
          <a:p>
            <a:pPr lvl="2"/>
            <a:r>
              <a:rPr lang="en-US" dirty="0"/>
              <a:t>their </a:t>
            </a:r>
            <a:r>
              <a:rPr lang="en-US" b="1" dirty="0"/>
              <a:t>consequences</a:t>
            </a:r>
            <a:r>
              <a:rPr lang="en-US" dirty="0"/>
              <a:t>, not just current percepts.</a:t>
            </a:r>
          </a:p>
          <a:p>
            <a:pPr lvl="1"/>
            <a:r>
              <a:rPr lang="en-US" dirty="0"/>
              <a:t>To answer: “What will happen if I do X?”</a:t>
            </a:r>
          </a:p>
          <a:p>
            <a:pPr lvl="1"/>
            <a:r>
              <a:rPr lang="en-US" dirty="0"/>
              <a:t>the agent must: </a:t>
            </a:r>
          </a:p>
          <a:p>
            <a:pPr lvl="2"/>
            <a:r>
              <a:rPr lang="en-US" dirty="0"/>
              <a:t>simulate future states</a:t>
            </a:r>
          </a:p>
          <a:p>
            <a:pPr lvl="2"/>
            <a:r>
              <a:rPr lang="en-US" dirty="0"/>
              <a:t>consider sequences of actions</a:t>
            </a:r>
          </a:p>
          <a:p>
            <a:pPr lvl="1"/>
            <a:r>
              <a:rPr lang="en-US" dirty="0"/>
              <a:t>This leads to:</a:t>
            </a:r>
          </a:p>
          <a:p>
            <a:pPr lvl="2"/>
            <a:r>
              <a:rPr lang="en-US" dirty="0"/>
              <a:t>Search → finding a path to a goal (E.g., shortest path algorithms)</a:t>
            </a:r>
          </a:p>
          <a:p>
            <a:pPr lvl="2"/>
            <a:r>
              <a:rPr lang="en-US" dirty="0"/>
              <a:t>Planning → reasoning about action sequences</a:t>
            </a:r>
          </a:p>
          <a:p>
            <a:pPr lvl="1"/>
            <a:r>
              <a:rPr lang="en-US" b="1" dirty="0"/>
              <a:t>Goal-based agents must reason about the future explicitly.</a:t>
            </a:r>
          </a:p>
        </p:txBody>
      </p:sp>
    </p:spTree>
    <p:extLst>
      <p:ext uri="{BB962C8B-B14F-4D97-AF65-F5344CB8AC3E}">
        <p14:creationId xmlns:p14="http://schemas.microsoft.com/office/powerpoint/2010/main" val="31501204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rPr dirty="0"/>
              <a:t>Goal-Based Agent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350" y="5499100"/>
            <a:ext cx="8229600" cy="1189038"/>
          </a:xfrm>
        </p:spPr>
        <p:txBody>
          <a:bodyPr/>
          <a:lstStyle/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</p:txBody>
      </p:sp>
      <p:pic>
        <p:nvPicPr>
          <p:cNvPr id="12290" name="Picture 2" descr="Goal-based agent illustration for the types of AI agents: perception of environment → planning module evaluating possible actions toward goal → chosen action toward goal.">
            <a:extLst>
              <a:ext uri="{FF2B5EF4-FFF2-40B4-BE49-F238E27FC236}">
                <a16:creationId xmlns:a16="http://schemas.microsoft.com/office/drawing/2014/main" id="{F03E2B85-69B8-495F-BA26-2A1FE1231A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644" y="985521"/>
            <a:ext cx="7790462" cy="4382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D3CC869-1138-46A1-92AC-E1665DFDBD7E}"/>
              </a:ext>
            </a:extLst>
          </p:cNvPr>
          <p:cNvSpPr txBox="1">
            <a:spLocks/>
          </p:cNvSpPr>
          <p:nvPr/>
        </p:nvSpPr>
        <p:spPr bwMode="auto">
          <a:xfrm>
            <a:off x="647700" y="5674199"/>
            <a:ext cx="8388350" cy="396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r>
              <a:rPr lang="en-US" b="1" dirty="0"/>
              <a:t>Condition</a:t>
            </a:r>
            <a:r>
              <a:rPr lang="en-US" dirty="0"/>
              <a:t> is now: current belief + goal evaluation</a:t>
            </a:r>
          </a:p>
          <a:p>
            <a:r>
              <a:rPr lang="en-US" b="1" kern="0" dirty="0"/>
              <a:t>Condition-action</a:t>
            </a:r>
            <a:r>
              <a:rPr lang="en-US" kern="0" dirty="0"/>
              <a:t> </a:t>
            </a:r>
            <a:r>
              <a:rPr lang="en-US" b="1" dirty="0"/>
              <a:t>rules </a:t>
            </a:r>
            <a:r>
              <a:rPr lang="en-US" dirty="0"/>
              <a:t>are now </a:t>
            </a:r>
            <a:r>
              <a:rPr lang="en-US" b="1" dirty="0"/>
              <a:t>Decision rules</a:t>
            </a:r>
            <a:r>
              <a:rPr lang="en-US" dirty="0"/>
              <a:t>, not simple reflex rules.</a:t>
            </a:r>
            <a:endParaRPr lang="en-US" kern="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CDBD52-0014-4F26-8CDE-7F03C404C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Advantages:</a:t>
            </a:r>
          </a:p>
          <a:p>
            <a:pPr lvl="1"/>
            <a:r>
              <a:rPr lang="en-US" dirty="0"/>
              <a:t>More flexible than reflex agents </a:t>
            </a:r>
          </a:p>
          <a:p>
            <a:pPr lvl="1"/>
            <a:r>
              <a:rPr lang="en-US" dirty="0"/>
              <a:t>Knowledge </a:t>
            </a:r>
            <a:r>
              <a:rPr lang="en-US" dirty="0">
                <a:solidFill>
                  <a:srgbClr val="A626A4"/>
                </a:solidFill>
                <a:effectLst/>
              </a:rPr>
              <a:t>is</a:t>
            </a:r>
            <a:r>
              <a:rPr lang="en-US" dirty="0"/>
              <a:t> explicit </a:t>
            </a:r>
            <a:r>
              <a:rPr lang="en-US" dirty="0">
                <a:solidFill>
                  <a:srgbClr val="A626A4"/>
                </a:solidFill>
                <a:effectLst/>
              </a:rPr>
              <a:t>and</a:t>
            </a:r>
            <a:r>
              <a:rPr lang="en-US" dirty="0"/>
              <a:t> modifiable </a:t>
            </a:r>
          </a:p>
          <a:p>
            <a:pPr lvl="1"/>
            <a:r>
              <a:rPr lang="en-US" dirty="0"/>
              <a:t>Can easily change goals</a:t>
            </a:r>
          </a:p>
          <a:p>
            <a:r>
              <a:rPr lang="en-US" b="1" dirty="0"/>
              <a:t>Limitations</a:t>
            </a:r>
          </a:p>
          <a:p>
            <a:pPr lvl="1"/>
            <a:r>
              <a:rPr lang="en-US" dirty="0"/>
              <a:t>Goals are usually:</a:t>
            </a:r>
          </a:p>
          <a:p>
            <a:pPr lvl="2"/>
            <a:r>
              <a:rPr lang="en-US" dirty="0"/>
              <a:t>binary (achieved or not)</a:t>
            </a:r>
          </a:p>
          <a:p>
            <a:pPr lvl="1"/>
            <a:r>
              <a:rPr lang="en-US" dirty="0"/>
              <a:t>But many real problems involve:</a:t>
            </a:r>
          </a:p>
          <a:p>
            <a:pPr lvl="2"/>
            <a:r>
              <a:rPr lang="en-US" dirty="0"/>
              <a:t>trade-offs</a:t>
            </a:r>
          </a:p>
          <a:p>
            <a:pPr lvl="2"/>
            <a:r>
              <a:rPr lang="en-US" dirty="0"/>
              <a:t>degrees of success</a:t>
            </a:r>
          </a:p>
          <a:p>
            <a:pPr lvl="1"/>
            <a:r>
              <a:rPr lang="en-US" dirty="0"/>
              <a:t>Example:</a:t>
            </a:r>
          </a:p>
          <a:p>
            <a:pPr lvl="2"/>
            <a:r>
              <a:rPr lang="en-US" dirty="0"/>
              <a:t>fast vs safe vs comfortable driving</a:t>
            </a:r>
          </a:p>
          <a:p>
            <a:pPr lvl="1"/>
            <a:r>
              <a:rPr lang="en-US" dirty="0"/>
              <a:t>This motivates the next step:</a:t>
            </a:r>
          </a:p>
          <a:p>
            <a:pPr lvl="2"/>
            <a:r>
              <a:rPr lang="en-US" b="1" dirty="0"/>
              <a:t>Utility-based agents</a:t>
            </a:r>
            <a:r>
              <a:rPr lang="en-US" dirty="0"/>
              <a:t>, which rank how good different outcomes are.</a:t>
            </a:r>
          </a:p>
          <a:p>
            <a:endParaRPr lang="en-CA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8A23F4E-DFC1-49AC-B5E6-E369B226D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Advantages and Limitation</a:t>
            </a:r>
          </a:p>
        </p:txBody>
      </p:sp>
    </p:spTree>
    <p:extLst>
      <p:ext uri="{BB962C8B-B14F-4D97-AF65-F5344CB8AC3E}">
        <p14:creationId xmlns:p14="http://schemas.microsoft.com/office/powerpoint/2010/main" val="12991923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CDBD52-0014-4F26-8CDE-7F03C404C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A goal-based agent has no principled way to choose between two actions if both eventually achieve the goal.</a:t>
            </a:r>
          </a:p>
          <a:p>
            <a:pPr lvl="2"/>
            <a:r>
              <a:rPr lang="en-US" dirty="0"/>
              <a:t>Turn left → eventually reach destination</a:t>
            </a:r>
          </a:p>
          <a:p>
            <a:pPr lvl="2"/>
            <a:r>
              <a:rPr lang="en-US" dirty="0"/>
              <a:t>Turn right → eventually reach destination</a:t>
            </a:r>
          </a:p>
          <a:p>
            <a:pPr lvl="2"/>
            <a:r>
              <a:rPr lang="en-US" dirty="0"/>
              <a:t>From the agent’s point of view:</a:t>
            </a:r>
          </a:p>
          <a:p>
            <a:pPr lvl="2"/>
            <a:r>
              <a:rPr lang="en-US" dirty="0"/>
              <a:t>Goal achieved in both cases → both are acceptable</a:t>
            </a:r>
          </a:p>
          <a:p>
            <a:pPr lvl="2"/>
            <a:r>
              <a:rPr lang="en-US" dirty="0"/>
              <a:t>There is no built-in preference for:</a:t>
            </a:r>
          </a:p>
          <a:p>
            <a:pPr lvl="3"/>
            <a:r>
              <a:rPr lang="en-US" dirty="0"/>
              <a:t>shorter vs longer</a:t>
            </a:r>
          </a:p>
          <a:p>
            <a:pPr lvl="3"/>
            <a:r>
              <a:rPr lang="en-US" dirty="0"/>
              <a:t>safer vs riskier</a:t>
            </a:r>
          </a:p>
          <a:p>
            <a:pPr lvl="3"/>
            <a:r>
              <a:rPr lang="en-US" dirty="0"/>
              <a:t>cheaper vs expensive</a:t>
            </a:r>
          </a:p>
          <a:p>
            <a:pPr lvl="1"/>
            <a:r>
              <a:rPr lang="en-US" dirty="0"/>
              <a:t>If no available action satisfies all goals, then a pure goal-based agent has no rational basis to choose among the options.</a:t>
            </a:r>
          </a:p>
          <a:p>
            <a:pPr lvl="2"/>
            <a:r>
              <a:rPr lang="en-US" dirty="0"/>
              <a:t>It cannot say which failure is “less bad.”</a:t>
            </a:r>
          </a:p>
          <a:p>
            <a:pPr lvl="2"/>
            <a:r>
              <a:rPr lang="en-US" dirty="0"/>
              <a:t>So in that case, it must rely on </a:t>
            </a:r>
            <a:r>
              <a:rPr lang="en-US" b="1" dirty="0"/>
              <a:t>arbitrary or ad-hoc rules</a:t>
            </a:r>
            <a:r>
              <a:rPr lang="en-US" dirty="0"/>
              <a:t>, not rational optimization.</a:t>
            </a:r>
            <a:endParaRPr lang="en-CA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8A23F4E-DFC1-49AC-B5E6-E369B226D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Advantages and Limitation</a:t>
            </a:r>
          </a:p>
        </p:txBody>
      </p:sp>
    </p:spTree>
    <p:extLst>
      <p:ext uri="{BB962C8B-B14F-4D97-AF65-F5344CB8AC3E}">
        <p14:creationId xmlns:p14="http://schemas.microsoft.com/office/powerpoint/2010/main" val="12278019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rPr dirty="0"/>
              <a:t>Utility-Based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450" y="981076"/>
            <a:ext cx="5527675" cy="4783138"/>
          </a:xfrm>
        </p:spPr>
        <p:txBody>
          <a:bodyPr/>
          <a:lstStyle/>
          <a:p>
            <a:r>
              <a:rPr b="1" dirty="0"/>
              <a:t>Problem with Goals:</a:t>
            </a:r>
          </a:p>
          <a:p>
            <a:pPr lvl="1"/>
            <a:r>
              <a:rPr dirty="0"/>
              <a:t>Binary success/failure</a:t>
            </a:r>
            <a:endParaRPr lang="en-CA" dirty="0"/>
          </a:p>
          <a:p>
            <a:pPr lvl="1"/>
            <a:r>
              <a:rPr lang="en-US" dirty="0"/>
              <a:t>goals alone cannot express:</a:t>
            </a:r>
          </a:p>
          <a:p>
            <a:pPr lvl="2"/>
            <a:r>
              <a:rPr lang="en-US" dirty="0"/>
              <a:t>preferences</a:t>
            </a:r>
          </a:p>
          <a:p>
            <a:pPr lvl="2"/>
            <a:r>
              <a:rPr lang="en-US" dirty="0"/>
              <a:t>trade-offs</a:t>
            </a:r>
          </a:p>
          <a:p>
            <a:pPr lvl="2"/>
            <a:r>
              <a:rPr lang="en-US" dirty="0"/>
              <a:t>degrees of success</a:t>
            </a:r>
          </a:p>
          <a:p>
            <a:r>
              <a:rPr lang="en-US" b="1" dirty="0"/>
              <a:t>Solution: Utility</a:t>
            </a:r>
          </a:p>
          <a:p>
            <a:pPr lvl="1"/>
            <a:r>
              <a:rPr lang="en-US" dirty="0"/>
              <a:t>A utility function:</a:t>
            </a:r>
          </a:p>
          <a:p>
            <a:pPr lvl="2"/>
            <a:r>
              <a:rPr lang="en-US" dirty="0"/>
              <a:t>Maps each possible world state to a real number representing how desirable that state is.</a:t>
            </a:r>
          </a:p>
          <a:p>
            <a:pPr lvl="1"/>
            <a:r>
              <a:rPr lang="en-US" dirty="0"/>
              <a:t>So instead of: good vs bad</a:t>
            </a:r>
          </a:p>
          <a:p>
            <a:pPr lvl="1"/>
            <a:r>
              <a:rPr lang="en-US" dirty="0"/>
              <a:t>we have: better vs worse, by degree</a:t>
            </a:r>
          </a:p>
          <a:p>
            <a:r>
              <a:rPr lang="en-US" dirty="0"/>
              <a:t>This means the agent now has a numeric </a:t>
            </a:r>
            <a:r>
              <a:rPr lang="en-US" b="1" dirty="0"/>
              <a:t>measure of happiness </a:t>
            </a:r>
            <a:r>
              <a:rPr lang="en-US" dirty="0"/>
              <a:t>or desirability for outcomes.</a:t>
            </a:r>
          </a:p>
          <a:p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BEF56F-98EC-4AFC-8BBF-4C03023E5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073" y="3986047"/>
            <a:ext cx="2162477" cy="2372056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rPr dirty="0"/>
              <a:t>Utility-Based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450" y="981076"/>
            <a:ext cx="5527675" cy="4783138"/>
          </a:xfrm>
        </p:spPr>
        <p:txBody>
          <a:bodyPr/>
          <a:lstStyle/>
          <a:p>
            <a:r>
              <a:rPr b="1" dirty="0"/>
              <a:t>Problem with Goals:</a:t>
            </a:r>
          </a:p>
          <a:p>
            <a:pPr lvl="1"/>
            <a:r>
              <a:rPr dirty="0"/>
              <a:t>Binary success/failure</a:t>
            </a:r>
            <a:endParaRPr lang="en-CA" dirty="0"/>
          </a:p>
          <a:p>
            <a:pPr lvl="1"/>
            <a:r>
              <a:rPr lang="en-US" dirty="0"/>
              <a:t>goals alone cannot express:</a:t>
            </a:r>
          </a:p>
          <a:p>
            <a:pPr lvl="2"/>
            <a:r>
              <a:rPr lang="en-US" dirty="0"/>
              <a:t>preferences</a:t>
            </a:r>
          </a:p>
          <a:p>
            <a:pPr lvl="2"/>
            <a:r>
              <a:rPr lang="en-US" dirty="0"/>
              <a:t>trade-offs</a:t>
            </a:r>
          </a:p>
          <a:p>
            <a:pPr lvl="2"/>
            <a:r>
              <a:rPr lang="en-US" dirty="0"/>
              <a:t>degrees of success</a:t>
            </a:r>
          </a:p>
          <a:p>
            <a:r>
              <a:rPr lang="en-US" b="1" dirty="0"/>
              <a:t>Solution: Utility</a:t>
            </a:r>
          </a:p>
          <a:p>
            <a:pPr lvl="1"/>
            <a:r>
              <a:rPr lang="en-US" dirty="0"/>
              <a:t>A utility function:</a:t>
            </a:r>
          </a:p>
          <a:p>
            <a:pPr lvl="2"/>
            <a:r>
              <a:rPr lang="en-US" dirty="0"/>
              <a:t>Maps each possible world state to a real number representing how desirable that state is.</a:t>
            </a:r>
          </a:p>
          <a:p>
            <a:pPr lvl="1"/>
            <a:r>
              <a:rPr lang="en-US" dirty="0"/>
              <a:t>So instead of: good vs bad</a:t>
            </a:r>
          </a:p>
          <a:p>
            <a:pPr lvl="1"/>
            <a:r>
              <a:rPr lang="en-US" dirty="0"/>
              <a:t>we have: better vs worse, by degree</a:t>
            </a:r>
          </a:p>
          <a:p>
            <a:r>
              <a:rPr lang="en-US" dirty="0"/>
              <a:t>This means the agent now has a numeric </a:t>
            </a:r>
            <a:r>
              <a:rPr lang="en-US" b="1" dirty="0"/>
              <a:t>measure of happiness </a:t>
            </a:r>
            <a:r>
              <a:rPr lang="en-US" dirty="0"/>
              <a:t>or desirability for outcomes.</a:t>
            </a:r>
          </a:p>
          <a:p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BEF56F-98EC-4AFC-8BBF-4C03023E5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073" y="3986047"/>
            <a:ext cx="2162477" cy="237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2084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rPr dirty="0"/>
              <a:t>Utility-Based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450" y="962026"/>
            <a:ext cx="8229600" cy="4802188"/>
          </a:xfrm>
        </p:spPr>
        <p:txBody>
          <a:bodyPr/>
          <a:lstStyle/>
          <a:p>
            <a:r>
              <a:rPr lang="en-US" b="1" dirty="0"/>
              <a:t>Utility Internalizes the Performance Measure</a:t>
            </a:r>
          </a:p>
          <a:p>
            <a:pPr lvl="1"/>
            <a:r>
              <a:rPr lang="en-US" dirty="0"/>
              <a:t>Instead of evaluating performance only after the fact, the agent now:</a:t>
            </a:r>
          </a:p>
          <a:p>
            <a:pPr lvl="2"/>
            <a:r>
              <a:rPr lang="en-US" dirty="0"/>
              <a:t>Uses the performance criteria inside its decision process.</a:t>
            </a:r>
          </a:p>
          <a:p>
            <a:pPr lvl="1"/>
            <a:r>
              <a:rPr lang="en-US" dirty="0"/>
              <a:t>So the agent doesn’t just ask: “Will I reach the goal?”</a:t>
            </a:r>
          </a:p>
          <a:p>
            <a:pPr lvl="1"/>
            <a:r>
              <a:rPr lang="en-US" dirty="0"/>
              <a:t>It asks: “How good will the result be?”</a:t>
            </a:r>
          </a:p>
          <a:p>
            <a:pPr lvl="1"/>
            <a:r>
              <a:rPr lang="en-US" dirty="0"/>
              <a:t>This makes decision making more precise and flexible.</a:t>
            </a:r>
            <a:endParaRPr lang="en-CA" dirty="0"/>
          </a:p>
          <a:p>
            <a:r>
              <a:rPr lang="en-US" b="1" dirty="0"/>
              <a:t>Utility </a:t>
            </a:r>
            <a:r>
              <a:rPr b="1" dirty="0"/>
              <a:t>Handles</a:t>
            </a:r>
            <a:r>
              <a:rPr dirty="0"/>
              <a:t>:</a:t>
            </a:r>
          </a:p>
          <a:p>
            <a:pPr lvl="1"/>
            <a:r>
              <a:rPr b="1" dirty="0"/>
              <a:t>Conflicting goals</a:t>
            </a:r>
            <a:r>
              <a:rPr lang="en-CA" dirty="0"/>
              <a:t>: </a:t>
            </a:r>
            <a:r>
              <a:rPr lang="en-US" dirty="0"/>
              <a:t>Can't achieve </a:t>
            </a:r>
            <a:r>
              <a:rPr lang="en-US" dirty="0">
                <a:solidFill>
                  <a:srgbClr val="50A14F"/>
                </a:solidFill>
                <a:effectLst/>
              </a:rPr>
              <a:t>all</a:t>
            </a:r>
            <a:r>
              <a:rPr lang="en-US" dirty="0"/>
              <a:t> </a:t>
            </a:r>
            <a:r>
              <a:rPr lang="en-US" dirty="0">
                <a:solidFill>
                  <a:srgbClr val="383A42"/>
                </a:solidFill>
                <a:effectLst/>
              </a:rPr>
              <a:t>(</a:t>
            </a:r>
            <a:r>
              <a:rPr lang="en-US" dirty="0"/>
              <a:t>e</a:t>
            </a:r>
            <a:r>
              <a:rPr lang="en-US" dirty="0">
                <a:solidFill>
                  <a:srgbClr val="383A42"/>
                </a:solidFill>
                <a:effectLst/>
              </a:rPr>
              <a:t>.</a:t>
            </a:r>
            <a:r>
              <a:rPr lang="en-US" dirty="0"/>
              <a:t>g</a:t>
            </a:r>
            <a:r>
              <a:rPr lang="en-US" dirty="0">
                <a:solidFill>
                  <a:srgbClr val="383A42"/>
                </a:solidFill>
                <a:effectLst/>
              </a:rPr>
              <a:t>.,</a:t>
            </a:r>
            <a:r>
              <a:rPr lang="en-US" dirty="0"/>
              <a:t> speed vs</a:t>
            </a:r>
            <a:r>
              <a:rPr lang="en-US" dirty="0">
                <a:solidFill>
                  <a:srgbClr val="383A42"/>
                </a:solidFill>
                <a:effectLst/>
              </a:rPr>
              <a:t>.</a:t>
            </a:r>
            <a:r>
              <a:rPr lang="en-US" dirty="0"/>
              <a:t> safety</a:t>
            </a:r>
            <a:r>
              <a:rPr lang="en-US" dirty="0">
                <a:solidFill>
                  <a:srgbClr val="383A42"/>
                </a:solidFill>
                <a:effectLst/>
              </a:rPr>
              <a:t>)</a:t>
            </a:r>
            <a:endParaRPr dirty="0"/>
          </a:p>
          <a:p>
            <a:pPr lvl="1"/>
            <a:r>
              <a:rPr lang="en-CA" b="1" dirty="0"/>
              <a:t>Outcomes are probabilistic</a:t>
            </a:r>
            <a:r>
              <a:rPr lang="en-CA" dirty="0"/>
              <a:t>: </a:t>
            </a:r>
            <a:r>
              <a:rPr lang="en-US" dirty="0"/>
              <a:t>Actions do not guarantee results.</a:t>
            </a:r>
          </a:p>
          <a:p>
            <a:pPr lvl="2"/>
            <a:r>
              <a:rPr lang="en-US" dirty="0"/>
              <a:t>Taking highway may be faster, but traffic might appear</a:t>
            </a:r>
            <a:endParaRPr dirty="0"/>
          </a:p>
          <a:p>
            <a:pPr lvl="1"/>
            <a:r>
              <a:rPr lang="en-US" b="1" dirty="0"/>
              <a:t>Trade-offs Between Risk and Reward</a:t>
            </a:r>
            <a:r>
              <a:rPr lang="en-CA" dirty="0"/>
              <a:t>: </a:t>
            </a:r>
          </a:p>
          <a:p>
            <a:pPr lvl="2"/>
            <a:r>
              <a:rPr lang="en-US" dirty="0"/>
              <a:t>Expected utility = </a:t>
            </a:r>
            <a:r>
              <a:rPr lang="en-CA" dirty="0"/>
              <a:t>likelihood × desirability</a:t>
            </a:r>
          </a:p>
          <a:p>
            <a:pPr lvl="2"/>
            <a:r>
              <a:rPr lang="en-US" dirty="0"/>
              <a:t>Choose actions that give </a:t>
            </a:r>
            <a:r>
              <a:rPr lang="en-US" b="1" dirty="0"/>
              <a:t>good outcomes with high probability</a:t>
            </a:r>
            <a:endParaRPr dirty="0"/>
          </a:p>
          <a:p>
            <a:r>
              <a:rPr b="1" dirty="0"/>
              <a:t>Rational agent:</a:t>
            </a:r>
          </a:p>
          <a:p>
            <a:pPr lvl="1"/>
            <a:r>
              <a:rPr lang="en-CA" dirty="0"/>
              <a:t>Chooses action that </a:t>
            </a:r>
            <a:r>
              <a:rPr dirty="0"/>
              <a:t>maximizes expected utility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82235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t>Utility-Based Agent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  <a:p>
            <a:endParaRPr lang="en-CA" dirty="0"/>
          </a:p>
          <a:p>
            <a:endParaRPr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US" b="1" dirty="0"/>
              <a:t>Condition-action rules </a:t>
            </a:r>
            <a:r>
              <a:rPr lang="en-US" dirty="0"/>
              <a:t>now help evaluate states, not choose action.</a:t>
            </a:r>
          </a:p>
          <a:p>
            <a:pPr lvl="1"/>
            <a:r>
              <a:rPr lang="en-US" dirty="0"/>
              <a:t>They can encode things like:</a:t>
            </a:r>
          </a:p>
          <a:p>
            <a:pPr lvl="2"/>
            <a:r>
              <a:rPr lang="en-US" dirty="0"/>
              <a:t>how to recognize dangerous situations</a:t>
            </a:r>
          </a:p>
          <a:p>
            <a:pPr lvl="2"/>
            <a:r>
              <a:rPr lang="en-US" dirty="0"/>
              <a:t>how to detect comfort levels</a:t>
            </a:r>
          </a:p>
          <a:p>
            <a:pPr lvl="1"/>
            <a:r>
              <a:rPr lang="en-US" dirty="0"/>
              <a:t>These feed into: </a:t>
            </a:r>
            <a:r>
              <a:rPr lang="en-US" b="1" dirty="0"/>
              <a:t>utility evaluation</a:t>
            </a:r>
            <a:r>
              <a:rPr lang="en-US" dirty="0"/>
              <a:t>, not direct action selection.</a:t>
            </a:r>
          </a:p>
          <a:p>
            <a:endParaRPr lang="en-US" dirty="0"/>
          </a:p>
        </p:txBody>
      </p:sp>
      <p:pic>
        <p:nvPicPr>
          <p:cNvPr id="13314" name="Picture 2" descr="Utility-based agent diagram under the types of AI agents: perception → decision module with utility function comparing multiple action options → action with highest utility.">
            <a:extLst>
              <a:ext uri="{FF2B5EF4-FFF2-40B4-BE49-F238E27FC236}">
                <a16:creationId xmlns:a16="http://schemas.microsoft.com/office/drawing/2014/main" id="{16EBBE15-AA74-4558-A7B7-788DC2C70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8766" y="920750"/>
            <a:ext cx="7304968" cy="4109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t>Utility vs. Goal-Based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450" y="1233488"/>
            <a:ext cx="8229600" cy="5014912"/>
          </a:xfrm>
        </p:spPr>
        <p:txBody>
          <a:bodyPr/>
          <a:lstStyle/>
          <a:p>
            <a:r>
              <a:rPr dirty="0"/>
              <a:t>Goal-Based:</a:t>
            </a:r>
          </a:p>
          <a:p>
            <a:pPr lvl="1"/>
            <a:r>
              <a:rPr lang="en-US" dirty="0"/>
              <a:t>Binary</a:t>
            </a:r>
            <a:r>
              <a:rPr lang="en-US" dirty="0">
                <a:solidFill>
                  <a:srgbClr val="383A42"/>
                </a:solidFill>
                <a:effectLst/>
              </a:rPr>
              <a:t>:</a:t>
            </a:r>
            <a:r>
              <a:rPr lang="en-US" dirty="0"/>
              <a:t> goal achieved </a:t>
            </a:r>
            <a:r>
              <a:rPr lang="en-US" dirty="0">
                <a:solidFill>
                  <a:srgbClr val="A626A4"/>
                </a:solidFill>
                <a:effectLst/>
              </a:rPr>
              <a:t>or</a:t>
            </a:r>
            <a:r>
              <a:rPr lang="en-US" dirty="0"/>
              <a:t> </a:t>
            </a:r>
            <a:r>
              <a:rPr lang="en-US" dirty="0">
                <a:solidFill>
                  <a:srgbClr val="A626A4"/>
                </a:solidFill>
                <a:effectLst/>
              </a:rPr>
              <a:t>not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Simpler to specify </a:t>
            </a:r>
          </a:p>
          <a:p>
            <a:pPr lvl="1"/>
            <a:r>
              <a:rPr lang="en-US" dirty="0"/>
              <a:t>Sufficient </a:t>
            </a:r>
            <a:r>
              <a:rPr lang="en-US" dirty="0">
                <a:solidFill>
                  <a:srgbClr val="A626A4"/>
                </a:solidFill>
                <a:effectLst/>
              </a:rPr>
              <a:t>for</a:t>
            </a:r>
            <a:r>
              <a:rPr lang="en-US" dirty="0"/>
              <a:t> deterministic</a:t>
            </a:r>
            <a:r>
              <a:rPr lang="en-US" dirty="0">
                <a:solidFill>
                  <a:srgbClr val="383A42"/>
                </a:solidFill>
                <a:effectLst/>
              </a:rPr>
              <a:t>,</a:t>
            </a:r>
            <a:r>
              <a:rPr lang="en-US" dirty="0"/>
              <a:t> fully observable environments</a:t>
            </a:r>
            <a:endParaRPr dirty="0"/>
          </a:p>
          <a:p>
            <a:r>
              <a:rPr dirty="0"/>
              <a:t>Utility-Based:</a:t>
            </a:r>
          </a:p>
          <a:p>
            <a:pPr lvl="1"/>
            <a:r>
              <a:rPr lang="en-US" dirty="0"/>
              <a:t>Degree of satisfaction </a:t>
            </a:r>
            <a:endParaRPr lang="en-US" dirty="0">
              <a:solidFill>
                <a:srgbClr val="4078F2"/>
              </a:solidFill>
            </a:endParaRPr>
          </a:p>
          <a:p>
            <a:pPr lvl="1"/>
            <a:r>
              <a:rPr lang="en-US" dirty="0"/>
              <a:t>Handles uncertainty naturally </a:t>
            </a:r>
          </a:p>
          <a:p>
            <a:pPr lvl="1"/>
            <a:r>
              <a:rPr lang="en-US" dirty="0"/>
              <a:t>Required </a:t>
            </a:r>
            <a:r>
              <a:rPr lang="en-US" dirty="0">
                <a:solidFill>
                  <a:srgbClr val="A626A4"/>
                </a:solidFill>
                <a:effectLst/>
              </a:rPr>
              <a:t>for</a:t>
            </a:r>
            <a:r>
              <a:rPr lang="en-US" dirty="0"/>
              <a:t> conflicting goals </a:t>
            </a:r>
          </a:p>
          <a:p>
            <a:pPr lvl="1"/>
            <a:r>
              <a:rPr lang="en-US" dirty="0"/>
              <a:t>More general framework</a:t>
            </a:r>
          </a:p>
          <a:p>
            <a:r>
              <a:rPr lang="en-US" dirty="0"/>
              <a:t>Both require:</a:t>
            </a:r>
          </a:p>
          <a:p>
            <a:pPr lvl="1"/>
            <a:r>
              <a:rPr lang="en-US" dirty="0"/>
              <a:t>Model of environment </a:t>
            </a:r>
          </a:p>
          <a:p>
            <a:pPr lvl="1"/>
            <a:r>
              <a:rPr lang="en-US" dirty="0"/>
              <a:t>Planning</a:t>
            </a:r>
            <a:r>
              <a:rPr lang="en-US" dirty="0">
                <a:solidFill>
                  <a:srgbClr val="4078F2"/>
                </a:solidFill>
                <a:effectLst/>
              </a:rPr>
              <a:t>/</a:t>
            </a:r>
            <a:r>
              <a:rPr lang="en-US" dirty="0"/>
              <a:t>search capabilities</a:t>
            </a:r>
            <a:endParaRPr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t>Learning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learning agent is best thought of as:</a:t>
            </a:r>
          </a:p>
          <a:p>
            <a:pPr lvl="1"/>
            <a:r>
              <a:rPr lang="en-US" dirty="0"/>
              <a:t>a wrapper around another agent architecture </a:t>
            </a:r>
          </a:p>
          <a:p>
            <a:endParaRPr lang="en-US" dirty="0"/>
          </a:p>
          <a:p>
            <a:r>
              <a:rPr lang="en-US" dirty="0"/>
              <a:t>It can modify its own behavior based on experience.</a:t>
            </a:r>
          </a:p>
          <a:p>
            <a:pPr lvl="1"/>
            <a:r>
              <a:rPr lang="en-US" dirty="0"/>
              <a:t>So instead of being fixed at design time, it </a:t>
            </a:r>
            <a:r>
              <a:rPr lang="en-US" b="1" dirty="0"/>
              <a:t>gets better while operating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A learning agent:</a:t>
            </a:r>
          </a:p>
          <a:p>
            <a:pPr lvl="1"/>
            <a:r>
              <a:rPr lang="en-US" dirty="0">
                <a:solidFill>
                  <a:srgbClr val="B76B01"/>
                </a:solidFill>
                <a:effectLst/>
              </a:rPr>
              <a:t>1.</a:t>
            </a:r>
            <a:r>
              <a:rPr lang="en-US" dirty="0"/>
              <a:t> Operate </a:t>
            </a:r>
            <a:r>
              <a:rPr lang="en-US" dirty="0">
                <a:solidFill>
                  <a:srgbClr val="A626A4"/>
                </a:solidFill>
                <a:effectLst/>
              </a:rPr>
              <a:t>in</a:t>
            </a:r>
            <a:r>
              <a:rPr lang="en-US" dirty="0"/>
              <a:t> initially unknown environments </a:t>
            </a:r>
          </a:p>
          <a:p>
            <a:pPr lvl="1"/>
            <a:r>
              <a:rPr lang="en-US" dirty="0">
                <a:solidFill>
                  <a:srgbClr val="B76B01"/>
                </a:solidFill>
                <a:effectLst/>
              </a:rPr>
              <a:t>2.</a:t>
            </a:r>
            <a:r>
              <a:rPr lang="en-US" dirty="0"/>
              <a:t> Become more competent over time </a:t>
            </a:r>
          </a:p>
          <a:p>
            <a:pPr lvl="1"/>
            <a:r>
              <a:rPr lang="en-US" dirty="0">
                <a:solidFill>
                  <a:srgbClr val="B76B01"/>
                </a:solidFill>
                <a:effectLst/>
              </a:rPr>
              <a:t>3.</a:t>
            </a:r>
            <a:r>
              <a:rPr lang="en-US" dirty="0"/>
              <a:t> Compensate </a:t>
            </a:r>
            <a:r>
              <a:rPr lang="en-US" dirty="0">
                <a:solidFill>
                  <a:srgbClr val="A626A4"/>
                </a:solidFill>
                <a:effectLst/>
              </a:rPr>
              <a:t>for</a:t>
            </a:r>
            <a:r>
              <a:rPr lang="en-US" dirty="0"/>
              <a:t> incomplete prior knowledge </a:t>
            </a:r>
          </a:p>
          <a:p>
            <a:pPr lvl="1"/>
            <a:r>
              <a:rPr lang="en-US" dirty="0">
                <a:solidFill>
                  <a:srgbClr val="B76B01"/>
                </a:solidFill>
                <a:effectLst/>
              </a:rPr>
              <a:t>4.</a:t>
            </a:r>
            <a:r>
              <a:rPr lang="en-US" dirty="0"/>
              <a:t> Adapt to changes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t>Learning Agent Components</a:t>
            </a:r>
          </a:p>
        </p:txBody>
      </p:sp>
      <p:pic>
        <p:nvPicPr>
          <p:cNvPr id="14338" name="Picture 2" descr="Illustration of a learning agent from the types of AI agents category: perception, learning element updating internal model based on feedback, decision module, and action loop.">
            <a:extLst>
              <a:ext uri="{FF2B5EF4-FFF2-40B4-BE49-F238E27FC236}">
                <a16:creationId xmlns:a16="http://schemas.microsoft.com/office/drawing/2014/main" id="{8F5C00FB-B386-493B-A46C-2549D895C5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187" y="1169035"/>
            <a:ext cx="8283787" cy="465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t>Learning Element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Performance Element:</a:t>
            </a:r>
            <a:endParaRPr lang="en-US" dirty="0"/>
          </a:p>
          <a:p>
            <a:pPr lvl="1"/>
            <a:r>
              <a:rPr lang="en-US" dirty="0"/>
              <a:t>The "agent" we've been discussing</a:t>
            </a:r>
          </a:p>
          <a:p>
            <a:pPr lvl="1"/>
            <a:r>
              <a:rPr lang="en-US" dirty="0"/>
              <a:t>Takes percepts, decides actions</a:t>
            </a:r>
          </a:p>
          <a:p>
            <a:r>
              <a:rPr lang="en-US" b="1" dirty="0"/>
              <a:t>Critic:</a:t>
            </a:r>
          </a:p>
          <a:p>
            <a:pPr lvl="1"/>
            <a:r>
              <a:rPr lang="en-US" dirty="0"/>
              <a:t>observes what happens in the environment</a:t>
            </a:r>
          </a:p>
          <a:p>
            <a:pPr lvl="1"/>
            <a:r>
              <a:rPr lang="en-US" dirty="0"/>
              <a:t>evaluates behavior using the performance standard</a:t>
            </a:r>
          </a:p>
          <a:p>
            <a:pPr lvl="1"/>
            <a:r>
              <a:rPr lang="en-US" dirty="0"/>
              <a:t>The critic does </a:t>
            </a:r>
            <a:r>
              <a:rPr lang="en-US" b="1" dirty="0"/>
              <a:t>not</a:t>
            </a:r>
            <a:r>
              <a:rPr lang="en-US" dirty="0"/>
              <a:t> tell the agent what to do — it only tells the learning element how well agent is doing</a:t>
            </a:r>
          </a:p>
          <a:p>
            <a:r>
              <a:rPr lang="en-US" b="1" dirty="0"/>
              <a:t>Learning Element:</a:t>
            </a:r>
            <a:endParaRPr lang="en-US" dirty="0"/>
          </a:p>
          <a:p>
            <a:pPr lvl="1"/>
            <a:r>
              <a:rPr lang="en-US" dirty="0"/>
              <a:t>Uses critic's feedback</a:t>
            </a:r>
          </a:p>
          <a:p>
            <a:pPr lvl="1"/>
            <a:r>
              <a:rPr lang="en-US" dirty="0"/>
              <a:t>Modifies performance element by improving the model components</a:t>
            </a:r>
          </a:p>
          <a:p>
            <a:pPr lvl="2" indent="-285750">
              <a:buFont typeface="+mj-lt"/>
              <a:buAutoNum type="arabicPeriod"/>
            </a:pPr>
            <a:r>
              <a:rPr lang="en-US" dirty="0"/>
              <a:t>"What my actions do"</a:t>
            </a:r>
          </a:p>
          <a:p>
            <a:pPr lvl="2" indent="-285750">
              <a:buFont typeface="+mj-lt"/>
              <a:buAutoNum type="arabicPeriod"/>
            </a:pPr>
            <a:r>
              <a:rPr lang="en-US" dirty="0"/>
              <a:t>"How the world evolves"</a:t>
            </a:r>
          </a:p>
          <a:p>
            <a:pPr lvl="1"/>
            <a:r>
              <a:rPr lang="en-US" dirty="0"/>
              <a:t>Better models → better predictions</a:t>
            </a:r>
          </a:p>
          <a:p>
            <a:endParaRPr lang="en-CA" dirty="0"/>
          </a:p>
          <a:p>
            <a:endParaRPr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t>Critic and Problem Generator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Problem Generator:</a:t>
            </a:r>
          </a:p>
          <a:p>
            <a:pPr lvl="1"/>
            <a:r>
              <a:rPr lang="en-US" dirty="0"/>
              <a:t>What should I try next to learn more?</a:t>
            </a:r>
          </a:p>
          <a:p>
            <a:pPr lvl="1"/>
            <a:r>
              <a:rPr lang="en-US" dirty="0"/>
              <a:t>encourages trying new behaviors</a:t>
            </a:r>
          </a:p>
          <a:p>
            <a:pPr lvl="1"/>
            <a:r>
              <a:rPr lang="en-US" dirty="0"/>
              <a:t>trades off short-term performance for long-term improvement</a:t>
            </a:r>
          </a:p>
          <a:p>
            <a:pPr lvl="1"/>
            <a:r>
              <a:rPr lang="en-US" dirty="0"/>
              <a:t>Example:</a:t>
            </a:r>
          </a:p>
          <a:p>
            <a:pPr lvl="2"/>
            <a:r>
              <a:rPr lang="en-US" dirty="0"/>
              <a:t>Try a new route to learn traffic patterns</a:t>
            </a:r>
          </a:p>
          <a:p>
            <a:pPr lvl="2"/>
            <a:r>
              <a:rPr lang="en-US" dirty="0"/>
              <a:t>Try a risky move to see what happens</a:t>
            </a:r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26989</TotalTime>
  <Words>4101</Words>
  <Application>Microsoft Office PowerPoint</Application>
  <PresentationFormat>On-screen Show (4:3)</PresentationFormat>
  <Paragraphs>688</Paragraphs>
  <Slides>52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9" baseType="lpstr">
      <vt:lpstr>Arial</vt:lpstr>
      <vt:lpstr>Helvetica</vt:lpstr>
      <vt:lpstr>Times New Roman</vt:lpstr>
      <vt:lpstr>Verdana</vt:lpstr>
      <vt:lpstr>Webdings</vt:lpstr>
      <vt:lpstr>Wingdings</vt:lpstr>
      <vt:lpstr>os-8</vt:lpstr>
      <vt:lpstr>Intelligent Agents</vt:lpstr>
      <vt:lpstr>What is an Agent?</vt:lpstr>
      <vt:lpstr>Percepts and Actions</vt:lpstr>
      <vt:lpstr>Example - Vacuum Cleaner World</vt:lpstr>
      <vt:lpstr>The Vacuum World - State Space</vt:lpstr>
      <vt:lpstr>The Vacuum World - State Space</vt:lpstr>
      <vt:lpstr>Action Tabulation</vt:lpstr>
      <vt:lpstr>What Makes an Agent Good?</vt:lpstr>
      <vt:lpstr>Performance Measures</vt:lpstr>
      <vt:lpstr>Performance Measures</vt:lpstr>
      <vt:lpstr>Rationality - Formal Definition</vt:lpstr>
      <vt:lpstr>Rationality vs. Omniscience (om-NISH-uhns)</vt:lpstr>
      <vt:lpstr>Rationality vs. Omniscience (om-NISH-uhns)</vt:lpstr>
      <vt:lpstr>Rationality vs. Omniscience (om-NISH-uhns)</vt:lpstr>
      <vt:lpstr>Rationality Requires Intelligence</vt:lpstr>
      <vt:lpstr>Rationality Requires Intelligence</vt:lpstr>
      <vt:lpstr>Rationality Requires Intelligence</vt:lpstr>
      <vt:lpstr>PEAS Description Framework</vt:lpstr>
      <vt:lpstr>PEAS Description Framework</vt:lpstr>
      <vt:lpstr>More PEAS Examples</vt:lpstr>
      <vt:lpstr>Properties of Task Environments (1/3)</vt:lpstr>
      <vt:lpstr>Properties of Task Environments (1/3)</vt:lpstr>
      <vt:lpstr>Properties of Task Environments (1/3)</vt:lpstr>
      <vt:lpstr>Properties of Task Environments (1/3)</vt:lpstr>
      <vt:lpstr>Properties of Task Environments (2/3)</vt:lpstr>
      <vt:lpstr>Properties of Task Environments (2/3)</vt:lpstr>
      <vt:lpstr>Properties of Task Environments (3/3)</vt:lpstr>
      <vt:lpstr>Properties of Task Environments (3/3)</vt:lpstr>
      <vt:lpstr>Agent Program Structure</vt:lpstr>
      <vt:lpstr>The Challenge</vt:lpstr>
      <vt:lpstr>The Challenge</vt:lpstr>
      <vt:lpstr>Four Basic Agent Types</vt:lpstr>
      <vt:lpstr>Simple Reflex Agents</vt:lpstr>
      <vt:lpstr>Simple Reflex Agent Architecture</vt:lpstr>
      <vt:lpstr>Limitations of Simple Reflex Agents</vt:lpstr>
      <vt:lpstr>Limitations of Simple Reflex Agents</vt:lpstr>
      <vt:lpstr>Model-Based Reflex Agents</vt:lpstr>
      <vt:lpstr>Model-Based Agent Architecture</vt:lpstr>
      <vt:lpstr>Goal-Based Agents</vt:lpstr>
      <vt:lpstr>Goal-Based Agents</vt:lpstr>
      <vt:lpstr>Goal-Based Agent Architecture</vt:lpstr>
      <vt:lpstr>Advantages and Limitation</vt:lpstr>
      <vt:lpstr>Advantages and Limitation</vt:lpstr>
      <vt:lpstr>Utility-Based Agents</vt:lpstr>
      <vt:lpstr>Utility-Based Agents</vt:lpstr>
      <vt:lpstr>Utility-Based Agents</vt:lpstr>
      <vt:lpstr>Utility-Based Agent Architecture</vt:lpstr>
      <vt:lpstr>Utility vs. Goal-Based Agents</vt:lpstr>
      <vt:lpstr>Learning Agents</vt:lpstr>
      <vt:lpstr>Learning Agent Components</vt:lpstr>
      <vt:lpstr>Learning Element Details</vt:lpstr>
      <vt:lpstr>Critic and Problem Generator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Yasser Ebrahim</cp:lastModifiedBy>
  <cp:revision>391</cp:revision>
  <cp:lastPrinted>2001-06-14T13:58:17Z</cp:lastPrinted>
  <dcterms:created xsi:type="dcterms:W3CDTF">2011-01-13T23:43:38Z</dcterms:created>
  <dcterms:modified xsi:type="dcterms:W3CDTF">2026-01-17T17:05:43Z</dcterms:modified>
</cp:coreProperties>
</file>