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5"/>
  </p:notesMasterIdLst>
  <p:handoutMasterIdLst>
    <p:handoutMasterId r:id="rId16"/>
  </p:handoutMasterIdLst>
  <p:sldIdLst>
    <p:sldId id="256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67"/>
  </p:normalViewPr>
  <p:slideViewPr>
    <p:cSldViewPr snapToGrid="0">
      <p:cViewPr varScale="1">
        <p:scale>
          <a:sx n="85" d="100"/>
          <a:sy n="85" d="100"/>
        </p:scale>
        <p:origin x="1272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50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bRvs8rOQU-Q&amp;t=864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0317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A* SEARCH ALGORITHM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41757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Optimal Paths with Informed Search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3600" y="136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A* Search?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5453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95453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(pronounced 'A-star') is a 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traversal and pathfinding algorithm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finds the shortest path between nodes using </a:t>
            </a: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heuristics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guide its search.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143250"/>
            <a:ext cx="786384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32613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3874770"/>
            <a:ext cx="6949440" cy="239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finds a solution if one exists</a:t>
            </a:r>
            <a:endParaRPr lang="en-US" sz="1400" dirty="0"/>
          </a:p>
          <a:p>
            <a:pPr>
              <a:lnSpc>
                <a:spcPts val="1800"/>
              </a:lnSpc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the shortest path with admissible heuristics</a:t>
            </a:r>
            <a:endParaRPr lang="en-US" sz="1400" dirty="0"/>
          </a:p>
          <a:p>
            <a:pPr>
              <a:lnSpc>
                <a:spcPts val="1800"/>
              </a:lnSpc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informed search to explore fewer nodes than uninformed methods</a:t>
            </a:r>
            <a:endParaRPr lang="en-US" sz="1400" dirty="0"/>
          </a:p>
          <a:p>
            <a:pPr>
              <a:lnSpc>
                <a:spcPts val="1800"/>
              </a:lnSpc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Versatile: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to robotics, games, GPS navigation, and AI planning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hlinkClick r:id="rId4"/>
              </a:rPr>
              <a:t>https://www.youtube.com/watch?v=bRvs8rOQU-Q&amp;t=864s</a:t>
            </a: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7234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Formula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1954530"/>
            <a:ext cx="54864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95453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341757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41757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26080" y="341757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cost of path through node 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96621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96621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g(n)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26080" y="396621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cost from start node to node 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51485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51485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26080" y="451485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estimated cost from node n to goal</a:t>
            </a:r>
            <a:endParaRPr lang="en-US" sz="1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6349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506349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always expands the node with the lowest f(n) value, balancing known costs with estimated future costs.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54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A* Works: The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95453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09169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916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13741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50317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start node to open list with f(n) = h(n)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5453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09169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0916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213741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250317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node with lowest f(n) from open 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8897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32613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261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37185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Goal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73761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selected node is goal, path is found!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897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332613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3261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77840" y="337185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73761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successors and calculate g(n) and h(n)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2341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56057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5605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60629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Lists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97205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current to closed list, add successors to open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423410"/>
            <a:ext cx="4023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456057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45605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460629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77840" y="497205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step 2 until goal found or open list empty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7788" y="18131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Heuristic Functions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309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6309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heuristic estimates the cost from a node to the goal. Good heuristics make A* efficient!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594610"/>
            <a:ext cx="7863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68605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Distance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7865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 = |x₁ - x₂| + |y₁ - y₂|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297865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Grid-based maps with 4-directional movement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554730"/>
            <a:ext cx="7863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4617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93877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 = √((x₁ - x₂)² + (y₁ - y₂)²)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0" y="393877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spaces with diagonal movement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514850"/>
            <a:ext cx="7863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60629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Distance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489889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 = max(|x₁ - x₂|, |y₁ - y₂|)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54880" y="489889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 with 8-directional movement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547497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Admissibility: h(n) must never overestimate the true cost to reach the goal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247" y="17145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Example: Pathfinding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72593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shortest path from S (start) to G (goal)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228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6860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686050"/>
            <a:ext cx="457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26860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26860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860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6860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6860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6860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1432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1432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1432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1432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1432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31432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1432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6004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36004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6004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6004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6004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36004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36004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40576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40576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40576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4057650"/>
            <a:ext cx="4572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0576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40576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4057650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057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716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451485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2411730"/>
            <a:ext cx="32004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25488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03520" y="2914650"/>
            <a:ext cx="2286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289636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Node (S)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03520" y="3234690"/>
            <a:ext cx="2286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321640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Node (G)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03520" y="3554730"/>
            <a:ext cx="228600" cy="2286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23560" y="353644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03520" y="387477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23560" y="385648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Cells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371600" y="506349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Manhattan distance heuristic, A* explores nodes with lowest f(n) = g(n) + h(n)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4965" y="10959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A* Pseudocode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188720" y="1138519"/>
            <a:ext cx="7040880" cy="56746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2366908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A_Star(start, goal):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openSet = {start}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closedSet = {}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g_score[start] = 0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f_score[start] = heuristic(start, goal)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openSet is not empty: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node in openSet with lowest f_score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current == goal: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reconstruct_path(current)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openSet.remove(current)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closedSet.add(current)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neighbor in neighbors(current):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neighbor in closedSet: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tentative_g = g_score[current] + dist(current, neighbor)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neighbor not in openSet: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openSet.add(neighbor)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tentative_g &gt;= g_score[neighbor]: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g_score[neighbor] = tentative_g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f_score[neighbor] = g_score[neighbor] + heuristic(neighbor, goal)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failure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5317" y="199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of A*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95453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1173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13741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Optimality Guarantee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254889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admissible heuristic, A* always finds the optimal solution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95453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1173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213741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23560" y="254889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fewer nodes than uninformed searches like Dijkstra's algorithm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60045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765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78333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34440" y="419481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different heuristics for various problem domains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360045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05765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378333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623560" y="419481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to find a solution if one exists (with finite branching)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882" y="12752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Considerations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54530"/>
            <a:ext cx="7863840" cy="731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9169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09169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239344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consume significant memory storing all discovered nodes in large graphs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23210"/>
            <a:ext cx="7863840" cy="731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6037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96037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Dependency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326212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heavily depends on quality of heuristic function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691890"/>
            <a:ext cx="7863840" cy="731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2905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2905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Environments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13080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ideal for dynamic environments where edge costs change during search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560570"/>
            <a:ext cx="7863840" cy="731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9773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69773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63040" y="499948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calculation can be expensive for complex problem spaces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5441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309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6309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is used across diverse fields requiring optimal pathfinding and planning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59461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259461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8605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Games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94208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navigation, enemy AI pathfinding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59461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59461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68605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94208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navigation, motion planning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37185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337185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46329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&amp; Navigation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371932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optimization in mapping applications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37185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337185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346329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Routing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371932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optimal data packet paths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14909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080" y="414909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2405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 Solving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449656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15-puzzle, Rubik's cube solving algorithms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414909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4880" y="414909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42405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37760" y="449656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scheduling and resource allocation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588" y="172347"/>
            <a:ext cx="857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A* vs Other Search Algorithms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954530"/>
          <a:ext cx="8229600" cy="3017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Dijkstra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O(|E| + |V|log|V|)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O(|V|)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No***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Best-First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O(b^m)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15493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With admissible heuristic</a:t>
            </a:r>
            <a:endParaRPr lang="en-US" sz="1000" dirty="0"/>
          </a:p>
          <a:p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 Only for unweighted graphs</a:t>
            </a:r>
            <a:endParaRPr lang="en-US" sz="1000" dirty="0"/>
          </a:p>
          <a:p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Only complete in finite spaces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412" y="190277"/>
            <a:ext cx="88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95453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5453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9169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Priority Queue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3001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open set with min-heap for O(log n) node selection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95453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95453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209169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Heuristic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243001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heuristic is admissible and as informed as possible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4325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14325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8041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Goal Check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1873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for goal when selecting node, not when generating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14325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314325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28041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Tie-Breaking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361873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small tie-breaker to prefer nodes closer to 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3197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33197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6913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Management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80745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IDA* or memory-bounded variants for large spaces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433197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433197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446913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Reconstruction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74920" y="480745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parent pointers to rebuild path efficiently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144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2228850"/>
            <a:ext cx="6400800" cy="2926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250317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A* combines actual path cost with heuristic estimates</a:t>
            </a:r>
            <a:endParaRPr lang="en-US" sz="1600" dirty="0"/>
          </a:p>
          <a:p>
            <a:pPr>
              <a:lnSpc>
                <a:spcPts val="3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Guarantees optimal solution with admissible heuristics</a:t>
            </a:r>
            <a:endParaRPr lang="en-US" sz="1600" dirty="0"/>
          </a:p>
          <a:p>
            <a:pPr>
              <a:lnSpc>
                <a:spcPts val="3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More efficient than uninformed search algorithms</a:t>
            </a:r>
            <a:endParaRPr lang="en-US" sz="1600" dirty="0"/>
          </a:p>
          <a:p>
            <a:pPr>
              <a:lnSpc>
                <a:spcPts val="3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Widely used in games, robotics, and navigation systems</a:t>
            </a:r>
            <a:endParaRPr lang="en-US" sz="1600" dirty="0"/>
          </a:p>
          <a:p>
            <a:pPr>
              <a:lnSpc>
                <a:spcPts val="3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Choice of heuristic critically impacts performance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31949</TotalTime>
  <Words>1050</Words>
  <Application>Microsoft Office PowerPoint</Application>
  <PresentationFormat>On-screen Show (4:3)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Consolas</vt:lpstr>
      <vt:lpstr>Helvetica</vt:lpstr>
      <vt:lpstr>Times New Roman</vt:lpstr>
      <vt:lpstr>Verdana</vt:lpstr>
      <vt:lpstr>Webdings</vt:lpstr>
      <vt:lpstr>Wingdings</vt:lpstr>
      <vt:lpstr>os-8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378</cp:revision>
  <cp:lastPrinted>2001-06-14T13:58:17Z</cp:lastPrinted>
  <dcterms:created xsi:type="dcterms:W3CDTF">2011-01-13T23:43:38Z</dcterms:created>
  <dcterms:modified xsi:type="dcterms:W3CDTF">2026-02-21T03:42:15Z</dcterms:modified>
</cp:coreProperties>
</file>