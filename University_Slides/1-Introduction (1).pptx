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86" r:id="rId4"/>
    <p:sldId id="28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78" r:id="rId30"/>
    <p:sldId id="279" r:id="rId31"/>
    <p:sldId id="282" r:id="rId32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4667"/>
  </p:normalViewPr>
  <p:slideViewPr>
    <p:cSldViewPr snapToGrid="0">
      <p:cViewPr varScale="1">
        <p:scale>
          <a:sx n="80" d="100"/>
          <a:sy n="80" d="100"/>
        </p:scale>
        <p:origin x="706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DDF7C7-3008-4DC4-9F8B-1490BCFC99E7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417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>
            <a:extLst>
              <a:ext uri="{FF2B5EF4-FFF2-40B4-BE49-F238E27FC236}">
                <a16:creationId xmlns:a16="http://schemas.microsoft.com/office/drawing/2014/main" id="{5C6426E9-6999-5448-90F1-0AD498E21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0" y="6457949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Welcome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is AI?</a:t>
            </a:r>
          </a:p>
          <a:p>
            <a:r>
              <a:rPr dirty="0"/>
              <a:t>Historical foundations</a:t>
            </a:r>
          </a:p>
          <a:p>
            <a:r>
              <a:rPr dirty="0"/>
              <a:t>The evolution of AI</a:t>
            </a:r>
          </a:p>
          <a:p>
            <a:r>
              <a:rPr dirty="0"/>
              <a:t>Current state of the art</a:t>
            </a:r>
          </a:p>
          <a:p>
            <a:r>
              <a:rPr dirty="0"/>
              <a:t>Risks and benefits</a:t>
            </a:r>
          </a:p>
          <a:p>
            <a:endParaRPr dirty="0"/>
          </a:p>
          <a:p>
            <a:r>
              <a:rPr dirty="0"/>
              <a:t>"We call ourselves Homo sapiens—man the wise—because our intelligence is so important to us."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Before we can build AI, we must answer:</a:t>
            </a:r>
            <a:endParaRPr lang="en-US" dirty="0"/>
          </a:p>
          <a:p>
            <a:pPr lvl="1"/>
            <a:r>
              <a:rPr lang="en-US" dirty="0"/>
              <a:t>What does "intelligence" mean?</a:t>
            </a:r>
          </a:p>
          <a:p>
            <a:pPr lvl="1"/>
            <a:r>
              <a:rPr lang="en-US" dirty="0"/>
              <a:t>What does "artificial" mean in this context?</a:t>
            </a:r>
          </a:p>
          <a:p>
            <a:pPr lvl="1"/>
            <a:r>
              <a:rPr lang="en-US" dirty="0"/>
              <a:t>How do we know if we've achieved it?</a:t>
            </a:r>
          </a:p>
          <a:p>
            <a:pPr lvl="1"/>
            <a:r>
              <a:rPr lang="en-US" dirty="0"/>
              <a:t>What are we actually trying to create?</a:t>
            </a:r>
          </a:p>
          <a:p>
            <a:endParaRPr lang="en-US" b="1" dirty="0"/>
          </a:p>
          <a:p>
            <a:r>
              <a:rPr lang="en-US" b="1" dirty="0"/>
              <a:t>This is not just philosophical—it guides:</a:t>
            </a:r>
            <a:endParaRPr lang="en-US" dirty="0"/>
          </a:p>
          <a:p>
            <a:pPr lvl="1"/>
            <a:r>
              <a:rPr lang="en-US" dirty="0"/>
              <a:t>Research directions</a:t>
            </a:r>
          </a:p>
          <a:p>
            <a:pPr lvl="1"/>
            <a:r>
              <a:rPr lang="en-US" dirty="0"/>
              <a:t>Algorithm design</a:t>
            </a:r>
          </a:p>
          <a:p>
            <a:pPr lvl="1"/>
            <a:r>
              <a:rPr lang="en-US" dirty="0"/>
              <a:t>Evaluation criteria</a:t>
            </a:r>
          </a:p>
          <a:p>
            <a:pPr lvl="1"/>
            <a:r>
              <a:rPr lang="en-US" dirty="0"/>
              <a:t>Success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of Defining 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Intelligence is multifaceted:</a:t>
            </a:r>
            <a:endParaRPr lang="en-US" dirty="0"/>
          </a:p>
          <a:p>
            <a:pPr lvl="1"/>
            <a:r>
              <a:rPr lang="en-US" dirty="0"/>
              <a:t>Reasoning and logic</a:t>
            </a:r>
          </a:p>
          <a:p>
            <a:pPr lvl="1"/>
            <a:r>
              <a:rPr lang="en-US" dirty="0"/>
              <a:t>Learning from experience</a:t>
            </a:r>
          </a:p>
          <a:p>
            <a:pPr lvl="1"/>
            <a:r>
              <a:rPr lang="en-US" dirty="0"/>
              <a:t>Understanding language</a:t>
            </a:r>
          </a:p>
          <a:p>
            <a:pPr lvl="1"/>
            <a:r>
              <a:rPr lang="en-US" dirty="0"/>
              <a:t>Perceiving the environment</a:t>
            </a:r>
          </a:p>
          <a:p>
            <a:pPr lvl="1"/>
            <a:r>
              <a:rPr lang="en-US" dirty="0"/>
              <a:t>Solving problems</a:t>
            </a:r>
          </a:p>
          <a:p>
            <a:pPr lvl="1"/>
            <a:r>
              <a:rPr lang="en-US" dirty="0"/>
              <a:t>Making decisions</a:t>
            </a:r>
          </a:p>
          <a:p>
            <a:pPr lvl="1"/>
            <a:r>
              <a:rPr lang="en-US" dirty="0"/>
              <a:t>Creating and adapting</a:t>
            </a:r>
          </a:p>
          <a:p>
            <a:endParaRPr lang="en-US" b="1" dirty="0"/>
          </a:p>
          <a:p>
            <a:r>
              <a:rPr lang="en-US" b="1" dirty="0"/>
              <a:t>Different stakeholders care about different aspects:</a:t>
            </a:r>
            <a:endParaRPr lang="en-US" dirty="0"/>
          </a:p>
          <a:p>
            <a:pPr lvl="1"/>
            <a:r>
              <a:rPr lang="en-US" dirty="0"/>
              <a:t>Cognitive scientists → Understanding human thought</a:t>
            </a:r>
          </a:p>
          <a:p>
            <a:pPr lvl="1"/>
            <a:r>
              <a:rPr lang="en-US" dirty="0"/>
              <a:t>Engineers → Building useful systems</a:t>
            </a:r>
          </a:p>
          <a:p>
            <a:pPr lvl="1"/>
            <a:r>
              <a:rPr lang="en-US" dirty="0"/>
              <a:t>Philosophers → Nature of mind and consciousness</a:t>
            </a:r>
          </a:p>
          <a:p>
            <a:pPr lvl="1"/>
            <a:r>
              <a:rPr lang="en-US" dirty="0"/>
              <a:t>Business → Practical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3366708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Four Approaches to 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Two Key Dimensions</a:t>
            </a:r>
          </a:p>
          <a:p>
            <a:r>
              <a:rPr lang="en-US" b="1" dirty="0"/>
              <a:t>Dimension 1: The Standard</a:t>
            </a:r>
            <a:endParaRPr lang="en-US" dirty="0"/>
          </a:p>
          <a:p>
            <a:pPr lvl="1"/>
            <a:r>
              <a:rPr lang="en-US" b="1" dirty="0"/>
              <a:t>Human-like:</a:t>
            </a:r>
            <a:r>
              <a:rPr lang="en-US" dirty="0"/>
              <a:t> Measure against human performance</a:t>
            </a:r>
          </a:p>
          <a:p>
            <a:pPr lvl="1"/>
            <a:r>
              <a:rPr lang="en-US" b="1" dirty="0"/>
              <a:t>Rational:</a:t>
            </a:r>
            <a:r>
              <a:rPr lang="en-US" dirty="0"/>
              <a:t> Measure against ideal "correct" behavior</a:t>
            </a:r>
          </a:p>
          <a:p>
            <a:r>
              <a:rPr lang="en-US" b="1" dirty="0"/>
              <a:t>Dimension 2: The Focus</a:t>
            </a:r>
            <a:endParaRPr lang="en-US" dirty="0"/>
          </a:p>
          <a:p>
            <a:pPr lvl="1"/>
            <a:r>
              <a:rPr lang="en-US" b="1" dirty="0"/>
              <a:t>Thinking:</a:t>
            </a:r>
            <a:r>
              <a:rPr lang="en-US" dirty="0"/>
              <a:t> Internal reasoning processes</a:t>
            </a:r>
          </a:p>
          <a:p>
            <a:pPr lvl="1"/>
            <a:r>
              <a:rPr lang="en-US" b="1" dirty="0"/>
              <a:t>Acting:</a:t>
            </a:r>
            <a:r>
              <a:rPr lang="en-US" dirty="0"/>
              <a:t> External behavior/actions</a:t>
            </a:r>
          </a:p>
          <a:p>
            <a:r>
              <a:rPr lang="en-US" b="1" dirty="0"/>
              <a:t>Combining these gives us 4 distinct approaches: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598EE-3DF9-452E-960C-5E29D902E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001" y="4265206"/>
            <a:ext cx="5204649" cy="244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2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578850" cy="576262"/>
          </a:xfrm>
        </p:spPr>
        <p:txBody>
          <a:bodyPr/>
          <a:lstStyle/>
          <a:p>
            <a:r>
              <a:rPr lang="en-US" sz="2800" dirty="0"/>
              <a:t>Approach 1: Acting Humanly - The Turing Test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Turing Test (1950)</a:t>
            </a:r>
          </a:p>
          <a:p>
            <a:r>
              <a:rPr lang="en-US" dirty="0"/>
              <a:t>Alan Turing's Question:</a:t>
            </a:r>
          </a:p>
          <a:p>
            <a:pPr lvl="1"/>
            <a:r>
              <a:rPr lang="en-US" dirty="0"/>
              <a:t>"Can machines think?"</a:t>
            </a:r>
          </a:p>
          <a:p>
            <a:endParaRPr lang="en-US" dirty="0"/>
          </a:p>
          <a:p>
            <a:r>
              <a:rPr lang="en-US" dirty="0"/>
              <a:t>His Answer:</a:t>
            </a:r>
          </a:p>
          <a:p>
            <a:pPr lvl="1"/>
            <a:r>
              <a:rPr lang="en-US" dirty="0"/>
              <a:t>Let's not argue about definitions—let's create an operational test!</a:t>
            </a:r>
          </a:p>
          <a:p>
            <a:endParaRPr lang="en-US" dirty="0"/>
          </a:p>
          <a:p>
            <a:r>
              <a:rPr lang="en-US" dirty="0"/>
              <a:t>The Test:</a:t>
            </a:r>
          </a:p>
          <a:p>
            <a:pPr marL="0" indent="0">
              <a:buNone/>
            </a:pPr>
            <a:r>
              <a:rPr lang="en-US" dirty="0"/>
              <a:t>Human Interrogator</a:t>
            </a:r>
          </a:p>
          <a:p>
            <a:pPr marL="0" indent="0">
              <a:buNone/>
            </a:pPr>
            <a:r>
              <a:rPr lang="en-US" dirty="0"/>
              <a:t>        ↓ (asks questions)</a:t>
            </a:r>
          </a:p>
          <a:p>
            <a:pPr marL="0" indent="0">
              <a:buNone/>
            </a:pPr>
            <a:r>
              <a:rPr lang="en-US" dirty="0"/>
              <a:t>    [Computer]  or  [Human]?</a:t>
            </a:r>
          </a:p>
          <a:p>
            <a:pPr marL="0" indent="0">
              <a:buNone/>
            </a:pPr>
            <a:r>
              <a:rPr lang="en-US" dirty="0"/>
              <a:t>        ↓ (written responses)</a:t>
            </a:r>
          </a:p>
          <a:p>
            <a:pPr marL="0" indent="0">
              <a:buNone/>
            </a:pPr>
            <a:r>
              <a:rPr lang="en-US" dirty="0"/>
              <a:t>Can interrogator tell which is which?</a:t>
            </a:r>
          </a:p>
          <a:p>
            <a:pPr marL="0" indent="0">
              <a:buNone/>
            </a:pPr>
            <a:endParaRPr lang="en-US" dirty="0"/>
          </a:p>
          <a:p>
            <a:r>
              <a:rPr lang="en-CA" dirty="0"/>
              <a:t>If computer fools interrogator → "intelligent"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3AECE1-E951-48A8-842C-F8B7B3CE22CC}"/>
              </a:ext>
            </a:extLst>
          </p:cNvPr>
          <p:cNvGrpSpPr/>
          <p:nvPr/>
        </p:nvGrpSpPr>
        <p:grpSpPr>
          <a:xfrm>
            <a:off x="4921250" y="3498850"/>
            <a:ext cx="4189952" cy="2125662"/>
            <a:chOff x="4921250" y="3498850"/>
            <a:chExt cx="4189952" cy="21256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26386DA-DD9D-4F4A-884C-371254CB9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1250" y="3498850"/>
              <a:ext cx="4189952" cy="196656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2EDC7B2-73DF-4FA2-8390-3F690372853F}"/>
                </a:ext>
              </a:extLst>
            </p:cNvPr>
            <p:cNvSpPr/>
            <p:nvPr/>
          </p:nvSpPr>
          <p:spPr bwMode="auto">
            <a:xfrm>
              <a:off x="5753100" y="4695825"/>
              <a:ext cx="1219200" cy="928687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Test - What It Requires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/>
              <a:t>1. Natural Language Processing (NLP)</a:t>
            </a:r>
            <a:endParaRPr lang="en-US" sz="1600" dirty="0"/>
          </a:p>
          <a:p>
            <a:pPr lvl="1"/>
            <a:r>
              <a:rPr lang="en-US" sz="1600" dirty="0"/>
              <a:t>Understand questions in English/other languages</a:t>
            </a:r>
          </a:p>
          <a:p>
            <a:pPr lvl="1"/>
            <a:r>
              <a:rPr lang="en-US" sz="1600" dirty="0"/>
              <a:t>Generate coherent, contextual responses</a:t>
            </a:r>
          </a:p>
          <a:p>
            <a:pPr lvl="1"/>
            <a:r>
              <a:rPr lang="en-US" sz="1600" dirty="0"/>
              <a:t>Handle ambiguity, idioms, context</a:t>
            </a:r>
          </a:p>
          <a:p>
            <a:r>
              <a:rPr lang="en-US" sz="1600" b="1" dirty="0"/>
              <a:t>2. Knowledge Representation</a:t>
            </a:r>
            <a:endParaRPr lang="en-US" sz="1600" dirty="0"/>
          </a:p>
          <a:p>
            <a:pPr lvl="1"/>
            <a:r>
              <a:rPr lang="en-US" sz="1600" dirty="0"/>
              <a:t>Store facts about the world</a:t>
            </a:r>
          </a:p>
          <a:p>
            <a:pPr lvl="1"/>
            <a:r>
              <a:rPr lang="en-US" sz="1600" dirty="0"/>
              <a:t>Organize information usefully</a:t>
            </a:r>
          </a:p>
          <a:p>
            <a:pPr lvl="1"/>
            <a:r>
              <a:rPr lang="en-US" sz="1600" dirty="0"/>
              <a:t>Retrieve relevant knowledge</a:t>
            </a:r>
          </a:p>
          <a:p>
            <a:r>
              <a:rPr lang="en-US" sz="1600" b="1" dirty="0"/>
              <a:t>3. Automated Reasoning</a:t>
            </a:r>
            <a:endParaRPr lang="en-US" sz="1600" dirty="0"/>
          </a:p>
          <a:p>
            <a:pPr lvl="1"/>
            <a:r>
              <a:rPr lang="en-US" sz="1600" dirty="0"/>
              <a:t>Draw logical conclusions</a:t>
            </a:r>
          </a:p>
          <a:p>
            <a:pPr lvl="1"/>
            <a:r>
              <a:rPr lang="en-US" sz="1600" dirty="0"/>
              <a:t>Answer questions from stored knowledge</a:t>
            </a:r>
          </a:p>
          <a:p>
            <a:pPr lvl="1"/>
            <a:r>
              <a:rPr lang="en-US" sz="1600" dirty="0"/>
              <a:t>Make inferences</a:t>
            </a:r>
          </a:p>
          <a:p>
            <a:r>
              <a:rPr lang="en-US" sz="1600" b="1" dirty="0"/>
              <a:t>4. Machine Learning</a:t>
            </a:r>
            <a:endParaRPr lang="en-US" sz="1600" dirty="0"/>
          </a:p>
          <a:p>
            <a:pPr lvl="1"/>
            <a:r>
              <a:rPr lang="en-US" sz="1600" dirty="0"/>
              <a:t>Adapt to new patterns</a:t>
            </a:r>
          </a:p>
          <a:p>
            <a:pPr lvl="1"/>
            <a:r>
              <a:rPr lang="en-US" sz="1600" dirty="0"/>
              <a:t>Improve from experience</a:t>
            </a:r>
          </a:p>
          <a:p>
            <a:pPr lvl="1"/>
            <a:r>
              <a:rPr lang="en-US" sz="1600" dirty="0"/>
              <a:t>Detect trends in conversation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Turing Test - Extended Version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Addition:</a:t>
            </a:r>
            <a:r>
              <a:rPr lang="en-US" dirty="0"/>
              <a:t> Physical interaction with the world</a:t>
            </a:r>
          </a:p>
          <a:p>
            <a:r>
              <a:rPr lang="en-US" b="1" dirty="0"/>
              <a:t>Extra Requirements:</a:t>
            </a:r>
            <a:endParaRPr lang="en-US" dirty="0"/>
          </a:p>
          <a:p>
            <a:pPr lvl="1"/>
            <a:r>
              <a:rPr lang="en-US" b="1" dirty="0"/>
              <a:t>Computer Vision:</a:t>
            </a:r>
            <a:r>
              <a:rPr lang="en-US" dirty="0"/>
              <a:t> See and interpret images</a:t>
            </a:r>
          </a:p>
          <a:p>
            <a:pPr lvl="1"/>
            <a:r>
              <a:rPr lang="en-US" b="1" dirty="0"/>
              <a:t>Robotics:</a:t>
            </a:r>
            <a:r>
              <a:rPr lang="en-US" dirty="0"/>
              <a:t> Manipulate objects, move around</a:t>
            </a:r>
          </a:p>
          <a:p>
            <a:pPr lvl="1"/>
            <a:r>
              <a:rPr lang="en-US" b="1" dirty="0"/>
              <a:t>Speech Recognition:</a:t>
            </a:r>
            <a:r>
              <a:rPr lang="en-US" dirty="0"/>
              <a:t> Understand spoken language</a:t>
            </a:r>
          </a:p>
          <a:p>
            <a:r>
              <a:rPr lang="en-US" b="1" dirty="0"/>
              <a:t>Example Scenario: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Interrogator: "Can you pass me the red ball?"</a:t>
            </a:r>
          </a:p>
          <a:p>
            <a:pPr marL="0" indent="0">
              <a:buNone/>
            </a:pPr>
            <a:r>
              <a:rPr lang="en-US" dirty="0"/>
              <a:t>AI must: </a:t>
            </a:r>
          </a:p>
          <a:p>
            <a:pPr marL="0" indent="0">
              <a:buNone/>
            </a:pPr>
            <a:r>
              <a:rPr lang="en-US" dirty="0"/>
              <a:t>  - Understand speech</a:t>
            </a:r>
          </a:p>
          <a:p>
            <a:pPr marL="0" indent="0">
              <a:buNone/>
            </a:pPr>
            <a:r>
              <a:rPr lang="en-US" dirty="0"/>
              <a:t>  - Identify "red ball" through vision</a:t>
            </a:r>
          </a:p>
          <a:p>
            <a:pPr marL="0" indent="0">
              <a:buNone/>
            </a:pPr>
            <a:r>
              <a:rPr lang="en-US" dirty="0"/>
              <a:t>  - Use robotic arm to grasp and pass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Test - Why It's Not The Goal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52500"/>
            <a:ext cx="8229600" cy="4811713"/>
          </a:xfrm>
        </p:spPr>
        <p:txBody>
          <a:bodyPr/>
          <a:lstStyle/>
          <a:p>
            <a:r>
              <a:rPr lang="en-US" b="1" dirty="0"/>
              <a:t>Interesting but Not Definitive</a:t>
            </a:r>
          </a:p>
          <a:p>
            <a:r>
              <a:rPr lang="en-US" b="1" dirty="0"/>
              <a:t>Why researchers moved on: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Not all intelligence is human-like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Calculators aren't "intelligent" but outperform humans at math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Chess computers play brilliantly but differently than humans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Deception isn't intelligence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Chatbots can fool people without understanding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Passing the test ≠ true intelligence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Wrong focus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Like defining "artificial flight" as "fooling birds"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Better to understand principles of flight/intelligence</a:t>
            </a:r>
          </a:p>
          <a:p>
            <a:r>
              <a:rPr lang="en-US" b="1" dirty="0"/>
              <a:t>Analogy:</a:t>
            </a:r>
            <a:endParaRPr lang="en-US" dirty="0"/>
          </a:p>
          <a:p>
            <a:pPr lvl="1"/>
            <a:r>
              <a:rPr lang="en-US" dirty="0"/>
              <a:t>Aeronautical engineering doesn't try to make machines that fly "exactly like pigeons"</a:t>
            </a:r>
          </a:p>
          <a:p>
            <a:pPr lvl="1"/>
            <a:r>
              <a:rPr lang="en-US" dirty="0"/>
              <a:t>AI shouldn't just mimic humans—should understand intelligence principles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Approach 2: Thinking Humanly - Cognitive Modeling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Understanding the Human Mind</a:t>
            </a:r>
          </a:p>
          <a:p>
            <a:r>
              <a:rPr lang="en-US" b="1" dirty="0"/>
              <a:t>Goal:</a:t>
            </a:r>
            <a:r>
              <a:rPr lang="en-US" dirty="0"/>
              <a:t> Build programs that think like humans actually think</a:t>
            </a:r>
          </a:p>
          <a:p>
            <a:r>
              <a:rPr lang="en-US" b="1" dirty="0"/>
              <a:t>The Process: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Study how humans think (through psychology/neuroscience)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Build computational models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Compare model behavior to human behavior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Refine model</a:t>
            </a:r>
          </a:p>
          <a:p>
            <a:r>
              <a:rPr lang="en-US" b="1" dirty="0"/>
              <a:t>Key Insight:</a:t>
            </a:r>
          </a:p>
          <a:p>
            <a:pPr lvl="1"/>
            <a:r>
              <a:rPr lang="en-US" dirty="0"/>
              <a:t>If a program’s </a:t>
            </a:r>
            <a:r>
              <a:rPr lang="en-US" b="1" dirty="0"/>
              <a:t>reasoning steps match human reasoning</a:t>
            </a:r>
            <a:r>
              <a:rPr lang="en-US" dirty="0"/>
              <a:t>, then the program may be using </a:t>
            </a:r>
            <a:r>
              <a:rPr lang="en-US" b="1" dirty="0"/>
              <a:t>similar underlying mechanisms</a:t>
            </a:r>
            <a:r>
              <a:rPr lang="en-US" dirty="0"/>
              <a:t> to the human mind.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943C57-21BC-4EFC-9980-D100E1D537A4}"/>
              </a:ext>
            </a:extLst>
          </p:cNvPr>
          <p:cNvGrpSpPr/>
          <p:nvPr/>
        </p:nvGrpSpPr>
        <p:grpSpPr>
          <a:xfrm>
            <a:off x="4572000" y="4780931"/>
            <a:ext cx="4189952" cy="1966563"/>
            <a:chOff x="4921250" y="3498850"/>
            <a:chExt cx="4189952" cy="196656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92204C-93C6-457F-89EA-CE98820B3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1250" y="3498850"/>
              <a:ext cx="4189952" cy="196656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34D2C3-6A14-4166-B336-1143C369F8D4}"/>
                </a:ext>
              </a:extLst>
            </p:cNvPr>
            <p:cNvSpPr/>
            <p:nvPr/>
          </p:nvSpPr>
          <p:spPr bwMode="auto">
            <a:xfrm>
              <a:off x="5753099" y="3881787"/>
              <a:ext cx="1641475" cy="82832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Cognitive Modeling - Example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/>
              <a:t>GPS: General Problem Solver (1961)</a:t>
            </a:r>
          </a:p>
          <a:p>
            <a:r>
              <a:rPr lang="en-US" sz="1600" b="1" dirty="0"/>
              <a:t>Newell &amp; Simon's Approach:</a:t>
            </a:r>
          </a:p>
          <a:p>
            <a:pPr lvl="1"/>
            <a:r>
              <a:rPr lang="en-US" sz="1400" dirty="0"/>
              <a:t>Human solving puzzle:</a:t>
            </a:r>
          </a:p>
          <a:p>
            <a:pPr marL="457200" lvl="1" indent="0">
              <a:buNone/>
            </a:pPr>
            <a:r>
              <a:rPr lang="en-US" sz="1400" dirty="0"/>
              <a:t>  1. Notices difference from goal</a:t>
            </a:r>
          </a:p>
          <a:p>
            <a:pPr marL="457200" lvl="1" indent="0">
              <a:buNone/>
            </a:pPr>
            <a:r>
              <a:rPr lang="en-US" sz="1400" dirty="0"/>
              <a:t>  2. Finds operator to reduce difference</a:t>
            </a:r>
          </a:p>
          <a:p>
            <a:pPr marL="457200" lvl="1" indent="0">
              <a:buNone/>
            </a:pPr>
            <a:r>
              <a:rPr lang="en-US" sz="1400" dirty="0"/>
              <a:t>  3. Applies operator</a:t>
            </a:r>
          </a:p>
          <a:p>
            <a:pPr marL="457200" lvl="1" indent="0">
              <a:buNone/>
            </a:pPr>
            <a:r>
              <a:rPr lang="en-US" sz="1400" dirty="0"/>
              <a:t>  4. Repeats</a:t>
            </a: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GPS algorithm:</a:t>
            </a:r>
          </a:p>
          <a:p>
            <a:pPr marL="457200" lvl="1" indent="0">
              <a:buNone/>
            </a:pPr>
            <a:r>
              <a:rPr lang="en-US" sz="1400" dirty="0"/>
              <a:t>  1. Identify difference from goal</a:t>
            </a:r>
          </a:p>
          <a:p>
            <a:pPr marL="457200" lvl="1" indent="0">
              <a:buNone/>
            </a:pPr>
            <a:r>
              <a:rPr lang="en-US" sz="1400" dirty="0"/>
              <a:t>  2. Select operator to reduce difference</a:t>
            </a:r>
          </a:p>
          <a:p>
            <a:pPr marL="457200" lvl="1" indent="0">
              <a:buNone/>
            </a:pPr>
            <a:r>
              <a:rPr lang="en-US" sz="1400" dirty="0"/>
              <a:t>  3. Apply operator</a:t>
            </a:r>
          </a:p>
          <a:p>
            <a:pPr marL="457200" lvl="1" indent="0">
              <a:buNone/>
            </a:pPr>
            <a:r>
              <a:rPr lang="en-US" sz="1400" dirty="0"/>
              <a:t>  4. Repeat</a:t>
            </a:r>
          </a:p>
          <a:p>
            <a:endParaRPr lang="en-US" sz="1600" b="1" dirty="0"/>
          </a:p>
          <a:p>
            <a:r>
              <a:rPr lang="en-US" sz="1600" b="1" dirty="0"/>
              <a:t>Validation:</a:t>
            </a:r>
            <a:endParaRPr lang="en-US" sz="1600" dirty="0"/>
          </a:p>
          <a:p>
            <a:pPr lvl="1"/>
            <a:r>
              <a:rPr lang="en-US" sz="1600" dirty="0"/>
              <a:t>Time each step</a:t>
            </a:r>
          </a:p>
          <a:p>
            <a:pPr lvl="1"/>
            <a:r>
              <a:rPr lang="en-US" sz="1600" dirty="0"/>
              <a:t>Record which subgoals considered</a:t>
            </a:r>
          </a:p>
          <a:p>
            <a:pPr lvl="1"/>
            <a:r>
              <a:rPr lang="en-US" sz="1600" dirty="0"/>
              <a:t>Compare to human protocol</a:t>
            </a:r>
          </a:p>
          <a:p>
            <a:pPr marL="457200" lvl="1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Cognitive Modeling - Modern Example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100637"/>
          </a:xfrm>
        </p:spPr>
        <p:txBody>
          <a:bodyPr/>
          <a:lstStyle/>
          <a:p>
            <a:r>
              <a:rPr lang="en-US" b="1" dirty="0"/>
              <a:t>Deep Learning and the Brain</a:t>
            </a:r>
          </a:p>
          <a:p>
            <a:r>
              <a:rPr lang="en-US" b="1" dirty="0"/>
              <a:t>Neural Networks:</a:t>
            </a:r>
            <a:endParaRPr lang="en-US" dirty="0"/>
          </a:p>
          <a:p>
            <a:pPr lvl="1"/>
            <a:r>
              <a:rPr lang="en-US" dirty="0"/>
              <a:t>Inspired by brain structure</a:t>
            </a:r>
          </a:p>
          <a:p>
            <a:pPr lvl="1"/>
            <a:r>
              <a:rPr lang="en-US" dirty="0"/>
              <a:t>Artificial "neurons" connected in layers</a:t>
            </a:r>
          </a:p>
          <a:p>
            <a:pPr lvl="1"/>
            <a:r>
              <a:rPr lang="en-US" dirty="0"/>
              <a:t>Learn by adjusting connection strengths</a:t>
            </a:r>
          </a:p>
          <a:p>
            <a:r>
              <a:rPr lang="en-US" b="1" dirty="0"/>
              <a:t>Not exactly like the brain, but:</a:t>
            </a:r>
            <a:endParaRPr lang="en-US" dirty="0"/>
          </a:p>
          <a:p>
            <a:pPr lvl="1"/>
            <a:r>
              <a:rPr lang="en-US" dirty="0"/>
              <a:t>Visual processing networks mirror visual cortex organization</a:t>
            </a:r>
          </a:p>
          <a:p>
            <a:pPr lvl="1"/>
            <a:r>
              <a:rPr lang="en-US" dirty="0"/>
              <a:t>Learning rules inspired by synaptic plasticity</a:t>
            </a:r>
          </a:p>
          <a:p>
            <a:pPr lvl="1"/>
            <a:r>
              <a:rPr lang="en-US" dirty="0"/>
              <a:t>Useful for both AI and neuroscience</a:t>
            </a:r>
          </a:p>
          <a:p>
            <a:r>
              <a:rPr lang="en-US" b="1" dirty="0"/>
              <a:t>Bidirectional benefit:</a:t>
            </a:r>
            <a:endParaRPr lang="en-US" dirty="0"/>
          </a:p>
          <a:p>
            <a:pPr lvl="1"/>
            <a:r>
              <a:rPr lang="en-US" dirty="0"/>
              <a:t>AI → Models to test theories of cognition</a:t>
            </a:r>
          </a:p>
          <a:p>
            <a:pPr lvl="1"/>
            <a:r>
              <a:rPr lang="en-US" dirty="0"/>
              <a:t>Neuroscience → Inspiration for AI architectures</a:t>
            </a:r>
          </a:p>
        </p:txBody>
      </p:sp>
      <p:pic>
        <p:nvPicPr>
          <p:cNvPr id="7176" name="Picture 8" descr="Machine Learning Is Not Like Your Brain Part One: Neurons Are Slow, Slow,  Slow - KDnuggets">
            <a:extLst>
              <a:ext uri="{FF2B5EF4-FFF2-40B4-BE49-F238E27FC236}">
                <a16:creationId xmlns:a16="http://schemas.microsoft.com/office/drawing/2014/main" id="{460BC309-A93B-4AEA-800B-6EBC8624E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830" y="930275"/>
            <a:ext cx="4706170" cy="14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Cognitive Science - The Field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62026"/>
            <a:ext cx="8229600" cy="4802188"/>
          </a:xfrm>
        </p:spPr>
        <p:txBody>
          <a:bodyPr/>
          <a:lstStyle/>
          <a:p>
            <a:r>
              <a:rPr lang="en-CA" dirty="0"/>
              <a:t>Interdisciplinary Study of Mind</a:t>
            </a:r>
          </a:p>
          <a:p>
            <a:r>
              <a:rPr lang="en-CA" b="1" dirty="0"/>
              <a:t>Cognitive Science combines:</a:t>
            </a:r>
          </a:p>
          <a:p>
            <a:pPr lvl="1"/>
            <a:r>
              <a:rPr lang="en-CA" dirty="0"/>
              <a:t>Psychology (experimental methods)</a:t>
            </a:r>
          </a:p>
          <a:p>
            <a:pPr lvl="1"/>
            <a:r>
              <a:rPr lang="en-CA" dirty="0"/>
              <a:t>Computer Science (computational models)</a:t>
            </a:r>
          </a:p>
          <a:p>
            <a:pPr lvl="1"/>
            <a:r>
              <a:rPr lang="en-CA" dirty="0"/>
              <a:t>Neuroscience (brain mechanisms)</a:t>
            </a:r>
          </a:p>
          <a:p>
            <a:pPr lvl="1"/>
            <a:r>
              <a:rPr lang="en-CA" dirty="0"/>
              <a:t>Linguistics (language processing)</a:t>
            </a:r>
          </a:p>
          <a:p>
            <a:pPr lvl="1"/>
            <a:r>
              <a:rPr lang="en-CA" dirty="0"/>
              <a:t>Philosophy (fundamental questions)</a:t>
            </a:r>
          </a:p>
          <a:p>
            <a:pPr lvl="1"/>
            <a:r>
              <a:rPr lang="en-CA" dirty="0"/>
              <a:t>Anthropology (cultural cognition)</a:t>
            </a:r>
          </a:p>
          <a:p>
            <a:endParaRPr lang="en-CA" dirty="0"/>
          </a:p>
          <a:p>
            <a:r>
              <a:rPr lang="en-CA" b="1" dirty="0"/>
              <a:t>Central Tenet:</a:t>
            </a:r>
          </a:p>
          <a:p>
            <a:pPr lvl="1"/>
            <a:r>
              <a:rPr lang="en-CA" dirty="0"/>
              <a:t>"A cognitive theory should be like a computer program"</a:t>
            </a:r>
          </a:p>
          <a:p>
            <a:endParaRPr lang="en-CA" dirty="0"/>
          </a:p>
          <a:p>
            <a:r>
              <a:rPr lang="en-CA" b="1" dirty="0"/>
              <a:t>Distinction from AI:</a:t>
            </a:r>
          </a:p>
          <a:p>
            <a:pPr lvl="1"/>
            <a:r>
              <a:rPr lang="en-CA" dirty="0"/>
              <a:t>Cognitive science: Understand human/animal cognition</a:t>
            </a:r>
          </a:p>
          <a:p>
            <a:pPr lvl="1"/>
            <a:r>
              <a:rPr lang="en-CA" dirty="0"/>
              <a:t>AI: Build intelligent systems (may or may not be human-like)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Approach 3: Thinking Rationally - Laws of Thought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Logical Tradition</a:t>
            </a:r>
          </a:p>
          <a:p>
            <a:r>
              <a:rPr lang="en-US" b="1" dirty="0"/>
              <a:t>Ancient Goal:</a:t>
            </a:r>
            <a:r>
              <a:rPr lang="en-US" dirty="0"/>
              <a:t> Codify "right thinking"</a:t>
            </a:r>
          </a:p>
          <a:p>
            <a:r>
              <a:rPr lang="en-US" b="1" dirty="0"/>
              <a:t>Aristotle's Syllogisms (circa 350 BCE):</a:t>
            </a:r>
          </a:p>
          <a:p>
            <a:pPr lvl="1"/>
            <a:r>
              <a:rPr lang="en-US" dirty="0"/>
              <a:t>Major premise:  All men are mortal</a:t>
            </a:r>
          </a:p>
          <a:p>
            <a:pPr lvl="1"/>
            <a:r>
              <a:rPr lang="en-US" dirty="0"/>
              <a:t>Minor premise:  Socrates is a man</a:t>
            </a:r>
          </a:p>
          <a:p>
            <a:pPr lvl="1"/>
            <a:r>
              <a:rPr lang="en-US" dirty="0"/>
              <a:t>Conclusion:     Therefore, Socrates is mortal</a:t>
            </a:r>
          </a:p>
          <a:p>
            <a:r>
              <a:rPr lang="en-US" b="1" dirty="0"/>
              <a:t>If premises are true and reasoning valid → conclusion must be true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3CD0DD-255D-4E04-948D-4354DC480B80}"/>
              </a:ext>
            </a:extLst>
          </p:cNvPr>
          <p:cNvGrpSpPr/>
          <p:nvPr/>
        </p:nvGrpSpPr>
        <p:grpSpPr>
          <a:xfrm>
            <a:off x="3848100" y="4133850"/>
            <a:ext cx="4949824" cy="2473943"/>
            <a:chOff x="4921250" y="3498850"/>
            <a:chExt cx="4225924" cy="19665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EE7DCFB-E168-4B40-9F03-D24163841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1250" y="3498850"/>
              <a:ext cx="4189952" cy="196656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ED28DD-7258-4CC4-8585-2E66D5D5D8EB}"/>
                </a:ext>
              </a:extLst>
            </p:cNvPr>
            <p:cNvSpPr/>
            <p:nvPr/>
          </p:nvSpPr>
          <p:spPr bwMode="auto">
            <a:xfrm>
              <a:off x="7505699" y="3881787"/>
              <a:ext cx="1641475" cy="82832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Thought - The </a:t>
            </a:r>
            <a:r>
              <a:rPr lang="en-US" dirty="0" err="1"/>
              <a:t>Logicist</a:t>
            </a:r>
            <a:r>
              <a:rPr lang="en-US" dirty="0"/>
              <a:t> Program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942976"/>
            <a:ext cx="8229600" cy="4821238"/>
          </a:xfrm>
        </p:spPr>
        <p:txBody>
          <a:bodyPr/>
          <a:lstStyle/>
          <a:p>
            <a:r>
              <a:rPr lang="en-US" b="1" dirty="0"/>
              <a:t>Using Logic for AI</a:t>
            </a:r>
          </a:p>
          <a:p>
            <a:r>
              <a:rPr lang="en-US" b="1" dirty="0"/>
              <a:t>19th Century Development:</a:t>
            </a:r>
            <a:endParaRPr lang="en-US" dirty="0"/>
          </a:p>
          <a:p>
            <a:pPr lvl="1"/>
            <a:r>
              <a:rPr lang="en-US" dirty="0"/>
              <a:t>George Boole: Boolean algebra (1847)</a:t>
            </a:r>
          </a:p>
          <a:p>
            <a:pPr lvl="1"/>
            <a:r>
              <a:rPr lang="en-US" dirty="0" err="1"/>
              <a:t>Gottlob</a:t>
            </a:r>
            <a:r>
              <a:rPr lang="en-US" dirty="0"/>
              <a:t> Frege: First-order logic (1879)</a:t>
            </a:r>
          </a:p>
          <a:p>
            <a:pPr lvl="1"/>
            <a:r>
              <a:rPr lang="en-US" dirty="0"/>
              <a:t>Precise notation for statements about the world</a:t>
            </a:r>
          </a:p>
          <a:p>
            <a:r>
              <a:rPr lang="en-US" b="1" dirty="0"/>
              <a:t>The </a:t>
            </a:r>
            <a:r>
              <a:rPr lang="en-US" b="1" dirty="0" err="1"/>
              <a:t>Logicist</a:t>
            </a:r>
            <a:r>
              <a:rPr lang="en-US" b="1" dirty="0"/>
              <a:t> Vision (1960s):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Represent knowledge in logical notation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Use inference rules to derive conclusions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Solve problems through logical deduction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Knowledge base:</a:t>
            </a:r>
          </a:p>
          <a:p>
            <a:pPr lvl="2"/>
            <a:r>
              <a:rPr lang="en-US" dirty="0"/>
              <a:t>  At(Agent, Arad)</a:t>
            </a:r>
          </a:p>
          <a:p>
            <a:pPr lvl="2"/>
            <a:r>
              <a:rPr lang="en-US" dirty="0"/>
              <a:t>  Road(Arad, Sibiu)</a:t>
            </a:r>
          </a:p>
          <a:p>
            <a:pPr lvl="2"/>
            <a:r>
              <a:rPr lang="en-US" dirty="0"/>
              <a:t>  Road(X,Y) → </a:t>
            </a:r>
            <a:r>
              <a:rPr lang="en-US" dirty="0" err="1"/>
              <a:t>CanDrive</a:t>
            </a:r>
            <a:r>
              <a:rPr lang="en-US" dirty="0"/>
              <a:t>(X,Y)  </a:t>
            </a:r>
          </a:p>
          <a:p>
            <a:pPr lvl="1"/>
            <a:r>
              <a:rPr lang="en-US" dirty="0"/>
              <a:t>Inference:</a:t>
            </a:r>
          </a:p>
          <a:p>
            <a:pPr lvl="2"/>
            <a:r>
              <a:rPr lang="en-US" dirty="0"/>
              <a:t>  </a:t>
            </a:r>
            <a:r>
              <a:rPr lang="en-US" dirty="0" err="1"/>
              <a:t>CanDrive</a:t>
            </a:r>
            <a:r>
              <a:rPr lang="en-US" dirty="0"/>
              <a:t>(Arad, Sibiu)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Laws of Thought - Limitations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Pure Logic Isn't Enough</a:t>
            </a:r>
          </a:p>
          <a:p>
            <a:r>
              <a:rPr lang="en-US" b="1" dirty="0"/>
              <a:t>Problem 1: Uncertainty</a:t>
            </a:r>
            <a:endParaRPr lang="en-US" dirty="0"/>
          </a:p>
          <a:p>
            <a:pPr lvl="1"/>
            <a:r>
              <a:rPr lang="en-US" dirty="0"/>
              <a:t>Logic requires certainty</a:t>
            </a:r>
          </a:p>
          <a:p>
            <a:pPr lvl="1"/>
            <a:r>
              <a:rPr lang="en-US" dirty="0"/>
              <a:t>Real world is uncertain</a:t>
            </a:r>
          </a:p>
          <a:p>
            <a:pPr lvl="1"/>
            <a:r>
              <a:rPr lang="en-US" dirty="0"/>
              <a:t>"It will probably rain" can't be represented in classical logic</a:t>
            </a:r>
          </a:p>
          <a:p>
            <a:r>
              <a:rPr lang="en-US" b="1" dirty="0"/>
              <a:t>Problem 2: Intractability</a:t>
            </a:r>
            <a:endParaRPr lang="en-US" dirty="0"/>
          </a:p>
          <a:p>
            <a:pPr lvl="1"/>
            <a:r>
              <a:rPr lang="en-US" dirty="0"/>
              <a:t>Can prove theorems in principle</a:t>
            </a:r>
          </a:p>
          <a:p>
            <a:pPr lvl="1"/>
            <a:r>
              <a:rPr lang="en-US" dirty="0"/>
              <a:t>In practice: computationally explosive</a:t>
            </a:r>
          </a:p>
          <a:p>
            <a:pPr lvl="1"/>
            <a:r>
              <a:rPr lang="en-US" dirty="0"/>
              <a:t>Finding proofs may take forever</a:t>
            </a:r>
          </a:p>
          <a:p>
            <a:r>
              <a:rPr lang="en-US" b="1" dirty="0"/>
              <a:t>Problem 3: Knowledge Acquisition</a:t>
            </a:r>
            <a:endParaRPr lang="en-US" dirty="0"/>
          </a:p>
          <a:p>
            <a:pPr lvl="1"/>
            <a:r>
              <a:rPr lang="en-US" dirty="0"/>
              <a:t>How do we get all the rules?</a:t>
            </a:r>
          </a:p>
          <a:p>
            <a:pPr lvl="1"/>
            <a:r>
              <a:rPr lang="en-US" dirty="0"/>
              <a:t>World is too complex to enumerate all facts</a:t>
            </a:r>
          </a:p>
          <a:p>
            <a:pPr lvl="1"/>
            <a:r>
              <a:rPr lang="en-US" dirty="0"/>
              <a:t>Commonsense knowledge is vast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From Logic to Probability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Handling Uncertainty</a:t>
            </a:r>
          </a:p>
          <a:p>
            <a:r>
              <a:rPr lang="en-CA" dirty="0"/>
              <a:t>Transition in AI (1980s-1990s):</a:t>
            </a:r>
          </a:p>
          <a:p>
            <a:r>
              <a:rPr lang="en-CA" b="1" dirty="0"/>
              <a:t>Old approach:</a:t>
            </a:r>
          </a:p>
          <a:p>
            <a:pPr lvl="1"/>
            <a:r>
              <a:rPr lang="en-CA" dirty="0"/>
              <a:t>Bird(</a:t>
            </a:r>
            <a:r>
              <a:rPr lang="en-CA" dirty="0" err="1"/>
              <a:t>Tweety</a:t>
            </a:r>
            <a:r>
              <a:rPr lang="en-CA" dirty="0"/>
              <a:t>) ∧ Bird(X) → </a:t>
            </a:r>
            <a:r>
              <a:rPr lang="en-CA" dirty="0" err="1"/>
              <a:t>CanFly</a:t>
            </a:r>
            <a:r>
              <a:rPr lang="en-CA" dirty="0"/>
              <a:t>(X)</a:t>
            </a:r>
          </a:p>
          <a:p>
            <a:pPr lvl="1"/>
            <a:r>
              <a:rPr lang="en-CA" dirty="0"/>
              <a:t>Therefore: </a:t>
            </a:r>
            <a:r>
              <a:rPr lang="en-CA" dirty="0" err="1"/>
              <a:t>CanFly</a:t>
            </a:r>
            <a:r>
              <a:rPr lang="en-CA" dirty="0"/>
              <a:t>(</a:t>
            </a:r>
            <a:r>
              <a:rPr lang="en-CA" dirty="0" err="1"/>
              <a:t>Tweety</a:t>
            </a:r>
            <a:r>
              <a:rPr lang="en-CA" dirty="0"/>
              <a:t>)</a:t>
            </a:r>
          </a:p>
          <a:p>
            <a:r>
              <a:rPr lang="en-CA" b="1" dirty="0"/>
              <a:t>New approach:</a:t>
            </a:r>
          </a:p>
          <a:p>
            <a:pPr lvl="1"/>
            <a:r>
              <a:rPr lang="en-CA" dirty="0"/>
              <a:t>Bird(</a:t>
            </a:r>
            <a:r>
              <a:rPr lang="en-CA" dirty="0" err="1"/>
              <a:t>Tweety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P(</a:t>
            </a:r>
            <a:r>
              <a:rPr lang="en-CA" dirty="0" err="1"/>
              <a:t>CanFly</a:t>
            </a:r>
            <a:r>
              <a:rPr lang="en-CA" dirty="0"/>
              <a:t> | Bird) = 0.95</a:t>
            </a:r>
          </a:p>
          <a:p>
            <a:pPr lvl="1"/>
            <a:r>
              <a:rPr lang="en-CA" dirty="0"/>
              <a:t>Therefore: P(</a:t>
            </a:r>
            <a:r>
              <a:rPr lang="en-CA" dirty="0" err="1"/>
              <a:t>CanFly</a:t>
            </a:r>
            <a:r>
              <a:rPr lang="en-CA" dirty="0"/>
              <a:t>(</a:t>
            </a:r>
            <a:r>
              <a:rPr lang="en-CA" dirty="0" err="1"/>
              <a:t>Tweety</a:t>
            </a:r>
            <a:r>
              <a:rPr lang="en-CA" dirty="0"/>
              <a:t>)) = 0.95</a:t>
            </a:r>
          </a:p>
          <a:p>
            <a:r>
              <a:rPr lang="en-CA" b="1" dirty="0"/>
              <a:t>Probability theory:</a:t>
            </a:r>
          </a:p>
          <a:p>
            <a:pPr lvl="1"/>
            <a:r>
              <a:rPr lang="en-CA" dirty="0"/>
              <a:t>Rigorous framework for uncertainty</a:t>
            </a:r>
          </a:p>
          <a:p>
            <a:pPr lvl="1"/>
            <a:r>
              <a:rPr lang="en-CA" dirty="0"/>
              <a:t>Allows reasoning with incomplete information</a:t>
            </a:r>
          </a:p>
          <a:p>
            <a:pPr lvl="1"/>
            <a:r>
              <a:rPr lang="en-CA" dirty="0"/>
              <a:t>Bayesian networks, probabilistic reasoning (Chapters 12-18)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Thinking vs. Acting	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Action Gap</a:t>
            </a:r>
          </a:p>
          <a:p>
            <a:r>
              <a:rPr lang="en-US" b="1" dirty="0"/>
              <a:t>Problem with "thinking" approaches:</a:t>
            </a:r>
            <a:endParaRPr lang="en-US" dirty="0"/>
          </a:p>
          <a:p>
            <a:pPr lvl="1"/>
            <a:r>
              <a:rPr lang="en-US" dirty="0"/>
              <a:t>Rational thought alone doesn't produce behavior</a:t>
            </a:r>
          </a:p>
          <a:p>
            <a:pPr lvl="1"/>
            <a:r>
              <a:rPr lang="en-US" dirty="0"/>
              <a:t>Can think correctly but still fail to act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You logically deduce the best route to take</a:t>
            </a:r>
          </a:p>
          <a:p>
            <a:pPr lvl="1"/>
            <a:r>
              <a:rPr lang="en-US" dirty="0"/>
              <a:t>But you never actually drive!</a:t>
            </a:r>
          </a:p>
          <a:p>
            <a:pPr lvl="1"/>
            <a:r>
              <a:rPr lang="en-US" dirty="0"/>
              <a:t>Intelligence requires ACTION, not just thought</a:t>
            </a:r>
          </a:p>
          <a:p>
            <a:r>
              <a:rPr lang="en-US" b="1" dirty="0"/>
              <a:t>This motivates the "acting" approaches...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Approach 4: Acting Rationally - The Rational Agent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Rational Agent?</a:t>
            </a:r>
          </a:p>
          <a:p>
            <a:r>
              <a:rPr lang="en-US" b="1" dirty="0"/>
              <a:t>Definition:</a:t>
            </a:r>
          </a:p>
          <a:p>
            <a:pPr lvl="1"/>
            <a:r>
              <a:rPr lang="en-US" dirty="0"/>
              <a:t>An agent that acts so as to achieve the best outcome (or best expected outcome under uncertainty)</a:t>
            </a:r>
          </a:p>
          <a:p>
            <a:endParaRPr lang="en-US" dirty="0"/>
          </a:p>
          <a:p>
            <a:r>
              <a:rPr lang="en-US" b="1" dirty="0"/>
              <a:t>Key Components:</a:t>
            </a:r>
          </a:p>
          <a:p>
            <a:pPr lvl="1"/>
            <a:r>
              <a:rPr lang="en-US" dirty="0"/>
              <a:t>Agent: Something that perceives and acts</a:t>
            </a:r>
          </a:p>
          <a:p>
            <a:pPr lvl="1"/>
            <a:r>
              <a:rPr lang="en-US" dirty="0"/>
              <a:t>Rational: Does the "right thing"</a:t>
            </a:r>
          </a:p>
          <a:p>
            <a:pPr lvl="1"/>
            <a:r>
              <a:rPr lang="en-US" dirty="0"/>
              <a:t>Right thing: Achieves best outcome according to performance measure</a:t>
            </a:r>
          </a:p>
          <a:p>
            <a:endParaRPr lang="en-US" dirty="0"/>
          </a:p>
          <a:p>
            <a:r>
              <a:rPr lang="en-US" b="1" dirty="0"/>
              <a:t>Not just thinking—DOING!</a:t>
            </a:r>
            <a:endParaRPr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3707C5-72FB-4030-BDB4-316ECC18A47C}"/>
              </a:ext>
            </a:extLst>
          </p:cNvPr>
          <p:cNvGrpSpPr/>
          <p:nvPr/>
        </p:nvGrpSpPr>
        <p:grpSpPr>
          <a:xfrm>
            <a:off x="4572000" y="4641230"/>
            <a:ext cx="4189952" cy="2032350"/>
            <a:chOff x="4921250" y="3498850"/>
            <a:chExt cx="4189952" cy="20323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4A1701-CD59-4E2E-85F3-EC8D15C9D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1250" y="3498850"/>
              <a:ext cx="4189952" cy="196656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BD47F7-27FC-4DAD-ABA8-41381C58FC63}"/>
                </a:ext>
              </a:extLst>
            </p:cNvPr>
            <p:cNvSpPr/>
            <p:nvPr/>
          </p:nvSpPr>
          <p:spPr bwMode="auto">
            <a:xfrm>
              <a:off x="7400924" y="4702875"/>
              <a:ext cx="1641475" cy="828325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Rational Agents - Why This Approach Won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 Over Other Approaches</a:t>
            </a:r>
          </a:p>
          <a:p>
            <a:r>
              <a:rPr lang="en-US" b="1" dirty="0"/>
              <a:t>1. More General than "Laws of Thought"</a:t>
            </a:r>
            <a:endParaRPr lang="en-US" dirty="0"/>
          </a:p>
          <a:p>
            <a:pPr lvl="1"/>
            <a:r>
              <a:rPr lang="en-US" dirty="0"/>
              <a:t>Logical inference is just one mechanism</a:t>
            </a:r>
          </a:p>
          <a:p>
            <a:pPr lvl="1"/>
            <a:r>
              <a:rPr lang="en-US" dirty="0"/>
              <a:t>Can use probability, heuristics, learning, etc.</a:t>
            </a:r>
          </a:p>
          <a:p>
            <a:pPr lvl="1"/>
            <a:r>
              <a:rPr lang="en-US" dirty="0"/>
              <a:t>Not restricted to deductive reasoning</a:t>
            </a:r>
          </a:p>
          <a:p>
            <a:r>
              <a:rPr lang="en-US" b="1" dirty="0"/>
              <a:t>2. More Rigorous than "Human-like"</a:t>
            </a:r>
            <a:endParaRPr lang="en-US" dirty="0"/>
          </a:p>
          <a:p>
            <a:pPr lvl="1"/>
            <a:r>
              <a:rPr lang="en-US" dirty="0"/>
              <a:t>Mathematically well-defined</a:t>
            </a:r>
          </a:p>
          <a:p>
            <a:pPr lvl="1"/>
            <a:r>
              <a:rPr lang="en-US" dirty="0"/>
              <a:t>Can prove properties of algorithms</a:t>
            </a:r>
          </a:p>
          <a:p>
            <a:pPr lvl="1"/>
            <a:r>
              <a:rPr lang="en-US" dirty="0"/>
              <a:t>Clear success criteria</a:t>
            </a:r>
          </a:p>
          <a:p>
            <a:r>
              <a:rPr lang="en-US" b="1" dirty="0"/>
              <a:t>3. Action-oriented</a:t>
            </a:r>
            <a:endParaRPr lang="en-US" dirty="0"/>
          </a:p>
          <a:p>
            <a:pPr lvl="1"/>
            <a:r>
              <a:rPr lang="en-US" dirty="0"/>
              <a:t>Focuses on what matters: behavior</a:t>
            </a:r>
          </a:p>
          <a:p>
            <a:pPr lvl="1"/>
            <a:r>
              <a:rPr lang="en-US" dirty="0"/>
              <a:t>Includes both thinking and acting</a:t>
            </a:r>
          </a:p>
          <a:p>
            <a:pPr lvl="1"/>
            <a:r>
              <a:rPr lang="en-US" dirty="0"/>
              <a:t>Complete picture of 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Agents - The Standard Model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Dominant Paradigm in AI</a:t>
            </a:r>
          </a:p>
          <a:p>
            <a:r>
              <a:rPr lang="en-US" b="1" dirty="0"/>
              <a:t>Core Idea:</a:t>
            </a:r>
          </a:p>
          <a:p>
            <a:pPr lvl="1"/>
            <a:r>
              <a:rPr lang="en-US" dirty="0"/>
              <a:t>Design agents that maximize performance measure</a:t>
            </a:r>
          </a:p>
          <a:p>
            <a:pPr lvl="2"/>
            <a:r>
              <a:rPr lang="en-US" dirty="0"/>
              <a:t>Given:</a:t>
            </a:r>
          </a:p>
          <a:p>
            <a:pPr marL="1200150" lvl="3" indent="0">
              <a:buNone/>
            </a:pPr>
            <a:r>
              <a:rPr lang="en-US" dirty="0"/>
              <a:t>  - Percept sequence (what agent has observed)</a:t>
            </a:r>
          </a:p>
          <a:p>
            <a:pPr marL="1200150" lvl="3" indent="0">
              <a:buNone/>
            </a:pPr>
            <a:r>
              <a:rPr lang="en-US" dirty="0"/>
              <a:t>  - Actions available</a:t>
            </a:r>
          </a:p>
          <a:p>
            <a:pPr marL="1200150" lvl="3" indent="0">
              <a:buNone/>
            </a:pPr>
            <a:r>
              <a:rPr lang="en-US" dirty="0"/>
              <a:t>  - Performance measure (what we want achieved)</a:t>
            </a:r>
          </a:p>
          <a:p>
            <a:pPr lvl="2"/>
            <a:r>
              <a:rPr lang="en-US" dirty="0"/>
              <a:t>Agent chooses action that maximizes expected performance</a:t>
            </a:r>
          </a:p>
          <a:p>
            <a:r>
              <a:rPr lang="en-US" b="1" dirty="0"/>
              <a:t>This framework includes:</a:t>
            </a:r>
          </a:p>
          <a:p>
            <a:pPr lvl="1"/>
            <a:r>
              <a:rPr lang="en-US" dirty="0"/>
              <a:t>Control theory (minimize cost function)</a:t>
            </a:r>
          </a:p>
          <a:p>
            <a:pPr lvl="1"/>
            <a:r>
              <a:rPr lang="en-US" dirty="0"/>
              <a:t>Operations research (maximize reward)</a:t>
            </a:r>
          </a:p>
          <a:p>
            <a:pPr lvl="1"/>
            <a:r>
              <a:rPr lang="en-US" dirty="0"/>
              <a:t>Economics (maximize utility)</a:t>
            </a:r>
          </a:p>
          <a:p>
            <a:pPr lvl="1"/>
            <a:r>
              <a:rPr lang="en-US" dirty="0"/>
              <a:t>Statistics (minimize loss function)</a:t>
            </a:r>
          </a:p>
          <a:p>
            <a:r>
              <a:rPr lang="en-US" b="1" dirty="0"/>
              <a:t>Unified mathematical foundation across disciplines!</a:t>
            </a: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Rational Agent Example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Automated Taxi Driver</a:t>
            </a:r>
          </a:p>
          <a:p>
            <a:r>
              <a:rPr lang="en-US" b="1" dirty="0"/>
              <a:t>Performance Measure:</a:t>
            </a:r>
            <a:endParaRPr lang="en-US" dirty="0"/>
          </a:p>
          <a:p>
            <a:pPr lvl="1"/>
            <a:r>
              <a:rPr lang="en-US" dirty="0"/>
              <a:t>Safe arrival</a:t>
            </a:r>
          </a:p>
          <a:p>
            <a:pPr lvl="1"/>
            <a:r>
              <a:rPr lang="en-US" dirty="0"/>
              <a:t>Minimize time</a:t>
            </a:r>
          </a:p>
          <a:p>
            <a:pPr lvl="1"/>
            <a:r>
              <a:rPr lang="en-US" dirty="0"/>
              <a:t>Obey traffic laws</a:t>
            </a:r>
          </a:p>
          <a:p>
            <a:pPr lvl="1"/>
            <a:r>
              <a:rPr lang="en-US" dirty="0"/>
              <a:t>Comfortable ride</a:t>
            </a:r>
          </a:p>
          <a:p>
            <a:pPr lvl="1"/>
            <a:r>
              <a:rPr lang="en-US" dirty="0"/>
              <a:t>Minimize fuel cost</a:t>
            </a:r>
          </a:p>
          <a:p>
            <a:r>
              <a:rPr lang="en-US" b="1" dirty="0"/>
              <a:t>Rational behavior:</a:t>
            </a:r>
            <a:endParaRPr lang="en-US" dirty="0"/>
          </a:p>
          <a:p>
            <a:pPr lvl="1"/>
            <a:r>
              <a:rPr lang="en-US" dirty="0"/>
              <a:t>At intersection, agent must: </a:t>
            </a:r>
          </a:p>
          <a:p>
            <a:pPr marL="857250" lvl="2" indent="0">
              <a:buNone/>
            </a:pPr>
            <a:r>
              <a:rPr lang="en-US" dirty="0"/>
              <a:t>1. Perceive: traffic light, other cars, pedestrians </a:t>
            </a:r>
          </a:p>
          <a:p>
            <a:pPr marL="857250" lvl="2" indent="0">
              <a:buNone/>
            </a:pPr>
            <a:r>
              <a:rPr lang="en-US" dirty="0"/>
              <a:t>2. Reason: What action achieves best outcome? </a:t>
            </a:r>
          </a:p>
          <a:p>
            <a:pPr marL="857250" lvl="2" indent="0">
              <a:buNone/>
            </a:pPr>
            <a:r>
              <a:rPr lang="en-US" dirty="0"/>
              <a:t>3. Act: Turn left/right/straight, or wait </a:t>
            </a:r>
          </a:p>
          <a:p>
            <a:pPr lvl="1"/>
            <a:r>
              <a:rPr lang="en-US" dirty="0"/>
              <a:t>Choice maximizes expected performance (balancing safety, speed, comfort, legality)</a:t>
            </a:r>
          </a:p>
          <a:p>
            <a:r>
              <a:rPr lang="en-US" dirty="0"/>
              <a:t>Not about thinking like human driver—about achieving goals!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Limited Rationality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Refinement: Perfect Rationality is Impossible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pPr lvl="1"/>
            <a:r>
              <a:rPr lang="en-US" dirty="0"/>
              <a:t>Optimal action may require infinite computation</a:t>
            </a:r>
          </a:p>
          <a:p>
            <a:pPr lvl="1"/>
            <a:r>
              <a:rPr lang="en-US" dirty="0"/>
              <a:t>Must decide in finite time</a:t>
            </a:r>
          </a:p>
          <a:p>
            <a:pPr lvl="1"/>
            <a:r>
              <a:rPr lang="en-US" dirty="0"/>
              <a:t>Perfect rationality is infeasible</a:t>
            </a:r>
          </a:p>
          <a:p>
            <a:r>
              <a:rPr lang="en-US" b="1" dirty="0"/>
              <a:t>Solution: Limited (Bounded) Rationality</a:t>
            </a:r>
            <a:endParaRPr lang="en-US" dirty="0"/>
          </a:p>
          <a:p>
            <a:pPr lvl="1"/>
            <a:r>
              <a:rPr lang="en-US" dirty="0"/>
              <a:t>Act appropriately given computational constraints</a:t>
            </a:r>
          </a:p>
          <a:p>
            <a:pPr lvl="1"/>
            <a:r>
              <a:rPr lang="en-US" dirty="0"/>
              <a:t>"Good enough" decisions in available time</a:t>
            </a:r>
          </a:p>
          <a:p>
            <a:pPr lvl="1"/>
            <a:r>
              <a:rPr lang="en-US" dirty="0"/>
              <a:t>Satisficing vs. optimizing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Chess: Can't compute optimal move (too complex)</a:t>
            </a:r>
          </a:p>
          <a:p>
            <a:pPr lvl="1"/>
            <a:r>
              <a:rPr lang="en-US" dirty="0"/>
              <a:t>Instead: Compute best move in available time</a:t>
            </a:r>
          </a:p>
          <a:p>
            <a:pPr lvl="1"/>
            <a:r>
              <a:rPr lang="en-US" dirty="0"/>
              <a:t>Still rational given constraints!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8791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Approaches - Summary Table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3429000"/>
            <a:ext cx="8229600" cy="2335213"/>
          </a:xfrm>
        </p:spPr>
        <p:txBody>
          <a:bodyPr/>
          <a:lstStyle/>
          <a:p>
            <a:r>
              <a:rPr lang="en-US" b="1" dirty="0"/>
              <a:t>Historical trend:</a:t>
            </a:r>
            <a:r>
              <a:rPr lang="en-US" dirty="0"/>
              <a:t> Movement toward "Acting Rationally"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E7923-6D08-4E50-AB73-DFBC89EF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49" y="1078928"/>
            <a:ext cx="7658515" cy="21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49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Focus on Rational Agents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038226"/>
            <a:ext cx="8229600" cy="4725988"/>
          </a:xfrm>
        </p:spPr>
        <p:txBody>
          <a:bodyPr/>
          <a:lstStyle/>
          <a:p>
            <a:r>
              <a:rPr lang="en-US" b="1" dirty="0"/>
              <a:t>This Course's Approach</a:t>
            </a:r>
          </a:p>
          <a:p>
            <a:r>
              <a:rPr lang="en-US" b="1" dirty="0"/>
              <a:t>Rational agent paradigm because: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Mathematically precise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analyze, prove properties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Clear optimization targets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Generally applicable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Works for games, robotics, planning, etc.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Unified framework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Practical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Achieves goals in real world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Measurable success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Extensible</a:t>
            </a:r>
            <a:r>
              <a:rPr 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Can incorporate learning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Handles uncertainty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Scales to complex problems</a:t>
            </a:r>
          </a:p>
        </p:txBody>
      </p:sp>
    </p:spTree>
    <p:extLst>
      <p:ext uri="{BB962C8B-B14F-4D97-AF65-F5344CB8AC3E}">
        <p14:creationId xmlns:p14="http://schemas.microsoft.com/office/powerpoint/2010/main" val="4056923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Approaches Are Not Exclusive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038226"/>
            <a:ext cx="8229600" cy="4725988"/>
          </a:xfrm>
        </p:spPr>
        <p:txBody>
          <a:bodyPr/>
          <a:lstStyle/>
          <a:p>
            <a:r>
              <a:rPr lang="en-US" b="1" dirty="0"/>
              <a:t>They Complement Each Other</a:t>
            </a:r>
          </a:p>
          <a:p>
            <a:r>
              <a:rPr lang="en-US" b="1" dirty="0"/>
              <a:t>In Practice, Modern AI Uses All Four:</a:t>
            </a:r>
            <a:endParaRPr lang="en-US" dirty="0"/>
          </a:p>
          <a:p>
            <a:r>
              <a:rPr lang="en-US" b="1" dirty="0"/>
              <a:t>Self-driving car example: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b="1" dirty="0"/>
              <a:t>Acting Humanly:</a:t>
            </a:r>
            <a:r>
              <a:rPr lang="en-US" dirty="0"/>
              <a:t> </a:t>
            </a:r>
          </a:p>
          <a:p>
            <a:pPr lvl="2" indent="-285750"/>
            <a:r>
              <a:rPr lang="en-US" dirty="0"/>
              <a:t>Interface must be natural for passengers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Thinking Humanly:</a:t>
            </a:r>
            <a:r>
              <a:rPr lang="en-US" dirty="0"/>
              <a:t> </a:t>
            </a:r>
          </a:p>
          <a:p>
            <a:pPr lvl="2" indent="-285750"/>
            <a:r>
              <a:rPr lang="en-US" dirty="0"/>
              <a:t>Predict what human drivers will do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Thinking Rationally:</a:t>
            </a:r>
            <a:r>
              <a:rPr lang="en-US" dirty="0"/>
              <a:t> </a:t>
            </a:r>
          </a:p>
          <a:p>
            <a:pPr lvl="2" indent="-285750"/>
            <a:r>
              <a:rPr lang="en-US" dirty="0"/>
              <a:t>Plan optimal routes using logic/probability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Acting Rationally:</a:t>
            </a:r>
            <a:r>
              <a:rPr lang="en-US" dirty="0"/>
              <a:t> </a:t>
            </a:r>
          </a:p>
          <a:p>
            <a:pPr lvl="2" indent="-285750"/>
            <a:r>
              <a:rPr lang="en-US" dirty="0"/>
              <a:t>Make driving decisions that maximize safety/efficiency</a:t>
            </a:r>
          </a:p>
          <a:p>
            <a:r>
              <a:rPr lang="en-US" b="1" dirty="0"/>
              <a:t>Different aspects of intelligence require different approaches!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542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Evolution of AI Definitions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038226"/>
            <a:ext cx="8229600" cy="4725988"/>
          </a:xfrm>
        </p:spPr>
        <p:txBody>
          <a:bodyPr/>
          <a:lstStyle/>
          <a:p>
            <a:r>
              <a:rPr lang="en-US" b="1" dirty="0"/>
              <a:t>Historical Progression</a:t>
            </a:r>
          </a:p>
          <a:p>
            <a:r>
              <a:rPr lang="en-US" b="1" dirty="0"/>
              <a:t>1950s-60s:</a:t>
            </a:r>
            <a:r>
              <a:rPr lang="en-US" dirty="0"/>
              <a:t> "Making machines think"</a:t>
            </a:r>
          </a:p>
          <a:p>
            <a:pPr lvl="1"/>
            <a:r>
              <a:rPr lang="en-US" dirty="0"/>
              <a:t>Focus on reasoning, logic</a:t>
            </a:r>
          </a:p>
          <a:p>
            <a:pPr lvl="1"/>
            <a:r>
              <a:rPr lang="en-US" dirty="0"/>
              <a:t>Symbolic AI, theorem proving</a:t>
            </a:r>
          </a:p>
          <a:p>
            <a:r>
              <a:rPr lang="en-US" b="1" dirty="0"/>
              <a:t>1970s-80s:</a:t>
            </a:r>
            <a:r>
              <a:rPr lang="en-US" dirty="0"/>
              <a:t> "Making machines do intelligent things"</a:t>
            </a:r>
          </a:p>
          <a:p>
            <a:pPr lvl="1"/>
            <a:r>
              <a:rPr lang="en-US" dirty="0"/>
              <a:t>Focus on expert systems</a:t>
            </a:r>
          </a:p>
          <a:p>
            <a:pPr lvl="1"/>
            <a:r>
              <a:rPr lang="en-US" dirty="0"/>
              <a:t>Knowledge engineering</a:t>
            </a:r>
          </a:p>
          <a:p>
            <a:r>
              <a:rPr lang="en-US" b="1" dirty="0"/>
              <a:t>1990s-2000s:</a:t>
            </a:r>
            <a:r>
              <a:rPr lang="en-US" dirty="0"/>
              <a:t> "Making machines learn"</a:t>
            </a:r>
          </a:p>
          <a:p>
            <a:pPr lvl="1"/>
            <a:r>
              <a:rPr lang="en-US" dirty="0"/>
              <a:t>Focus on data-driven methods</a:t>
            </a:r>
          </a:p>
          <a:p>
            <a:pPr lvl="1"/>
            <a:r>
              <a:rPr lang="en-US" dirty="0"/>
              <a:t>Statistical learning</a:t>
            </a:r>
          </a:p>
          <a:p>
            <a:r>
              <a:rPr lang="en-US" b="1" dirty="0"/>
              <a:t>2010s-present:</a:t>
            </a:r>
            <a:r>
              <a:rPr lang="en-US" dirty="0"/>
              <a:t> "Making machines that help humans"</a:t>
            </a:r>
          </a:p>
          <a:p>
            <a:pPr lvl="1"/>
            <a:r>
              <a:rPr lang="en-US" dirty="0"/>
              <a:t>Focus on beneficial AI</a:t>
            </a:r>
          </a:p>
          <a:p>
            <a:pPr lvl="1"/>
            <a:r>
              <a:rPr lang="en-US" dirty="0"/>
              <a:t>Human-AI collaboration</a:t>
            </a:r>
          </a:p>
        </p:txBody>
      </p:sp>
    </p:spTree>
    <p:extLst>
      <p:ext uri="{BB962C8B-B14F-4D97-AF65-F5344CB8AC3E}">
        <p14:creationId xmlns:p14="http://schemas.microsoft.com/office/powerpoint/2010/main" val="658768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Modern Perspective: Beneficial 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038226"/>
            <a:ext cx="8229600" cy="4725988"/>
          </a:xfrm>
        </p:spPr>
        <p:txBody>
          <a:bodyPr/>
          <a:lstStyle/>
          <a:p>
            <a:r>
              <a:rPr lang="en-US" b="1" dirty="0"/>
              <a:t>Beyond the Standard Model</a:t>
            </a:r>
          </a:p>
          <a:p>
            <a:r>
              <a:rPr lang="en-US" b="1" dirty="0"/>
              <a:t>New Challenge:</a:t>
            </a:r>
            <a:endParaRPr lang="en-US" dirty="0"/>
          </a:p>
          <a:p>
            <a:pPr lvl="1"/>
            <a:r>
              <a:rPr lang="en-US" dirty="0"/>
              <a:t>What if we can't specify the objective perfectly?</a:t>
            </a:r>
          </a:p>
          <a:p>
            <a:pPr lvl="1"/>
            <a:r>
              <a:rPr lang="en-US" dirty="0"/>
              <a:t>What if the objective is uncertain?</a:t>
            </a:r>
          </a:p>
          <a:p>
            <a:pPr lvl="1"/>
            <a:r>
              <a:rPr lang="en-US" dirty="0"/>
              <a:t>What if the objective changes?</a:t>
            </a:r>
          </a:p>
          <a:p>
            <a:r>
              <a:rPr lang="en-US" b="1" dirty="0"/>
              <a:t>Value Alignment Problem:</a:t>
            </a:r>
          </a:p>
          <a:p>
            <a:pPr marL="457200" lvl="1" indent="0">
              <a:buNone/>
            </a:pPr>
            <a:r>
              <a:rPr lang="en-US" b="1" dirty="0"/>
              <a:t>Old</a:t>
            </a:r>
            <a:r>
              <a:rPr lang="en-US" dirty="0"/>
              <a:t>: Put objective O into machine → Machine maximizes O </a:t>
            </a:r>
          </a:p>
          <a:p>
            <a:pPr marL="857250" lvl="2" indent="0">
              <a:buNone/>
            </a:pPr>
            <a:r>
              <a:rPr lang="en-US" dirty="0"/>
              <a:t>Problem: What if O isn't quite right? </a:t>
            </a:r>
          </a:p>
          <a:p>
            <a:pPr marL="457200" lvl="1" indent="0">
              <a:buNone/>
            </a:pPr>
            <a:r>
              <a:rPr lang="en-US" b="1" dirty="0"/>
              <a:t>New</a:t>
            </a:r>
            <a:r>
              <a:rPr lang="en-US" dirty="0"/>
              <a:t>: Machine knows it's uncertain about objective </a:t>
            </a:r>
          </a:p>
          <a:p>
            <a:pPr marL="857250" lvl="2" indent="0">
              <a:buNone/>
            </a:pPr>
            <a:r>
              <a:rPr lang="en-US" dirty="0"/>
              <a:t>→ Machine learns human preferences </a:t>
            </a:r>
          </a:p>
          <a:p>
            <a:pPr marL="857250" lvl="2" indent="0">
              <a:buNone/>
            </a:pPr>
            <a:r>
              <a:rPr lang="en-US" dirty="0"/>
              <a:t>→ Machine acts cautiously</a:t>
            </a:r>
          </a:p>
          <a:p>
            <a:pPr marL="857250" lvl="2" indent="0">
              <a:buNone/>
            </a:pPr>
            <a:endParaRPr lang="en-US" dirty="0"/>
          </a:p>
          <a:p>
            <a:r>
              <a:rPr lang="en-US" b="1" dirty="0"/>
              <a:t>This is the frontier of current AI research!</a:t>
            </a:r>
          </a:p>
        </p:txBody>
      </p:sp>
    </p:spTree>
    <p:extLst>
      <p:ext uri="{BB962C8B-B14F-4D97-AF65-F5344CB8AC3E}">
        <p14:creationId xmlns:p14="http://schemas.microsoft.com/office/powerpoint/2010/main" val="1433276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Practical Implications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038226"/>
            <a:ext cx="8229600" cy="4725988"/>
          </a:xfrm>
        </p:spPr>
        <p:txBody>
          <a:bodyPr/>
          <a:lstStyle/>
          <a:p>
            <a:r>
              <a:rPr lang="en-US" b="1" dirty="0"/>
              <a:t>How Definitions Shape AI Development</a:t>
            </a:r>
          </a:p>
          <a:p>
            <a:r>
              <a:rPr lang="en-US" b="1" dirty="0"/>
              <a:t>"Acting Humanly" (Turing Test) Led To:</a:t>
            </a:r>
            <a:endParaRPr lang="en-US" dirty="0"/>
          </a:p>
          <a:p>
            <a:pPr lvl="1"/>
            <a:r>
              <a:rPr lang="en-US" dirty="0"/>
              <a:t>Natural language processing</a:t>
            </a:r>
          </a:p>
          <a:p>
            <a:pPr lvl="1"/>
            <a:r>
              <a:rPr lang="en-US" dirty="0"/>
              <a:t>Chatbots, dialogue systems</a:t>
            </a:r>
          </a:p>
          <a:p>
            <a:pPr lvl="1"/>
            <a:r>
              <a:rPr lang="en-US" dirty="0"/>
              <a:t>Humanoid robots</a:t>
            </a:r>
          </a:p>
          <a:p>
            <a:r>
              <a:rPr lang="en-US" b="1" dirty="0"/>
              <a:t>"Thinking Rationally" (Logic) Led To:</a:t>
            </a:r>
            <a:endParaRPr lang="en-US" dirty="0"/>
          </a:p>
          <a:p>
            <a:pPr lvl="1"/>
            <a:r>
              <a:rPr lang="en-US" dirty="0"/>
              <a:t>Expert systems</a:t>
            </a:r>
          </a:p>
          <a:p>
            <a:pPr lvl="1"/>
            <a:r>
              <a:rPr lang="en-US" dirty="0"/>
              <a:t>Knowledge bases</a:t>
            </a:r>
          </a:p>
          <a:p>
            <a:pPr lvl="1"/>
            <a:r>
              <a:rPr lang="en-US" dirty="0"/>
              <a:t>Automated reasoning</a:t>
            </a:r>
          </a:p>
          <a:p>
            <a:r>
              <a:rPr lang="en-US" b="1" dirty="0"/>
              <a:t>"Acting Rationally" (Agents) Led To:</a:t>
            </a:r>
            <a:endParaRPr lang="en-US" dirty="0"/>
          </a:p>
          <a:p>
            <a:pPr lvl="1"/>
            <a:r>
              <a:rPr lang="en-US" dirty="0"/>
              <a:t>Game-playing AI (Chess, Go)</a:t>
            </a:r>
          </a:p>
          <a:p>
            <a:pPr lvl="1"/>
            <a:r>
              <a:rPr lang="en-US" dirty="0"/>
              <a:t>Autonomous vehicles</a:t>
            </a:r>
          </a:p>
          <a:p>
            <a:pPr lvl="1"/>
            <a:r>
              <a:rPr lang="en-US" dirty="0"/>
              <a:t>Robotic planning</a:t>
            </a:r>
          </a:p>
          <a:p>
            <a:r>
              <a:rPr lang="en-US" b="1" dirty="0"/>
              <a:t>Different definitions → Different technologies!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63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Potential Positive Impacts:</a:t>
            </a:r>
          </a:p>
          <a:p>
            <a:pPr lvl="1"/>
            <a:r>
              <a:rPr dirty="0"/>
              <a:t>Economic Growth: Increased productivity, new goods/services</a:t>
            </a:r>
          </a:p>
          <a:p>
            <a:pPr lvl="1"/>
            <a:r>
              <a:rPr dirty="0"/>
              <a:t>Scientific Advancement: Climate science, drug discovery</a:t>
            </a:r>
          </a:p>
          <a:p>
            <a:pPr lvl="1"/>
            <a:r>
              <a:rPr dirty="0"/>
              <a:t>Health Care: Better diagnostics, personalized treatment</a:t>
            </a:r>
          </a:p>
          <a:p>
            <a:pPr lvl="1"/>
            <a:r>
              <a:rPr dirty="0"/>
              <a:t>Accessibility: Services for underserved populations</a:t>
            </a:r>
          </a:p>
          <a:p>
            <a:pPr lvl="1"/>
            <a:r>
              <a:rPr dirty="0"/>
              <a:t>Safety: Reduced accidents, disaster prediction</a:t>
            </a:r>
          </a:p>
          <a:p>
            <a:endParaRPr dirty="0"/>
          </a:p>
          <a:p>
            <a:r>
              <a:rPr dirty="0"/>
              <a:t>"First solve AI, then use AI to solve everything else." - </a:t>
            </a:r>
            <a:r>
              <a:rPr dirty="0" err="1"/>
              <a:t>Demis</a:t>
            </a:r>
            <a:r>
              <a:rPr dirty="0"/>
              <a:t> Hassabis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AI - Current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Immediate Risks:</a:t>
            </a:r>
          </a:p>
          <a:p>
            <a:pPr lvl="1"/>
            <a:r>
              <a:rPr dirty="0"/>
              <a:t>Lethal Autonomous Weapons</a:t>
            </a:r>
          </a:p>
          <a:p>
            <a:pPr lvl="1"/>
            <a:r>
              <a:rPr dirty="0"/>
              <a:t>Scalable, no human supervision required</a:t>
            </a:r>
          </a:p>
          <a:p>
            <a:pPr lvl="1"/>
            <a:r>
              <a:rPr dirty="0"/>
              <a:t>Surveillance and Persuasion</a:t>
            </a:r>
          </a:p>
          <a:p>
            <a:pPr lvl="1"/>
            <a:r>
              <a:rPr dirty="0"/>
              <a:t>Mass monitoring, behavior manipulation</a:t>
            </a:r>
          </a:p>
          <a:p>
            <a:pPr lvl="1"/>
            <a:r>
              <a:rPr dirty="0"/>
              <a:t>Biased Decision Making</a:t>
            </a:r>
          </a:p>
          <a:p>
            <a:pPr lvl="1"/>
            <a:r>
              <a:rPr dirty="0"/>
              <a:t>Discriminatory loan/parole decisions</a:t>
            </a:r>
          </a:p>
          <a:p>
            <a:pPr lvl="1"/>
            <a:r>
              <a:rPr dirty="0"/>
              <a:t>Employment Impact</a:t>
            </a:r>
          </a:p>
          <a:p>
            <a:pPr lvl="1"/>
            <a:r>
              <a:rPr dirty="0"/>
              <a:t>Job displacement, wealth inequality</a:t>
            </a:r>
          </a:p>
          <a:p>
            <a:pPr lvl="1"/>
            <a:r>
              <a:rPr dirty="0"/>
              <a:t>Safety-Critical Applications</a:t>
            </a:r>
          </a:p>
          <a:p>
            <a:pPr lvl="1"/>
            <a:r>
              <a:rPr dirty="0"/>
              <a:t>Self-driving cars, infrastructure management</a:t>
            </a:r>
          </a:p>
          <a:p>
            <a:pPr lvl="1"/>
            <a:r>
              <a:rPr dirty="0"/>
              <a:t>Cybersecurity</a:t>
            </a:r>
          </a:p>
          <a:p>
            <a:pPr lvl="1"/>
            <a:r>
              <a:rPr dirty="0"/>
              <a:t>AI-powered attacks (phishing, malware)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Human-Level AI (HLAI):</a:t>
            </a:r>
          </a:p>
          <a:p>
            <a:pPr lvl="1"/>
            <a:r>
              <a:rPr dirty="0"/>
              <a:t>Machines that can learn to do anything a human can do</a:t>
            </a:r>
          </a:p>
          <a:p>
            <a:pPr lvl="1"/>
            <a:r>
              <a:rPr dirty="0"/>
              <a:t>First symposium: 2004</a:t>
            </a:r>
          </a:p>
          <a:p>
            <a:endParaRPr dirty="0"/>
          </a:p>
          <a:p>
            <a:r>
              <a:rPr dirty="0"/>
              <a:t>Artificial General Intelligence (AGI):</a:t>
            </a:r>
          </a:p>
          <a:p>
            <a:pPr lvl="1"/>
            <a:r>
              <a:rPr dirty="0"/>
              <a:t>Intelligence across all domains</a:t>
            </a:r>
          </a:p>
          <a:p>
            <a:pPr lvl="1"/>
            <a:r>
              <a:rPr dirty="0"/>
              <a:t>First conference: 2008</a:t>
            </a:r>
          </a:p>
          <a:p>
            <a:endParaRPr dirty="0"/>
          </a:p>
          <a:p>
            <a:r>
              <a:rPr dirty="0"/>
              <a:t>Current Consensus:</a:t>
            </a:r>
          </a:p>
          <a:p>
            <a:pPr lvl="1"/>
            <a:r>
              <a:rPr dirty="0"/>
              <a:t>Need both theoretical breakthroughs and engineering advances</a:t>
            </a:r>
          </a:p>
          <a:p>
            <a:pPr lvl="1"/>
            <a:r>
              <a:rPr dirty="0"/>
              <a:t>"Faster machines just give you the wrong answer faster" without right theory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24721</TotalTime>
  <Words>2178</Words>
  <Application>Microsoft Office PowerPoint</Application>
  <PresentationFormat>On-screen Show (4:3)</PresentationFormat>
  <Paragraphs>405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Helvetica</vt:lpstr>
      <vt:lpstr>Times New Roman</vt:lpstr>
      <vt:lpstr>Verdana</vt:lpstr>
      <vt:lpstr>Webdings</vt:lpstr>
      <vt:lpstr>Wingdings</vt:lpstr>
      <vt:lpstr>os-8</vt:lpstr>
      <vt:lpstr>Welcome to Artificial Intelligence</vt:lpstr>
      <vt:lpstr>What is Artificial Intelligence?</vt:lpstr>
      <vt:lpstr>The Challenge of Defining AI</vt:lpstr>
      <vt:lpstr>Four Approaches to AI</vt:lpstr>
      <vt:lpstr>Approach 1: Acting Humanly - The Turing Test</vt:lpstr>
      <vt:lpstr>Turing Test - What It Requires</vt:lpstr>
      <vt:lpstr>Turing Test - Extended Version</vt:lpstr>
      <vt:lpstr>Turing Test - Why It's Not The Goal</vt:lpstr>
      <vt:lpstr>Approach 2: Thinking Humanly - Cognitive Modeling</vt:lpstr>
      <vt:lpstr>Cognitive Modeling - Example</vt:lpstr>
      <vt:lpstr>Cognitive Modeling - Modern Example</vt:lpstr>
      <vt:lpstr>Cognitive Science - The Field</vt:lpstr>
      <vt:lpstr>Approach 3: Thinking Rationally - Laws of Thought</vt:lpstr>
      <vt:lpstr>Laws of Thought - The Logicist Program</vt:lpstr>
      <vt:lpstr>Laws of Thought - Limitations</vt:lpstr>
      <vt:lpstr>From Logic to Probability</vt:lpstr>
      <vt:lpstr>Thinking vs. Acting </vt:lpstr>
      <vt:lpstr>Approach 4: Acting Rationally - The Rational Agent</vt:lpstr>
      <vt:lpstr>Rational Agents - Why This Approach Won</vt:lpstr>
      <vt:lpstr>Rational Agents - The Standard Model</vt:lpstr>
      <vt:lpstr>Rational Agent Example</vt:lpstr>
      <vt:lpstr>Limited Rationality</vt:lpstr>
      <vt:lpstr>The Four Approaches - Summary Table</vt:lpstr>
      <vt:lpstr>Why We Focus on Rational Agents</vt:lpstr>
      <vt:lpstr>The Approaches Are Not Exclusive</vt:lpstr>
      <vt:lpstr>Evolution of AI Definitions</vt:lpstr>
      <vt:lpstr>Modern Perspective: Beneficial AI</vt:lpstr>
      <vt:lpstr>Practical Implications</vt:lpstr>
      <vt:lpstr>Benefits of AI</vt:lpstr>
      <vt:lpstr>Risks of AI - Current Concerns</vt:lpstr>
      <vt:lpstr>The Path Forward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Yasser Ebrahim</cp:lastModifiedBy>
  <cp:revision>300</cp:revision>
  <cp:lastPrinted>2001-06-14T13:58:17Z</cp:lastPrinted>
  <dcterms:created xsi:type="dcterms:W3CDTF">2011-01-13T23:43:38Z</dcterms:created>
  <dcterms:modified xsi:type="dcterms:W3CDTF">2026-01-11T04:13:17Z</dcterms:modified>
</cp:coreProperties>
</file>