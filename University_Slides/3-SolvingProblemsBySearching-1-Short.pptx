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3"/>
  </p:notesMasterIdLst>
  <p:handoutMasterIdLst>
    <p:handoutMasterId r:id="rId4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309" r:id="rId21"/>
    <p:sldId id="310" r:id="rId22"/>
    <p:sldId id="277" r:id="rId23"/>
    <p:sldId id="278" r:id="rId24"/>
    <p:sldId id="311" r:id="rId25"/>
    <p:sldId id="312" r:id="rId26"/>
    <p:sldId id="279" r:id="rId27"/>
    <p:sldId id="280" r:id="rId28"/>
    <p:sldId id="281" r:id="rId29"/>
    <p:sldId id="282" r:id="rId30"/>
    <p:sldId id="313" r:id="rId31"/>
    <p:sldId id="314" r:id="rId32"/>
    <p:sldId id="315" r:id="rId33"/>
    <p:sldId id="317" r:id="rId34"/>
    <p:sldId id="316" r:id="rId35"/>
    <p:sldId id="284" r:id="rId36"/>
    <p:sldId id="318" r:id="rId37"/>
    <p:sldId id="285" r:id="rId38"/>
    <p:sldId id="319" r:id="rId39"/>
    <p:sldId id="286" r:id="rId40"/>
    <p:sldId id="320" r:id="rId41"/>
    <p:sldId id="287" r:id="rId42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0" autoAdjust="0"/>
    <p:restoredTop sz="94667"/>
  </p:normalViewPr>
  <p:slideViewPr>
    <p:cSldViewPr snapToGrid="0">
      <p:cViewPr varScale="1">
        <p:scale>
          <a:sx n="85" d="100"/>
          <a:sy n="85" d="100"/>
        </p:scale>
        <p:origin x="1272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0" y="6457949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oDqjPvD54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ZkzH5x0SKU" TargetMode="External"/><Relationship Id="rId2" Type="http://schemas.openxmlformats.org/officeDocument/2006/relationships/hyperlink" Target="https://www.youtube.com/watch?v=CerlT7tTZfY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fujbpJ0LB4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Solving Problems by Searching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Today's Topic: Problem-Solving Through Search</a:t>
            </a:r>
          </a:p>
          <a:p>
            <a:endParaRPr/>
          </a:p>
          <a:p>
            <a:r>
              <a:t>Learning Objectives:</a:t>
            </a:r>
          </a:p>
          <a:p>
            <a:endParaRPr/>
          </a:p>
          <a:p>
            <a:r>
              <a:t>Understand problem-solving agents</a:t>
            </a:r>
          </a:p>
          <a:p>
            <a:r>
              <a:t>Formulate problems formally</a:t>
            </a:r>
          </a:p>
          <a:p>
            <a:r>
              <a:t>Learn uninformed search strategies</a:t>
            </a:r>
          </a:p>
          <a:p>
            <a:r>
              <a:t>Explore informed (heuristic) search</a:t>
            </a:r>
          </a:p>
          <a:p>
            <a:r>
              <a:t>Understand heuristic functions</a:t>
            </a:r>
          </a:p>
          <a:p>
            <a:endParaRPr/>
          </a:p>
          <a:p>
            <a:r>
              <a:t>"When the correct action to take is not immediately obvious, an agent may need to plan ahead: to consider a sequence of actions that form a path to a goal state."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- 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Week 1: What is AI? Foundations and history</a:t>
            </a:r>
          </a:p>
          <a:p>
            <a:r>
              <a:rPr dirty="0"/>
              <a:t>Week 2: Intelligent agents and their architectures</a:t>
            </a:r>
          </a:p>
          <a:p>
            <a:r>
              <a:rPr dirty="0"/>
              <a:t>Today: How agents find sequences of actions to achieve goals</a:t>
            </a:r>
          </a:p>
          <a:p>
            <a:endParaRPr dirty="0"/>
          </a:p>
          <a:p>
            <a:r>
              <a:rPr dirty="0"/>
              <a:t>Example Scenario:</a:t>
            </a:r>
          </a:p>
          <a:p>
            <a:pPr lvl="1"/>
            <a:r>
              <a:rPr dirty="0"/>
              <a:t>You're in Arad, Romania</a:t>
            </a:r>
          </a:p>
          <a:p>
            <a:pPr lvl="1"/>
            <a:r>
              <a:rPr dirty="0"/>
              <a:t>Need to get to Bucharest tomorrow</a:t>
            </a:r>
          </a:p>
          <a:p>
            <a:pPr lvl="1"/>
            <a:r>
              <a:rPr dirty="0"/>
              <a:t>Three roads out: Sibiu, Timisoara, </a:t>
            </a:r>
            <a:r>
              <a:rPr dirty="0" err="1"/>
              <a:t>Zerind</a:t>
            </a:r>
            <a:endParaRPr dirty="0"/>
          </a:p>
          <a:p>
            <a:pPr lvl="1"/>
            <a:r>
              <a:rPr dirty="0"/>
              <a:t>Which road do you take?</a:t>
            </a:r>
          </a:p>
          <a:p>
            <a:endParaRPr b="1" dirty="0"/>
          </a:p>
          <a:p>
            <a:r>
              <a:rPr b="1" dirty="0"/>
              <a:t>This is a search problem!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Problem-Solving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Four-Phase Process:</a:t>
            </a:r>
          </a:p>
          <a:p>
            <a:pPr lvl="1"/>
            <a:r>
              <a:rPr b="1" dirty="0"/>
              <a:t>Goal Formulation</a:t>
            </a:r>
          </a:p>
          <a:p>
            <a:pPr lvl="2"/>
            <a:r>
              <a:rPr dirty="0"/>
              <a:t>Adopt goal: "Reach Bucharest"</a:t>
            </a:r>
          </a:p>
          <a:p>
            <a:pPr lvl="2"/>
            <a:r>
              <a:rPr dirty="0"/>
              <a:t>Goals organize behavior by limiting objectives</a:t>
            </a:r>
          </a:p>
          <a:p>
            <a:pPr lvl="1"/>
            <a:r>
              <a:rPr b="1" dirty="0"/>
              <a:t>Problem Formulation</a:t>
            </a:r>
          </a:p>
          <a:p>
            <a:pPr lvl="2"/>
            <a:r>
              <a:rPr dirty="0"/>
              <a:t>Abstract model of relevant world aspects</a:t>
            </a:r>
          </a:p>
          <a:p>
            <a:pPr lvl="2"/>
            <a:r>
              <a:rPr dirty="0"/>
              <a:t>States: cities</a:t>
            </a:r>
          </a:p>
          <a:p>
            <a:pPr lvl="2"/>
            <a:r>
              <a:rPr dirty="0"/>
              <a:t>Actions: drive between adjacent cities</a:t>
            </a:r>
          </a:p>
          <a:p>
            <a:pPr lvl="1"/>
            <a:r>
              <a:rPr b="1" dirty="0"/>
              <a:t>Search</a:t>
            </a:r>
          </a:p>
          <a:p>
            <a:pPr lvl="2"/>
            <a:r>
              <a:rPr dirty="0"/>
              <a:t>Simulate action sequences</a:t>
            </a:r>
          </a:p>
          <a:p>
            <a:pPr lvl="2"/>
            <a:r>
              <a:rPr dirty="0"/>
              <a:t>Find sequence that reaches goal</a:t>
            </a:r>
          </a:p>
          <a:p>
            <a:pPr lvl="1"/>
            <a:r>
              <a:rPr b="1" dirty="0"/>
              <a:t>Execution</a:t>
            </a:r>
          </a:p>
          <a:p>
            <a:pPr lvl="2"/>
            <a:r>
              <a:rPr dirty="0"/>
              <a:t>Execute the solution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for This Chapter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assume environments </a:t>
            </a:r>
            <a:r>
              <a:rPr lang="en-CA" dirty="0"/>
              <a:t>that </a:t>
            </a:r>
            <a:r>
              <a:rPr dirty="0"/>
              <a:t>are:</a:t>
            </a:r>
          </a:p>
          <a:p>
            <a:pPr lvl="1"/>
            <a:r>
              <a:rPr b="1" dirty="0"/>
              <a:t>Single-agent:</a:t>
            </a:r>
            <a:r>
              <a:rPr dirty="0"/>
              <a:t> No other agents to consider</a:t>
            </a:r>
          </a:p>
          <a:p>
            <a:pPr lvl="1"/>
            <a:r>
              <a:rPr b="1" dirty="0"/>
              <a:t>Fully observable:</a:t>
            </a:r>
            <a:r>
              <a:rPr dirty="0"/>
              <a:t> Complete state information</a:t>
            </a:r>
          </a:p>
          <a:p>
            <a:pPr lvl="1"/>
            <a:r>
              <a:rPr b="1" dirty="0"/>
              <a:t>Deterministic:</a:t>
            </a:r>
            <a:r>
              <a:rPr dirty="0"/>
              <a:t> Actions have predictable outcomes</a:t>
            </a:r>
          </a:p>
          <a:p>
            <a:pPr lvl="1"/>
            <a:r>
              <a:rPr b="1" dirty="0"/>
              <a:t>Static:</a:t>
            </a:r>
            <a:r>
              <a:rPr dirty="0"/>
              <a:t> World doesn't change during planning</a:t>
            </a:r>
          </a:p>
          <a:p>
            <a:pPr lvl="1"/>
            <a:r>
              <a:rPr b="1" dirty="0"/>
              <a:t>Discrete:</a:t>
            </a:r>
            <a:r>
              <a:rPr dirty="0"/>
              <a:t> Finite, distinct states</a:t>
            </a:r>
          </a:p>
          <a:p>
            <a:pPr lvl="1"/>
            <a:r>
              <a:rPr b="1" dirty="0"/>
              <a:t>Known:</a:t>
            </a:r>
            <a:r>
              <a:rPr dirty="0"/>
              <a:t> We know the rules</a:t>
            </a:r>
          </a:p>
          <a:p>
            <a:endParaRPr dirty="0"/>
          </a:p>
          <a:p>
            <a:r>
              <a:rPr b="1" dirty="0"/>
              <a:t>Key Insight</a:t>
            </a:r>
            <a:r>
              <a:rPr dirty="0"/>
              <a:t>: In such environments, </a:t>
            </a:r>
            <a:r>
              <a:rPr b="1" dirty="0"/>
              <a:t>solution = fixed sequence of actions</a:t>
            </a:r>
          </a:p>
          <a:p>
            <a:endParaRPr dirty="0"/>
          </a:p>
          <a:p>
            <a:r>
              <a:rPr lang="en-US" dirty="0"/>
              <a:t>An </a:t>
            </a:r>
            <a:r>
              <a:rPr lang="en-US" b="1" dirty="0"/>
              <a:t>open-loop system </a:t>
            </a:r>
            <a:r>
              <a:rPr lang="en-US" dirty="0"/>
              <a:t>is one that does not use perceptual feedback to adjust its actions during execution.</a:t>
            </a:r>
          </a:p>
          <a:p>
            <a:pPr lvl="1"/>
            <a:r>
              <a:rPr lang="en-US" dirty="0"/>
              <a:t>So once it starts acting:</a:t>
            </a:r>
          </a:p>
          <a:p>
            <a:pPr lvl="2"/>
            <a:r>
              <a:rPr lang="en-US" dirty="0"/>
              <a:t>It does not look at new sensor data (percepts)</a:t>
            </a:r>
          </a:p>
          <a:p>
            <a:pPr lvl="2"/>
            <a:r>
              <a:rPr lang="en-US" dirty="0"/>
              <a:t>It simply follows a pre-planned sequence of actions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Problem - Formal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search problem consists of:</a:t>
            </a:r>
          </a:p>
          <a:p>
            <a:pPr lvl="1"/>
            <a:r>
              <a:rPr b="1" dirty="0"/>
              <a:t>State Space: </a:t>
            </a:r>
            <a:r>
              <a:rPr dirty="0"/>
              <a:t>Set of all possible states</a:t>
            </a:r>
          </a:p>
          <a:p>
            <a:pPr lvl="1"/>
            <a:r>
              <a:rPr b="1" dirty="0"/>
              <a:t>Initial State: </a:t>
            </a:r>
            <a:r>
              <a:rPr dirty="0"/>
              <a:t>Where agent starts (e.g., Arad)</a:t>
            </a:r>
          </a:p>
          <a:p>
            <a:pPr lvl="1"/>
            <a:r>
              <a:rPr b="1" dirty="0"/>
              <a:t>Goal State(s): </a:t>
            </a:r>
            <a:r>
              <a:rPr dirty="0"/>
              <a:t>One or more target states (e.g., Bucharest)</a:t>
            </a:r>
          </a:p>
          <a:p>
            <a:pPr lvl="1"/>
            <a:r>
              <a:rPr b="1" dirty="0"/>
              <a:t>Actions: </a:t>
            </a:r>
            <a:r>
              <a:rPr dirty="0"/>
              <a:t>ACTIONS(s) returns applicable actions in state s</a:t>
            </a:r>
          </a:p>
          <a:p>
            <a:pPr lvl="1"/>
            <a:r>
              <a:rPr b="1" dirty="0"/>
              <a:t>Transition Model: </a:t>
            </a:r>
            <a:r>
              <a:rPr dirty="0"/>
              <a:t>RESULT(s, a) returns resulting state</a:t>
            </a:r>
          </a:p>
          <a:p>
            <a:pPr lvl="1"/>
            <a:r>
              <a:rPr b="1" dirty="0"/>
              <a:t>Action Cost Function: </a:t>
            </a:r>
            <a:r>
              <a:rPr dirty="0"/>
              <a:t>ACTION-COST(s, a, s') gives numeric cost</a:t>
            </a:r>
          </a:p>
          <a:p>
            <a:endParaRPr dirty="0"/>
          </a:p>
          <a:p>
            <a:r>
              <a:rPr b="1" dirty="0"/>
              <a:t>Solution</a:t>
            </a:r>
            <a:r>
              <a:rPr dirty="0"/>
              <a:t>: Path from initial state to goal state</a:t>
            </a:r>
          </a:p>
          <a:p>
            <a:r>
              <a:rPr b="1" dirty="0"/>
              <a:t>Optimal</a:t>
            </a:r>
            <a:r>
              <a:rPr dirty="0"/>
              <a:t> </a:t>
            </a:r>
            <a:r>
              <a:rPr b="1" dirty="0"/>
              <a:t>Solution</a:t>
            </a:r>
            <a:r>
              <a:rPr dirty="0"/>
              <a:t>: Solution with lowest path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1F6F9D-3806-4B9F-9958-6643486D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19" y="1779410"/>
            <a:ext cx="4043082" cy="32783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- Romania Road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4822825" cy="4530725"/>
          </a:xfrm>
        </p:spPr>
        <p:txBody>
          <a:bodyPr/>
          <a:lstStyle/>
          <a:p>
            <a:r>
              <a:rPr b="1" dirty="0"/>
              <a:t>Problem</a:t>
            </a:r>
            <a:r>
              <a:rPr dirty="0"/>
              <a:t>:</a:t>
            </a:r>
          </a:p>
          <a:p>
            <a:pPr lvl="1"/>
            <a:r>
              <a:rPr b="1" dirty="0"/>
              <a:t>States</a:t>
            </a:r>
            <a:r>
              <a:rPr dirty="0"/>
              <a:t>: Cities (Arad, Sibiu, Bucharest, etc.)</a:t>
            </a:r>
          </a:p>
          <a:p>
            <a:pPr lvl="1"/>
            <a:r>
              <a:rPr b="1" dirty="0"/>
              <a:t>Initial</a:t>
            </a:r>
            <a:r>
              <a:rPr dirty="0"/>
              <a:t> </a:t>
            </a:r>
            <a:r>
              <a:rPr b="1" dirty="0"/>
              <a:t>State</a:t>
            </a:r>
            <a:r>
              <a:rPr dirty="0"/>
              <a:t>: Arad</a:t>
            </a:r>
          </a:p>
          <a:p>
            <a:pPr lvl="1"/>
            <a:r>
              <a:rPr b="1" dirty="0"/>
              <a:t>Goal</a:t>
            </a:r>
            <a:r>
              <a:rPr dirty="0"/>
              <a:t>: Bucharest</a:t>
            </a:r>
          </a:p>
          <a:p>
            <a:pPr lvl="1"/>
            <a:r>
              <a:rPr b="1" dirty="0"/>
              <a:t>Actions</a:t>
            </a:r>
            <a:r>
              <a:rPr dirty="0"/>
              <a:t>: Drive to adjacent city</a:t>
            </a:r>
          </a:p>
          <a:p>
            <a:pPr lvl="2"/>
            <a:r>
              <a:rPr dirty="0"/>
              <a:t>ACTIONS(Arad) = {</a:t>
            </a:r>
            <a:r>
              <a:rPr dirty="0" err="1"/>
              <a:t>ToSibiu</a:t>
            </a:r>
            <a:r>
              <a:rPr dirty="0"/>
              <a:t>, </a:t>
            </a:r>
            <a:r>
              <a:rPr dirty="0" err="1"/>
              <a:t>ToTimisoara</a:t>
            </a:r>
            <a:r>
              <a:rPr dirty="0"/>
              <a:t>, </a:t>
            </a:r>
            <a:r>
              <a:rPr dirty="0" err="1"/>
              <a:t>ToZerind</a:t>
            </a:r>
            <a:r>
              <a:rPr dirty="0"/>
              <a:t>}</a:t>
            </a:r>
          </a:p>
          <a:p>
            <a:pPr lvl="1"/>
            <a:r>
              <a:rPr b="1" dirty="0"/>
              <a:t>Transition</a:t>
            </a:r>
            <a:r>
              <a:rPr dirty="0"/>
              <a:t> </a:t>
            </a:r>
            <a:r>
              <a:rPr b="1" dirty="0"/>
              <a:t>Model</a:t>
            </a:r>
            <a:r>
              <a:rPr dirty="0"/>
              <a:t>:</a:t>
            </a:r>
          </a:p>
          <a:p>
            <a:pPr lvl="2"/>
            <a:r>
              <a:rPr dirty="0"/>
              <a:t>RESULT(Arad, </a:t>
            </a:r>
            <a:r>
              <a:rPr dirty="0" err="1"/>
              <a:t>ToZerind</a:t>
            </a:r>
            <a:r>
              <a:rPr dirty="0"/>
              <a:t>) = </a:t>
            </a:r>
            <a:r>
              <a:rPr dirty="0" err="1"/>
              <a:t>Zerind</a:t>
            </a:r>
            <a:endParaRPr dirty="0"/>
          </a:p>
          <a:p>
            <a:pPr lvl="1"/>
            <a:r>
              <a:rPr b="1" dirty="0"/>
              <a:t>Action</a:t>
            </a:r>
            <a:r>
              <a:rPr dirty="0"/>
              <a:t> </a:t>
            </a:r>
            <a:r>
              <a:rPr b="1" dirty="0"/>
              <a:t>Costs</a:t>
            </a:r>
            <a:r>
              <a:rPr dirty="0"/>
              <a:t>: Road distances in miles</a:t>
            </a:r>
            <a:endParaRPr lang="en-CA" dirty="0"/>
          </a:p>
          <a:p>
            <a:endParaRPr dirty="0"/>
          </a:p>
          <a:p>
            <a:r>
              <a:rPr b="1" dirty="0"/>
              <a:t>State Space Graph</a:t>
            </a:r>
            <a:r>
              <a:rPr dirty="0"/>
              <a:t>: 20 cities, roads as edges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 -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 World vs. Abstract Model:</a:t>
            </a:r>
          </a:p>
          <a:p>
            <a:r>
              <a:rPr b="1" dirty="0"/>
              <a:t>Real world </a:t>
            </a:r>
            <a:r>
              <a:rPr dirty="0"/>
              <a:t>state includes:</a:t>
            </a:r>
          </a:p>
          <a:p>
            <a:pPr lvl="1"/>
            <a:r>
              <a:rPr dirty="0"/>
              <a:t>Traveling companions</a:t>
            </a:r>
          </a:p>
          <a:p>
            <a:pPr lvl="1"/>
            <a:r>
              <a:rPr dirty="0"/>
              <a:t>Radio program</a:t>
            </a:r>
          </a:p>
          <a:p>
            <a:pPr lvl="1"/>
            <a:r>
              <a:rPr dirty="0"/>
              <a:t>Scenery</a:t>
            </a:r>
          </a:p>
          <a:p>
            <a:pPr lvl="1"/>
            <a:r>
              <a:rPr dirty="0"/>
              <a:t>Police proximity</a:t>
            </a:r>
          </a:p>
          <a:p>
            <a:pPr lvl="1"/>
            <a:r>
              <a:rPr dirty="0"/>
              <a:t>Road conditions</a:t>
            </a:r>
          </a:p>
          <a:p>
            <a:pPr lvl="1"/>
            <a:r>
              <a:rPr dirty="0"/>
              <a:t>Weather, traffic, etc.</a:t>
            </a:r>
          </a:p>
          <a:p>
            <a:r>
              <a:rPr b="1" dirty="0"/>
              <a:t>Abstract state</a:t>
            </a:r>
            <a:r>
              <a:rPr dirty="0"/>
              <a:t>:</a:t>
            </a:r>
          </a:p>
          <a:p>
            <a:pPr lvl="1"/>
            <a:r>
              <a:rPr dirty="0"/>
              <a:t>Just: "In Arad" or "In Sibiu"</a:t>
            </a:r>
          </a:p>
          <a:p>
            <a:r>
              <a:rPr b="1" dirty="0"/>
              <a:t>Abstraction</a:t>
            </a:r>
            <a:r>
              <a:rPr dirty="0"/>
              <a:t>: Removing detail from representation</a:t>
            </a:r>
          </a:p>
          <a:p>
            <a:pPr lvl="1"/>
            <a:r>
              <a:rPr dirty="0"/>
              <a:t>Must be </a:t>
            </a:r>
            <a:r>
              <a:rPr b="1" dirty="0"/>
              <a:t>valid</a:t>
            </a:r>
            <a:r>
              <a:rPr dirty="0"/>
              <a:t>: Abstract solution → detailed solution</a:t>
            </a:r>
          </a:p>
          <a:p>
            <a:pPr lvl="1"/>
            <a:r>
              <a:rPr dirty="0"/>
              <a:t>Must be </a:t>
            </a:r>
            <a:r>
              <a:rPr b="1" dirty="0"/>
              <a:t>useful</a:t>
            </a:r>
            <a:r>
              <a:rPr dirty="0"/>
              <a:t>: Abstract actions easier than original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Problems - Grid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Grid World</a:t>
            </a:r>
            <a:r>
              <a:rPr dirty="0"/>
              <a:t>:</a:t>
            </a:r>
          </a:p>
          <a:p>
            <a:pPr lvl="1"/>
            <a:r>
              <a:rPr dirty="0"/>
              <a:t>2D rectangular array of square cells</a:t>
            </a:r>
          </a:p>
          <a:p>
            <a:pPr lvl="1"/>
            <a:r>
              <a:rPr dirty="0"/>
              <a:t>Agent moves between adjacent cells (horizontally/vertically)</a:t>
            </a:r>
          </a:p>
          <a:p>
            <a:pPr lvl="1"/>
            <a:r>
              <a:rPr dirty="0"/>
              <a:t>May contain obstacles, objects</a:t>
            </a:r>
          </a:p>
          <a:p>
            <a:endParaRPr dirty="0"/>
          </a:p>
          <a:p>
            <a:r>
              <a:rPr b="1" dirty="0"/>
              <a:t>Vacuum World as Grid</a:t>
            </a:r>
            <a:r>
              <a:rPr dirty="0"/>
              <a:t>:</a:t>
            </a:r>
          </a:p>
          <a:p>
            <a:pPr lvl="1"/>
            <a:r>
              <a:rPr dirty="0"/>
              <a:t>States: Agent location + dirt locations</a:t>
            </a:r>
          </a:p>
          <a:p>
            <a:pPr lvl="1"/>
            <a:r>
              <a:rPr dirty="0"/>
              <a:t>2 cells: 2 × 2² = 8 states</a:t>
            </a:r>
          </a:p>
          <a:p>
            <a:pPr lvl="1"/>
            <a:r>
              <a:rPr dirty="0"/>
              <a:t>n cells: n × 2ⁿ states</a:t>
            </a:r>
          </a:p>
          <a:p>
            <a:pPr lvl="1"/>
            <a:r>
              <a:rPr dirty="0"/>
              <a:t>Actions: Left, Right, </a:t>
            </a:r>
            <a:r>
              <a:rPr lang="en-CA" dirty="0"/>
              <a:t>Pickup Dirt</a:t>
            </a:r>
            <a:endParaRPr dirty="0"/>
          </a:p>
          <a:p>
            <a:pPr lvl="1"/>
            <a:r>
              <a:rPr dirty="0"/>
              <a:t>Goal: Every cell clean</a:t>
            </a:r>
          </a:p>
          <a:p>
            <a:pPr lvl="1"/>
            <a:r>
              <a:rPr dirty="0"/>
              <a:t>Cost: Each action costs 1</a:t>
            </a:r>
          </a:p>
        </p:txBody>
      </p:sp>
      <p:pic>
        <p:nvPicPr>
          <p:cNvPr id="2050" name="Picture 2" descr="Grid world problem: The agent moves in four directions to find the goal...  | Download Scientific Diagram">
            <a:extLst>
              <a:ext uri="{FF2B5EF4-FFF2-40B4-BE49-F238E27FC236}">
                <a16:creationId xmlns:a16="http://schemas.microsoft.com/office/drawing/2014/main" id="{6E1090BC-FD45-4F8B-AB61-68C66E1F9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877" y="2419631"/>
            <a:ext cx="24669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Problems - Sliding Tile Puzzles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4975578" cy="4530725"/>
          </a:xfrm>
        </p:spPr>
        <p:txBody>
          <a:bodyPr/>
          <a:lstStyle/>
          <a:p>
            <a:r>
              <a:rPr b="1" dirty="0"/>
              <a:t>8-Puzzle:</a:t>
            </a:r>
          </a:p>
          <a:p>
            <a:pPr lvl="1"/>
            <a:r>
              <a:rPr dirty="0"/>
              <a:t>3×3 grid with 8 numbered tiles + 1 blank</a:t>
            </a:r>
          </a:p>
          <a:p>
            <a:pPr lvl="1"/>
            <a:r>
              <a:rPr dirty="0"/>
              <a:t>States: Location of each tile</a:t>
            </a:r>
          </a:p>
          <a:p>
            <a:pPr lvl="1"/>
            <a:r>
              <a:rPr dirty="0"/>
              <a:t>Actions: Slide blank Left, Right, Up, Down</a:t>
            </a:r>
          </a:p>
          <a:p>
            <a:pPr lvl="1"/>
            <a:r>
              <a:rPr dirty="0"/>
              <a:t>Goal: Tiles in order</a:t>
            </a:r>
          </a:p>
          <a:p>
            <a:pPr lvl="1"/>
            <a:r>
              <a:rPr dirty="0"/>
              <a:t>State Space: 9!/2 = 181,440 reachable states</a:t>
            </a:r>
          </a:p>
          <a:p>
            <a:endParaRPr dirty="0"/>
          </a:p>
          <a:p>
            <a:r>
              <a:rPr b="1" dirty="0"/>
              <a:t>15-Puzzle:</a:t>
            </a:r>
          </a:p>
          <a:p>
            <a:pPr lvl="1"/>
            <a:r>
              <a:rPr dirty="0"/>
              <a:t>4×4 grid: 16!/2 &gt; 10 trillion states!</a:t>
            </a:r>
          </a:p>
          <a:p>
            <a:endParaRPr dirty="0"/>
          </a:p>
          <a:p>
            <a:r>
              <a:rPr b="1" dirty="0"/>
              <a:t>Note</a:t>
            </a:r>
            <a:r>
              <a:rPr dirty="0"/>
              <a:t>: Action is conceptually moving the blank, not the tiles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E36BF-BB29-4AC6-A5C1-FD77E9C1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28" y="1658546"/>
            <a:ext cx="3254022" cy="16917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Problems -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Route Finding:</a:t>
            </a:r>
          </a:p>
          <a:p>
            <a:pPr lvl="1"/>
            <a:r>
              <a:rPr dirty="0"/>
              <a:t>Navigation systems, network routing, military planning</a:t>
            </a:r>
          </a:p>
          <a:p>
            <a:endParaRPr dirty="0"/>
          </a:p>
          <a:p>
            <a:r>
              <a:rPr b="1" dirty="0"/>
              <a:t>Touring Problems:</a:t>
            </a:r>
          </a:p>
          <a:p>
            <a:pPr lvl="1"/>
            <a:r>
              <a:rPr dirty="0"/>
              <a:t>Visit multiple locations</a:t>
            </a:r>
          </a:p>
          <a:p>
            <a:pPr lvl="1"/>
            <a:r>
              <a:rPr dirty="0"/>
              <a:t>Traveling Salesperson Problem (TSP): visit every city</a:t>
            </a:r>
          </a:p>
          <a:p>
            <a:endParaRPr dirty="0"/>
          </a:p>
          <a:p>
            <a:r>
              <a:rPr b="1" dirty="0"/>
              <a:t>VLSI Layout:</a:t>
            </a:r>
          </a:p>
          <a:p>
            <a:pPr lvl="1"/>
            <a:r>
              <a:rPr dirty="0"/>
              <a:t>Position millions of components on chip</a:t>
            </a:r>
          </a:p>
          <a:p>
            <a:endParaRPr dirty="0"/>
          </a:p>
          <a:p>
            <a:r>
              <a:rPr b="1" dirty="0"/>
              <a:t>Robot Navigation:</a:t>
            </a:r>
          </a:p>
          <a:p>
            <a:pPr lvl="1"/>
            <a:r>
              <a:rPr dirty="0"/>
              <a:t>Move in continuous space with obstacles</a:t>
            </a:r>
          </a:p>
          <a:p>
            <a:endParaRPr dirty="0"/>
          </a:p>
          <a:p>
            <a:r>
              <a:rPr b="1" dirty="0"/>
              <a:t>Assembly Sequencing:</a:t>
            </a:r>
          </a:p>
          <a:p>
            <a:pPr lvl="1"/>
            <a:r>
              <a:rPr dirty="0"/>
              <a:t>Order to assemble complex objects (e.g., electric motors)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Trees and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5708650" cy="4530725"/>
          </a:xfrm>
        </p:spPr>
        <p:txBody>
          <a:bodyPr/>
          <a:lstStyle/>
          <a:p>
            <a:r>
              <a:rPr b="1" dirty="0"/>
              <a:t>State Space Graph</a:t>
            </a:r>
            <a:r>
              <a:rPr dirty="0"/>
              <a:t>:</a:t>
            </a:r>
          </a:p>
          <a:p>
            <a:pPr lvl="1"/>
            <a:r>
              <a:rPr dirty="0"/>
              <a:t>Vertices = states</a:t>
            </a:r>
          </a:p>
          <a:p>
            <a:pPr lvl="1"/>
            <a:r>
              <a:rPr dirty="0"/>
              <a:t>Edges = actions</a:t>
            </a:r>
          </a:p>
          <a:p>
            <a:pPr lvl="1"/>
            <a:r>
              <a:rPr dirty="0"/>
              <a:t>Describes the world</a:t>
            </a:r>
          </a:p>
          <a:p>
            <a:pPr lvl="1"/>
            <a:endParaRPr dirty="0"/>
          </a:p>
          <a:p>
            <a:r>
              <a:rPr b="1" dirty="0"/>
              <a:t>Search Tree</a:t>
            </a:r>
            <a:r>
              <a:rPr dirty="0"/>
              <a:t>:</a:t>
            </a:r>
          </a:p>
          <a:p>
            <a:pPr lvl="1"/>
            <a:r>
              <a:rPr dirty="0"/>
              <a:t>Root = initial state</a:t>
            </a:r>
          </a:p>
          <a:p>
            <a:pPr lvl="1"/>
            <a:r>
              <a:rPr dirty="0"/>
              <a:t>Nodes = states reached via different paths</a:t>
            </a:r>
          </a:p>
          <a:p>
            <a:pPr lvl="1"/>
            <a:r>
              <a:rPr dirty="0"/>
              <a:t>Describes paths explored</a:t>
            </a:r>
          </a:p>
          <a:p>
            <a:pPr lvl="1"/>
            <a:r>
              <a:rPr dirty="0"/>
              <a:t>May have multiple nodes for same state!</a:t>
            </a:r>
          </a:p>
          <a:p>
            <a:endParaRPr dirty="0"/>
          </a:p>
          <a:p>
            <a:r>
              <a:rPr dirty="0"/>
              <a:t>Key Distinction: Search tree has </a:t>
            </a:r>
            <a:r>
              <a:rPr b="1" dirty="0"/>
              <a:t>unique path to root</a:t>
            </a:r>
            <a:r>
              <a:rPr dirty="0"/>
              <a:t>; state space graph may have cycles</a:t>
            </a:r>
          </a:p>
        </p:txBody>
      </p:sp>
      <p:pic>
        <p:nvPicPr>
          <p:cNvPr id="1026" name="Picture 2" descr="Process state transition diagram | Download Scientific Diagram">
            <a:extLst>
              <a:ext uri="{FF2B5EF4-FFF2-40B4-BE49-F238E27FC236}">
                <a16:creationId xmlns:a16="http://schemas.microsoft.com/office/drawing/2014/main" id="{62ABCC99-291E-48BB-AC53-EE17F1854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54075"/>
            <a:ext cx="4048125" cy="178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9BBAFB-6517-4B72-BF09-DC1CEDE04EE1}"/>
              </a:ext>
            </a:extLst>
          </p:cNvPr>
          <p:cNvSpPr txBox="1"/>
          <p:nvPr/>
        </p:nvSpPr>
        <p:spPr>
          <a:xfrm>
            <a:off x="6086475" y="2638603"/>
            <a:ext cx="347662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/>
              <a:t>New</a:t>
            </a:r>
          </a:p>
          <a:p>
            <a:r>
              <a:rPr lang="en-CA" sz="1100" dirty="0"/>
              <a:t>└── Ready</a:t>
            </a:r>
          </a:p>
          <a:p>
            <a:r>
              <a:rPr lang="en-CA" sz="1100" dirty="0"/>
              <a:t>    └── Running</a:t>
            </a:r>
          </a:p>
          <a:p>
            <a:r>
              <a:rPr lang="en-CA" sz="1100" dirty="0"/>
              <a:t>        ├── Terminated</a:t>
            </a:r>
          </a:p>
          <a:p>
            <a:r>
              <a:rPr lang="en-CA" sz="1100" dirty="0"/>
              <a:t>        ├── Ready</a:t>
            </a:r>
          </a:p>
          <a:p>
            <a:r>
              <a:rPr lang="en-CA" sz="1100" dirty="0"/>
              <a:t>        │   └── Running</a:t>
            </a:r>
          </a:p>
          <a:p>
            <a:r>
              <a:rPr lang="en-CA" sz="1100" dirty="0"/>
              <a:t>        │       ├── Terminated</a:t>
            </a:r>
          </a:p>
          <a:p>
            <a:r>
              <a:rPr lang="en-CA" sz="1100" dirty="0"/>
              <a:t>        │       ├── Ready</a:t>
            </a:r>
          </a:p>
          <a:p>
            <a:r>
              <a:rPr lang="en-CA" sz="1100" dirty="0"/>
              <a:t>        │       │   └── Running</a:t>
            </a:r>
          </a:p>
          <a:p>
            <a:r>
              <a:rPr lang="en-CA" sz="1100" dirty="0"/>
              <a:t>        │       │       └── ...</a:t>
            </a:r>
          </a:p>
          <a:p>
            <a:r>
              <a:rPr lang="en-CA" sz="1100" dirty="0"/>
              <a:t>        │       └── Waiting</a:t>
            </a:r>
          </a:p>
          <a:p>
            <a:r>
              <a:rPr lang="en-CA" sz="1100" dirty="0"/>
              <a:t>        │           └── Ready</a:t>
            </a:r>
          </a:p>
          <a:p>
            <a:r>
              <a:rPr lang="en-CA" sz="1100" dirty="0"/>
              <a:t>        │               └── Running</a:t>
            </a:r>
          </a:p>
          <a:p>
            <a:r>
              <a:rPr lang="en-CA" sz="1100" dirty="0"/>
              <a:t>        │                   └── ...</a:t>
            </a:r>
          </a:p>
          <a:p>
            <a:r>
              <a:rPr lang="en-CA" sz="1100" dirty="0"/>
              <a:t>        └── Waiting</a:t>
            </a:r>
          </a:p>
          <a:p>
            <a:r>
              <a:rPr lang="en-CA" sz="1100" dirty="0"/>
              <a:t>            └── Ready</a:t>
            </a:r>
          </a:p>
          <a:p>
            <a:r>
              <a:rPr lang="en-CA" sz="1100" dirty="0"/>
              <a:t>                └── Running</a:t>
            </a:r>
          </a:p>
          <a:p>
            <a:r>
              <a:rPr lang="en-CA" sz="1100" dirty="0"/>
              <a:t>                    ├── Terminated</a:t>
            </a:r>
          </a:p>
          <a:p>
            <a:r>
              <a:rPr lang="en-CA" sz="1100" dirty="0"/>
              <a:t>                    ├── Ready</a:t>
            </a:r>
          </a:p>
          <a:p>
            <a:r>
              <a:rPr lang="en-CA" sz="1100" dirty="0"/>
              <a:t>                    │   └── Running</a:t>
            </a:r>
          </a:p>
          <a:p>
            <a:r>
              <a:rPr lang="en-CA" sz="1100" dirty="0"/>
              <a:t>                    │       └── ...</a:t>
            </a:r>
          </a:p>
          <a:p>
            <a:r>
              <a:rPr lang="en-CA" sz="1100" dirty="0"/>
              <a:t>                    └── Waiting</a:t>
            </a:r>
          </a:p>
          <a:p>
            <a:r>
              <a:rPr lang="en-CA" sz="1100" dirty="0"/>
              <a:t>                        └── Ready</a:t>
            </a:r>
          </a:p>
          <a:p>
            <a:r>
              <a:rPr lang="en-CA" sz="1100" dirty="0"/>
              <a:t>                            └── Running</a:t>
            </a:r>
          </a:p>
          <a:p>
            <a:r>
              <a:rPr lang="en-CA" sz="1100" dirty="0"/>
              <a:t>                                └──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Tree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346699"/>
          </a:xfrm>
        </p:spPr>
        <p:txBody>
          <a:bodyPr/>
          <a:lstStyle/>
          <a:p>
            <a:r>
              <a:rPr b="1" dirty="0"/>
              <a:t>Node</a:t>
            </a:r>
            <a:r>
              <a:rPr dirty="0"/>
              <a:t>: Data structure in search tree</a:t>
            </a:r>
          </a:p>
          <a:p>
            <a:pPr lvl="1"/>
            <a:r>
              <a:rPr dirty="0" err="1"/>
              <a:t>node.STATE</a:t>
            </a:r>
            <a:r>
              <a:rPr dirty="0"/>
              <a:t>: The state it represents</a:t>
            </a:r>
          </a:p>
          <a:p>
            <a:pPr lvl="1"/>
            <a:r>
              <a:rPr dirty="0" err="1"/>
              <a:t>node.PARENT</a:t>
            </a:r>
            <a:r>
              <a:rPr dirty="0"/>
              <a:t>: The node that generated it</a:t>
            </a:r>
          </a:p>
          <a:p>
            <a:pPr lvl="1"/>
            <a:r>
              <a:rPr dirty="0" err="1"/>
              <a:t>node.ACTION</a:t>
            </a:r>
            <a:r>
              <a:rPr dirty="0"/>
              <a:t>: Action from parent to this node</a:t>
            </a:r>
          </a:p>
          <a:p>
            <a:pPr lvl="1"/>
            <a:r>
              <a:rPr dirty="0" err="1"/>
              <a:t>node.PATH</a:t>
            </a:r>
            <a:r>
              <a:rPr dirty="0"/>
              <a:t>-COST: Total cost from initial state (g(n))</a:t>
            </a:r>
          </a:p>
          <a:p>
            <a:endParaRPr dirty="0"/>
          </a:p>
          <a:p>
            <a:r>
              <a:rPr b="1" dirty="0"/>
              <a:t>Expanding</a:t>
            </a:r>
            <a:r>
              <a:rPr dirty="0"/>
              <a:t> </a:t>
            </a:r>
            <a:r>
              <a:rPr b="1" dirty="0"/>
              <a:t>a</a:t>
            </a:r>
            <a:r>
              <a:rPr dirty="0"/>
              <a:t> </a:t>
            </a:r>
            <a:r>
              <a:rPr b="1" dirty="0"/>
              <a:t>node</a:t>
            </a:r>
            <a:r>
              <a:rPr dirty="0"/>
              <a:t>: Generate its successors</a:t>
            </a:r>
          </a:p>
          <a:p>
            <a:r>
              <a:rPr b="1" dirty="0"/>
              <a:t>Frontier</a:t>
            </a:r>
            <a:r>
              <a:rPr dirty="0"/>
              <a:t>: Set of nodes available for expansion (also called "open list")</a:t>
            </a:r>
          </a:p>
          <a:p>
            <a:r>
              <a:rPr b="1" dirty="0"/>
              <a:t>Reached</a:t>
            </a:r>
            <a:r>
              <a:rPr dirty="0"/>
              <a:t>: States we've already generated nodes for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- Search Tree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5187952"/>
            <a:ext cx="8229600" cy="576262"/>
          </a:xfrm>
        </p:spPr>
        <p:txBody>
          <a:bodyPr/>
          <a:lstStyle/>
          <a:p>
            <a:r>
              <a:rPr dirty="0"/>
              <a:t>Frontier separates:</a:t>
            </a:r>
          </a:p>
          <a:p>
            <a:pPr lvl="1"/>
            <a:r>
              <a:rPr b="1" dirty="0"/>
              <a:t>Interior</a:t>
            </a:r>
            <a:r>
              <a:rPr dirty="0"/>
              <a:t>: Expanded states</a:t>
            </a:r>
          </a:p>
          <a:p>
            <a:pPr lvl="1"/>
            <a:r>
              <a:rPr b="1" dirty="0"/>
              <a:t>Frontier</a:t>
            </a:r>
            <a:r>
              <a:rPr dirty="0"/>
              <a:t>: Reached but not expanded</a:t>
            </a:r>
          </a:p>
          <a:p>
            <a:pPr lvl="1"/>
            <a:r>
              <a:rPr b="1" dirty="0"/>
              <a:t>Exterior</a:t>
            </a:r>
            <a:r>
              <a:rPr dirty="0"/>
              <a:t>: Not yet reached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00724-3869-4410-9AB3-8D999D3B0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157" y="1285065"/>
            <a:ext cx="4884843" cy="4023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3BB704-5CD6-434D-82A8-7F152AF62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0" y="1204146"/>
            <a:ext cx="4351397" cy="35283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Redundant Paths and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Problem: Same state reachable via multiple paths</a:t>
            </a:r>
          </a:p>
          <a:p>
            <a:endParaRPr dirty="0"/>
          </a:p>
          <a:p>
            <a:r>
              <a:rPr b="1" dirty="0"/>
              <a:t>Example</a:t>
            </a:r>
            <a:r>
              <a:rPr dirty="0"/>
              <a:t>:</a:t>
            </a:r>
          </a:p>
          <a:p>
            <a:pPr lvl="1"/>
            <a:r>
              <a:rPr dirty="0"/>
              <a:t>Arad → Sibiu (140 miles)</a:t>
            </a:r>
          </a:p>
          <a:p>
            <a:pPr lvl="1"/>
            <a:r>
              <a:rPr dirty="0"/>
              <a:t>Arad → </a:t>
            </a:r>
            <a:r>
              <a:rPr dirty="0" err="1"/>
              <a:t>Zerind</a:t>
            </a:r>
            <a:r>
              <a:rPr dirty="0"/>
              <a:t> → Oradea → Sibiu (297 miles)</a:t>
            </a:r>
          </a:p>
          <a:p>
            <a:endParaRPr dirty="0"/>
          </a:p>
          <a:p>
            <a:r>
              <a:rPr b="1" dirty="0"/>
              <a:t>Cycle</a:t>
            </a:r>
            <a:r>
              <a:rPr dirty="0"/>
              <a:t>: Arad → Sibiu → Arad → Sibiu → ...</a:t>
            </a:r>
          </a:p>
          <a:p>
            <a:pPr lvl="1"/>
            <a:r>
              <a:rPr dirty="0"/>
              <a:t>Without checking:</a:t>
            </a:r>
          </a:p>
          <a:p>
            <a:pPr lvl="1"/>
            <a:r>
              <a:rPr dirty="0"/>
              <a:t>10×10 grid: 100 states, ~100 million paths of length 9!</a:t>
            </a:r>
          </a:p>
          <a:p>
            <a:pPr lvl="1"/>
            <a:r>
              <a:rPr dirty="0"/>
              <a:t>With checking: ~100 paths</a:t>
            </a:r>
          </a:p>
          <a:p>
            <a:endParaRPr dirty="0"/>
          </a:p>
          <a:p>
            <a:r>
              <a:rPr b="1" dirty="0"/>
              <a:t>Solution</a:t>
            </a:r>
            <a:r>
              <a:rPr dirty="0"/>
              <a:t>: Keep track of reached states</a:t>
            </a:r>
          </a:p>
          <a:p>
            <a:r>
              <a:rPr b="1" dirty="0"/>
              <a:t>Graph</a:t>
            </a:r>
            <a:r>
              <a:rPr dirty="0"/>
              <a:t> </a:t>
            </a:r>
            <a:r>
              <a:rPr b="1" dirty="0"/>
              <a:t>search</a:t>
            </a:r>
            <a:r>
              <a:rPr dirty="0"/>
              <a:t>: Check for redundant paths</a:t>
            </a:r>
          </a:p>
          <a:p>
            <a:r>
              <a:rPr b="1" dirty="0"/>
              <a:t>Tree-like</a:t>
            </a:r>
            <a:r>
              <a:rPr dirty="0"/>
              <a:t> </a:t>
            </a:r>
            <a:r>
              <a:rPr b="1" dirty="0"/>
              <a:t>search</a:t>
            </a:r>
            <a:r>
              <a:rPr dirty="0"/>
              <a:t>: Don't check (uses less memory, visits states multiple times)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Measuring Search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Four Criteria:</a:t>
            </a:r>
          </a:p>
          <a:p>
            <a:pPr lvl="1"/>
            <a:r>
              <a:rPr b="1" dirty="0"/>
              <a:t>Completeness: </a:t>
            </a:r>
            <a:r>
              <a:rPr dirty="0"/>
              <a:t>Guaranteed to find solution when one exists?</a:t>
            </a:r>
          </a:p>
          <a:p>
            <a:pPr lvl="1"/>
            <a:r>
              <a:rPr b="1" dirty="0"/>
              <a:t>Cost Optimality: </a:t>
            </a:r>
            <a:r>
              <a:rPr dirty="0"/>
              <a:t>Finds lowest-cost solution?</a:t>
            </a:r>
          </a:p>
          <a:p>
            <a:pPr lvl="1"/>
            <a:r>
              <a:rPr b="1" dirty="0"/>
              <a:t>Time Complexity: </a:t>
            </a:r>
            <a:r>
              <a:rPr dirty="0"/>
              <a:t>How long to find solution?</a:t>
            </a:r>
          </a:p>
          <a:p>
            <a:pPr lvl="2"/>
            <a:r>
              <a:rPr dirty="0"/>
              <a:t>Measured in number of nodes generated</a:t>
            </a:r>
          </a:p>
          <a:p>
            <a:pPr lvl="1"/>
            <a:r>
              <a:rPr b="1" dirty="0"/>
              <a:t>Space Complexity: </a:t>
            </a:r>
            <a:r>
              <a:rPr dirty="0"/>
              <a:t>Maximum memory needed?</a:t>
            </a:r>
          </a:p>
          <a:p>
            <a:pPr lvl="2"/>
            <a:r>
              <a:rPr dirty="0"/>
              <a:t>Measured in maximum number of nodes stored</a:t>
            </a:r>
          </a:p>
          <a:p>
            <a:pPr lvl="1"/>
            <a:endParaRPr dirty="0"/>
          </a:p>
          <a:p>
            <a:pPr lvl="1"/>
            <a:r>
              <a:rPr b="1" dirty="0"/>
              <a:t>Complexity Parameters:</a:t>
            </a:r>
          </a:p>
          <a:p>
            <a:pPr lvl="2"/>
            <a:r>
              <a:rPr dirty="0"/>
              <a:t>b: Branching factor (number of successors)</a:t>
            </a:r>
          </a:p>
          <a:p>
            <a:pPr lvl="2"/>
            <a:r>
              <a:rPr dirty="0"/>
              <a:t>d: Depth of shallowest solution</a:t>
            </a:r>
          </a:p>
          <a:p>
            <a:pPr lvl="2"/>
            <a:r>
              <a:rPr dirty="0"/>
              <a:t>m: Maximum depth of search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Uninformed vs. 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Uninformed Search</a:t>
            </a:r>
            <a:r>
              <a:rPr dirty="0"/>
              <a:t>:</a:t>
            </a:r>
          </a:p>
          <a:p>
            <a:pPr lvl="1"/>
            <a:r>
              <a:rPr dirty="0"/>
              <a:t>No information about how close a state is to goal</a:t>
            </a:r>
          </a:p>
          <a:p>
            <a:pPr lvl="1"/>
            <a:r>
              <a:rPr dirty="0"/>
              <a:t>Only knows: This is/isn't a goal</a:t>
            </a:r>
          </a:p>
          <a:p>
            <a:pPr lvl="1"/>
            <a:r>
              <a:rPr dirty="0"/>
              <a:t>Examples: Breadth-first, Depth-first, Uniform-cost</a:t>
            </a:r>
          </a:p>
          <a:p>
            <a:endParaRPr dirty="0"/>
          </a:p>
          <a:p>
            <a:r>
              <a:rPr b="1" dirty="0"/>
              <a:t>Informed Search</a:t>
            </a:r>
            <a:r>
              <a:rPr dirty="0"/>
              <a:t>:</a:t>
            </a:r>
          </a:p>
          <a:p>
            <a:pPr lvl="1"/>
            <a:r>
              <a:rPr dirty="0"/>
              <a:t>Has hints about distance to goal</a:t>
            </a:r>
          </a:p>
          <a:p>
            <a:pPr lvl="1"/>
            <a:r>
              <a:rPr dirty="0"/>
              <a:t>Uses heuristic function h(n)</a:t>
            </a:r>
          </a:p>
          <a:p>
            <a:pPr lvl="1"/>
            <a:r>
              <a:rPr dirty="0"/>
              <a:t>Examples: Greedy best-first, A*</a:t>
            </a:r>
          </a:p>
          <a:p>
            <a:endParaRPr dirty="0"/>
          </a:p>
          <a:p>
            <a:r>
              <a:rPr b="1" dirty="0"/>
              <a:t>Analogy</a:t>
            </a:r>
            <a:r>
              <a:rPr dirty="0"/>
              <a:t>: Searching in the dark vs. having a compass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UNINFORMED SEARCH STRATEGIES :</a:t>
            </a:r>
            <a:br>
              <a:rPr lang="en-CA" sz="2400" dirty="0"/>
            </a:br>
            <a:r>
              <a:rPr sz="2400" dirty="0"/>
              <a:t>Breadth-First Search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Strategy</a:t>
            </a:r>
            <a:r>
              <a:rPr dirty="0"/>
              <a:t>: Expand shallowest node first</a:t>
            </a:r>
          </a:p>
          <a:p>
            <a:pPr lvl="1"/>
            <a:r>
              <a:rPr dirty="0"/>
              <a:t>Root first, then all depth-1 nodes, then depth-2, etc.</a:t>
            </a:r>
          </a:p>
          <a:p>
            <a:endParaRPr dirty="0"/>
          </a:p>
          <a:p>
            <a:r>
              <a:rPr b="1" dirty="0"/>
              <a:t>Implementation:</a:t>
            </a:r>
          </a:p>
          <a:p>
            <a:pPr lvl="1"/>
            <a:r>
              <a:rPr dirty="0"/>
              <a:t>FIFO queue (First-In-First-Out)</a:t>
            </a:r>
          </a:p>
          <a:p>
            <a:pPr lvl="1"/>
            <a:r>
              <a:rPr dirty="0"/>
              <a:t>New nodes go to back of queue</a:t>
            </a:r>
          </a:p>
          <a:p>
            <a:endParaRPr dirty="0"/>
          </a:p>
          <a:p>
            <a:r>
              <a:rPr b="1" dirty="0"/>
              <a:t>Properties:</a:t>
            </a:r>
          </a:p>
          <a:p>
            <a:pPr lvl="1"/>
            <a:r>
              <a:rPr dirty="0"/>
              <a:t>Complete: Yes (if b is finite)</a:t>
            </a:r>
          </a:p>
          <a:p>
            <a:pPr lvl="1"/>
            <a:r>
              <a:rPr dirty="0"/>
              <a:t>Optimal: Yes (if all actions same cost)</a:t>
            </a:r>
          </a:p>
          <a:p>
            <a:pPr lvl="1"/>
            <a:r>
              <a:rPr dirty="0"/>
              <a:t>Time: O(</a:t>
            </a:r>
            <a:r>
              <a:rPr dirty="0" err="1"/>
              <a:t>b^d</a:t>
            </a:r>
            <a:r>
              <a:rPr dirty="0"/>
              <a:t>) - exponential</a:t>
            </a:r>
          </a:p>
          <a:p>
            <a:pPr lvl="1"/>
            <a:r>
              <a:rPr dirty="0"/>
              <a:t>Space: O(</a:t>
            </a:r>
            <a:r>
              <a:rPr dirty="0" err="1"/>
              <a:t>b^d</a:t>
            </a:r>
            <a:r>
              <a:rPr dirty="0"/>
              <a:t>) - keeps all nodes in memory</a:t>
            </a:r>
          </a:p>
          <a:p>
            <a:endParaRPr dirty="0"/>
          </a:p>
          <a:p>
            <a:r>
              <a:rPr b="1" dirty="0"/>
              <a:t>Problem</a:t>
            </a:r>
            <a:r>
              <a:rPr dirty="0"/>
              <a:t>: Memory is the bottleneck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BFS - Example 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r>
              <a:rPr dirty="0"/>
              <a:t>Key: Explores in waves of increasing depth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AB711-573E-4E5C-AB48-5AA0159B2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30793"/>
            <a:ext cx="8610600" cy="14372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- Memory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5"/>
            <a:ext cx="8229600" cy="6003925"/>
          </a:xfrm>
        </p:spPr>
        <p:txBody>
          <a:bodyPr/>
          <a:lstStyle/>
          <a:p>
            <a:r>
              <a:rPr lang="en-CA" dirty="0"/>
              <a:t>b = Branching Factor, d = Depth of Solution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b="1" dirty="0"/>
              <a:t>Key Insight</a:t>
            </a:r>
            <a:r>
              <a:rPr dirty="0"/>
              <a:t>: Exponential growth is brutal</a:t>
            </a:r>
          </a:p>
          <a:p>
            <a:pPr lvl="1"/>
            <a:r>
              <a:rPr dirty="0"/>
              <a:t>Memory fills up before time runs out</a:t>
            </a:r>
          </a:p>
          <a:p>
            <a:pPr lvl="1"/>
            <a:r>
              <a:rPr dirty="0"/>
              <a:t>d=14 impossible even with infinite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22D29-3BDB-4D49-B806-EFF85D142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1205081"/>
            <a:ext cx="7292972" cy="34445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BFS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https://www.youtube.com/watch?v=oDqjPvD54Ss</a:t>
            </a:r>
            <a:endParaRPr lang="en-CA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EEDB3-A325-496B-A2A9-DA71514BE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16005"/>
            <a:ext cx="4572000" cy="376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FF7C74-7E20-47C1-8C32-D98E5DAE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27" y="2316005"/>
            <a:ext cx="4297173" cy="348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31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BFS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BFS.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E6E44-6125-4C4B-9B28-2B899203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3" y="2043767"/>
            <a:ext cx="6149788" cy="409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0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Uniform-Cost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6"/>
            <a:ext cx="8229600" cy="4910138"/>
          </a:xfrm>
        </p:spPr>
        <p:txBody>
          <a:bodyPr/>
          <a:lstStyle/>
          <a:p>
            <a:r>
              <a:rPr b="1" dirty="0"/>
              <a:t>Strategy</a:t>
            </a:r>
            <a:r>
              <a:rPr dirty="0"/>
              <a:t>: Expand node with lowest path cost g(n)</a:t>
            </a:r>
          </a:p>
          <a:p>
            <a:r>
              <a:rPr dirty="0"/>
              <a:t>Also called: </a:t>
            </a:r>
            <a:r>
              <a:rPr b="1" dirty="0"/>
              <a:t>Dijkstra's algorithm</a:t>
            </a:r>
            <a:endParaRPr lang="en-CA" b="1" dirty="0"/>
          </a:p>
          <a:p>
            <a:pPr lvl="1"/>
            <a:r>
              <a:rPr lang="en-US" dirty="0"/>
              <a:t>Uniform-Cost Search is Dijkstra’s algorithm when you stop as soon as the goal is popped from the priority queue.</a:t>
            </a:r>
            <a:endParaRPr dirty="0"/>
          </a:p>
          <a:p>
            <a:r>
              <a:rPr b="1" dirty="0"/>
              <a:t>Implementation</a:t>
            </a:r>
            <a:r>
              <a:rPr dirty="0"/>
              <a:t>:</a:t>
            </a:r>
          </a:p>
          <a:p>
            <a:pPr lvl="1"/>
            <a:r>
              <a:rPr dirty="0"/>
              <a:t>Priority queue </a:t>
            </a:r>
            <a:r>
              <a:rPr lang="en-CA" dirty="0"/>
              <a:t>(the frontier) </a:t>
            </a:r>
            <a:r>
              <a:rPr dirty="0"/>
              <a:t>ordered by path cost</a:t>
            </a:r>
            <a:r>
              <a:rPr lang="en-CA" dirty="0"/>
              <a:t> </a:t>
            </a:r>
            <a:endParaRPr dirty="0"/>
          </a:p>
          <a:p>
            <a:pPr lvl="1"/>
            <a:r>
              <a:rPr dirty="0"/>
              <a:t>Always expands cheapest node</a:t>
            </a:r>
            <a:endParaRPr lang="en-CA" dirty="0"/>
          </a:p>
          <a:p>
            <a:pPr lvl="2"/>
            <a:r>
              <a:rPr lang="en-US" dirty="0"/>
              <a:t>the node with the </a:t>
            </a:r>
            <a:r>
              <a:rPr lang="en-US" b="1" dirty="0"/>
              <a:t>lowest cumulative path cost so far</a:t>
            </a:r>
            <a:endParaRPr dirty="0"/>
          </a:p>
          <a:p>
            <a:r>
              <a:rPr b="1" dirty="0"/>
              <a:t>Example - Romania</a:t>
            </a:r>
            <a:r>
              <a:rPr dirty="0"/>
              <a:t>:</a:t>
            </a:r>
          </a:p>
          <a:p>
            <a:pPr lvl="1"/>
            <a:r>
              <a:rPr dirty="0"/>
              <a:t>Sibiu (80), </a:t>
            </a:r>
            <a:r>
              <a:rPr dirty="0" err="1"/>
              <a:t>Fagaras</a:t>
            </a:r>
            <a:r>
              <a:rPr dirty="0"/>
              <a:t> (99) → expand Sibiu first</a:t>
            </a:r>
          </a:p>
          <a:p>
            <a:pPr lvl="1"/>
            <a:r>
              <a:rPr dirty="0"/>
              <a:t>Even if </a:t>
            </a:r>
            <a:r>
              <a:rPr dirty="0" err="1"/>
              <a:t>Fagaras</a:t>
            </a:r>
            <a:r>
              <a:rPr dirty="0"/>
              <a:t> reaches Bucharest, might not be optimal</a:t>
            </a:r>
          </a:p>
          <a:p>
            <a:pPr lvl="1"/>
            <a:r>
              <a:rPr dirty="0"/>
              <a:t>Keep searching until optimal path found</a:t>
            </a:r>
          </a:p>
          <a:p>
            <a:r>
              <a:rPr dirty="0"/>
              <a:t>Key: Tests goal when expanding, not when generating</a:t>
            </a:r>
            <a:endParaRPr lang="en-CA" dirty="0"/>
          </a:p>
          <a:p>
            <a:pPr lvl="1"/>
            <a:r>
              <a:rPr lang="en-CA" dirty="0"/>
              <a:t>When the node is being taken off the priority queue</a:t>
            </a:r>
          </a:p>
          <a:p>
            <a:r>
              <a:rPr lang="en-US" dirty="0">
                <a:hlinkClick r:id="rId2"/>
              </a:rPr>
              <a:t>https://www.youtube.com/watch?v=CerlT7tTZfY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https://www.youtube.com/watch?v=bZkzH5x0SKU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UCS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Yes (if all costs ≥ ε &gt; 0)</a:t>
            </a:r>
          </a:p>
          <a:p>
            <a:pPr lvl="1"/>
            <a:r>
              <a:rPr dirty="0"/>
              <a:t>Optimal: Yes</a:t>
            </a:r>
          </a:p>
          <a:p>
            <a:pPr lvl="1"/>
            <a:r>
              <a:rPr dirty="0"/>
              <a:t>Time: O(b^(1+⌊C*/ε⌋))</a:t>
            </a:r>
          </a:p>
          <a:p>
            <a:pPr lvl="1"/>
            <a:r>
              <a:rPr dirty="0"/>
              <a:t>Space: O(b^(1+⌊C*/ε⌋))</a:t>
            </a:r>
          </a:p>
          <a:p>
            <a:endParaRPr dirty="0"/>
          </a:p>
          <a:p>
            <a:r>
              <a:rPr b="1" dirty="0"/>
              <a:t>Where</a:t>
            </a:r>
            <a:r>
              <a:rPr dirty="0"/>
              <a:t>:</a:t>
            </a:r>
          </a:p>
          <a:p>
            <a:pPr lvl="1"/>
            <a:r>
              <a:rPr dirty="0"/>
              <a:t>C* = cost of optimal solution</a:t>
            </a:r>
          </a:p>
          <a:p>
            <a:pPr lvl="1"/>
            <a:r>
              <a:rPr dirty="0"/>
              <a:t>ε = minimum action cost</a:t>
            </a:r>
          </a:p>
          <a:p>
            <a:endParaRPr dirty="0"/>
          </a:p>
          <a:p>
            <a:r>
              <a:rPr dirty="0"/>
              <a:t>When all costs equal: UCS ≈ BFS</a:t>
            </a:r>
          </a:p>
          <a:p>
            <a:endParaRPr dirty="0"/>
          </a:p>
          <a:p>
            <a:r>
              <a:rPr b="1" dirty="0"/>
              <a:t>Advantage</a:t>
            </a:r>
            <a:r>
              <a:rPr dirty="0"/>
              <a:t>: Optimal even with varying action costs</a:t>
            </a:r>
          </a:p>
          <a:p>
            <a:r>
              <a:rPr b="1" dirty="0"/>
              <a:t>Disadvantage</a:t>
            </a:r>
            <a:r>
              <a:rPr dirty="0"/>
              <a:t>: Can explore large trees of low-cost actions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UCS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Yes (if all costs ≥ ε &gt; 0)</a:t>
            </a:r>
            <a:endParaRPr lang="en-CA" dirty="0"/>
          </a:p>
          <a:p>
            <a:pPr lvl="2"/>
            <a:r>
              <a:rPr lang="en-US" dirty="0"/>
              <a:t>If a path to the goal exists, the algorithm is guaranteed to find it</a:t>
            </a:r>
            <a:endParaRPr dirty="0"/>
          </a:p>
          <a:p>
            <a:pPr lvl="1"/>
            <a:r>
              <a:rPr dirty="0"/>
              <a:t>Optimal: Yes</a:t>
            </a:r>
          </a:p>
          <a:p>
            <a:pPr lvl="1"/>
            <a:r>
              <a:rPr dirty="0"/>
              <a:t>When all costs equal: UCS ≈ BFS</a:t>
            </a:r>
          </a:p>
          <a:p>
            <a:endParaRPr dirty="0"/>
          </a:p>
          <a:p>
            <a:r>
              <a:rPr b="1" dirty="0"/>
              <a:t>Advantage</a:t>
            </a:r>
            <a:r>
              <a:rPr dirty="0"/>
              <a:t>: Optimal even with varying action costs</a:t>
            </a:r>
          </a:p>
          <a:p>
            <a:r>
              <a:rPr b="1" dirty="0"/>
              <a:t>Disadvantage</a:t>
            </a:r>
            <a:r>
              <a:rPr dirty="0"/>
              <a:t>: Can explore large trees of low-cost actions</a:t>
            </a:r>
          </a:p>
        </p:txBody>
      </p:sp>
    </p:spTree>
    <p:extLst>
      <p:ext uri="{BB962C8B-B14F-4D97-AF65-F5344CB8AC3E}">
        <p14:creationId xmlns:p14="http://schemas.microsoft.com/office/powerpoint/2010/main" val="4063342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UC</a:t>
            </a:r>
            <a:r>
              <a:rPr dirty="0"/>
              <a:t>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UCS.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9875D-8C3E-4393-BBFC-CBA6B318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68" y="1891553"/>
            <a:ext cx="5990664" cy="39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18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Strategy</a:t>
            </a:r>
            <a:r>
              <a:rPr dirty="0"/>
              <a:t>: Expand deepest node first</a:t>
            </a:r>
          </a:p>
          <a:p>
            <a:pPr lvl="1"/>
            <a:r>
              <a:rPr dirty="0"/>
              <a:t>Go as deep as possible, then backtrack</a:t>
            </a:r>
          </a:p>
          <a:p>
            <a:endParaRPr dirty="0"/>
          </a:p>
          <a:p>
            <a:r>
              <a:rPr b="1" dirty="0"/>
              <a:t>Implementation</a:t>
            </a:r>
            <a:r>
              <a:rPr dirty="0"/>
              <a:t>:</a:t>
            </a:r>
          </a:p>
          <a:p>
            <a:pPr lvl="1"/>
            <a:r>
              <a:rPr dirty="0"/>
              <a:t>LIFO queue (stack)</a:t>
            </a:r>
          </a:p>
          <a:p>
            <a:pPr lvl="1"/>
            <a:r>
              <a:rPr dirty="0"/>
              <a:t>New nodes go to front</a:t>
            </a:r>
          </a:p>
          <a:p>
            <a:endParaRPr dirty="0"/>
          </a:p>
          <a:p>
            <a:r>
              <a:rPr b="1" dirty="0"/>
              <a:t>Typically</a:t>
            </a:r>
            <a:r>
              <a:rPr dirty="0"/>
              <a:t>: Tree-like search (doesn't track reached states)</a:t>
            </a:r>
          </a:p>
          <a:p>
            <a:endParaRPr dirty="0"/>
          </a:p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No (can get stuck in infinite paths)</a:t>
            </a:r>
          </a:p>
          <a:p>
            <a:pPr lvl="1"/>
            <a:r>
              <a:rPr dirty="0"/>
              <a:t>Optimal: No (returns first solution found)</a:t>
            </a:r>
          </a:p>
          <a:p>
            <a:pPr lvl="1"/>
            <a:r>
              <a:rPr dirty="0"/>
              <a:t>Time: O(</a:t>
            </a:r>
            <a:r>
              <a:rPr dirty="0" err="1"/>
              <a:t>b^m</a:t>
            </a:r>
            <a:r>
              <a:rPr dirty="0"/>
              <a:t>)</a:t>
            </a:r>
          </a:p>
          <a:p>
            <a:pPr lvl="1"/>
            <a:r>
              <a:rPr dirty="0"/>
              <a:t>Space: O(bm)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- Example on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D3D240-0ED9-40CD-BA6E-2E054EBA6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650" y="973511"/>
            <a:ext cx="6866183" cy="5427288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- Why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32330"/>
            <a:ext cx="8229600" cy="4831884"/>
          </a:xfrm>
        </p:spPr>
        <p:txBody>
          <a:bodyPr/>
          <a:lstStyle/>
          <a:p>
            <a:r>
              <a:rPr b="1" dirty="0"/>
              <a:t>Major Advantage</a:t>
            </a:r>
            <a:r>
              <a:rPr dirty="0"/>
              <a:t>: Memory Efficiency</a:t>
            </a:r>
          </a:p>
          <a:p>
            <a:pPr lvl="1"/>
            <a:r>
              <a:rPr dirty="0"/>
              <a:t>BFS: Stores O(</a:t>
            </a:r>
            <a:r>
              <a:rPr dirty="0" err="1"/>
              <a:t>b^d</a:t>
            </a:r>
            <a:r>
              <a:rPr dirty="0"/>
              <a:t>) nodes</a:t>
            </a:r>
          </a:p>
          <a:p>
            <a:pPr lvl="1"/>
            <a:r>
              <a:rPr dirty="0"/>
              <a:t>DFS: Stores O(bm) nodes</a:t>
            </a:r>
          </a:p>
          <a:p>
            <a:endParaRPr dirty="0"/>
          </a:p>
          <a:p>
            <a:r>
              <a:rPr dirty="0"/>
              <a:t>Example: b=10, m=10</a:t>
            </a:r>
          </a:p>
          <a:p>
            <a:pPr lvl="1"/>
            <a:r>
              <a:rPr dirty="0"/>
              <a:t>BFS: 10 billion nodes</a:t>
            </a:r>
          </a:p>
          <a:p>
            <a:pPr lvl="1"/>
            <a:r>
              <a:rPr dirty="0"/>
              <a:t>DFS: 100 nodes</a:t>
            </a:r>
          </a:p>
          <a:p>
            <a:endParaRPr dirty="0"/>
          </a:p>
          <a:p>
            <a:r>
              <a:rPr b="1" dirty="0"/>
              <a:t>Use Cases:</a:t>
            </a:r>
          </a:p>
          <a:p>
            <a:pPr lvl="1"/>
            <a:r>
              <a:rPr dirty="0"/>
              <a:t>Finite, tree-shaped state spaces</a:t>
            </a:r>
          </a:p>
          <a:p>
            <a:pPr lvl="1"/>
            <a:r>
              <a:rPr dirty="0"/>
              <a:t>Constraint satisfaction (Chapter 5)</a:t>
            </a:r>
          </a:p>
          <a:p>
            <a:pPr lvl="1"/>
            <a:r>
              <a:rPr dirty="0"/>
              <a:t>Logic programming (Chapter 9)</a:t>
            </a:r>
          </a:p>
          <a:p>
            <a:pPr lvl="1"/>
            <a:r>
              <a:rPr dirty="0"/>
              <a:t>When memory is extremely limited</a:t>
            </a:r>
          </a:p>
          <a:p>
            <a:pPr lvl="1"/>
            <a:endParaRPr dirty="0"/>
          </a:p>
          <a:p>
            <a:r>
              <a:rPr lang="en-US" dirty="0">
                <a:hlinkClick r:id="rId2"/>
              </a:rPr>
              <a:t>Depth First Search Algorithm | Graph Theory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Depth-Limited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Problem:</a:t>
            </a:r>
            <a:r>
              <a:rPr dirty="0"/>
              <a:t> DFS can go infinitely deep</a:t>
            </a:r>
            <a:r>
              <a:rPr lang="en-CA" dirty="0"/>
              <a:t> (if state space has cycles)</a:t>
            </a:r>
            <a:endParaRPr dirty="0"/>
          </a:p>
          <a:p>
            <a:pPr lvl="1"/>
            <a:r>
              <a:rPr dirty="0"/>
              <a:t>Solution: Impose depth limit ℓ</a:t>
            </a:r>
          </a:p>
          <a:p>
            <a:pPr lvl="1"/>
            <a:r>
              <a:rPr dirty="0"/>
              <a:t>Treat nodes at depth ℓ as having no successors</a:t>
            </a:r>
          </a:p>
          <a:p>
            <a:endParaRPr lang="en-CA" dirty="0"/>
          </a:p>
          <a:p>
            <a:r>
              <a:rPr b="1" dirty="0"/>
              <a:t>Properties:</a:t>
            </a:r>
          </a:p>
          <a:p>
            <a:pPr lvl="1"/>
            <a:r>
              <a:rPr dirty="0"/>
              <a:t>Complete: No (unless ℓ ≥ d)</a:t>
            </a:r>
          </a:p>
          <a:p>
            <a:pPr lvl="1"/>
            <a:r>
              <a:rPr dirty="0"/>
              <a:t>Optimal: No</a:t>
            </a:r>
          </a:p>
          <a:p>
            <a:pPr lvl="1"/>
            <a:r>
              <a:rPr dirty="0"/>
              <a:t>Time: O(b^ℓ)</a:t>
            </a:r>
          </a:p>
          <a:p>
            <a:pPr lvl="1"/>
            <a:r>
              <a:rPr dirty="0"/>
              <a:t>Space: O(bℓ)</a:t>
            </a:r>
          </a:p>
          <a:p>
            <a:endParaRPr dirty="0"/>
          </a:p>
          <a:p>
            <a:r>
              <a:rPr b="1" dirty="0"/>
              <a:t>Challenge:</a:t>
            </a:r>
            <a:r>
              <a:rPr dirty="0"/>
              <a:t> Choosing good ℓ</a:t>
            </a:r>
          </a:p>
          <a:p>
            <a:pPr lvl="1"/>
            <a:r>
              <a:rPr dirty="0"/>
              <a:t>Too small: Miss solution</a:t>
            </a:r>
          </a:p>
          <a:p>
            <a:pPr lvl="1"/>
            <a:r>
              <a:rPr dirty="0"/>
              <a:t>Too large: Inefficient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</a:t>
            </a:r>
            <a:r>
              <a:rPr dirty="0"/>
              <a:t>FS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DFS.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6004BD-A57E-4FCB-9B15-DD56F948E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003" y="2278893"/>
            <a:ext cx="5395428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06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IDS</a:t>
            </a:r>
            <a:r>
              <a:rPr lang="en-US" dirty="0"/>
              <a:t> repeatedly runs </a:t>
            </a:r>
            <a:r>
              <a:rPr lang="en-US" b="1" dirty="0"/>
              <a:t>Depth-Limited Search (DLS) </a:t>
            </a:r>
            <a:r>
              <a:rPr lang="en-US" dirty="0"/>
              <a:t>with increasing depth limits until a goal is found.</a:t>
            </a:r>
          </a:p>
          <a:p>
            <a:pPr lvl="1"/>
            <a:r>
              <a:rPr lang="en-US" b="1" dirty="0"/>
              <a:t>Strategy</a:t>
            </a:r>
            <a:r>
              <a:rPr lang="en-US" dirty="0"/>
              <a:t>: Try all depth limits: 0, 1, 2, 3, ...</a:t>
            </a:r>
          </a:p>
          <a:p>
            <a:pPr lvl="1"/>
            <a:r>
              <a:rPr lang="en-US" dirty="0"/>
              <a:t>It is a depth-first algorithm that behaves like breadth-first in terms of results.</a:t>
            </a:r>
          </a:p>
          <a:p>
            <a:endParaRPr dirty="0"/>
          </a:p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Yes (finite branching)</a:t>
            </a:r>
          </a:p>
          <a:p>
            <a:pPr lvl="1"/>
            <a:r>
              <a:rPr dirty="0"/>
              <a:t>Optimal: Yes (if all costs </a:t>
            </a:r>
            <a:r>
              <a:rPr b="1" dirty="0"/>
              <a:t>equal</a:t>
            </a:r>
            <a:r>
              <a:rPr dirty="0"/>
              <a:t>)</a:t>
            </a:r>
          </a:p>
          <a:p>
            <a:pPr lvl="1"/>
            <a:r>
              <a:rPr dirty="0"/>
              <a:t>Time: O(</a:t>
            </a:r>
            <a:r>
              <a:rPr dirty="0" err="1"/>
              <a:t>b^d</a:t>
            </a:r>
            <a:r>
              <a:rPr dirty="0"/>
              <a:t>)</a:t>
            </a:r>
          </a:p>
          <a:p>
            <a:pPr lvl="1"/>
            <a:r>
              <a:rPr dirty="0"/>
              <a:t>Space: O(bd)</a:t>
            </a:r>
          </a:p>
          <a:p>
            <a:endParaRPr dirty="0"/>
          </a:p>
          <a:p>
            <a:r>
              <a:rPr dirty="0"/>
              <a:t>Best of both worlds: </a:t>
            </a:r>
            <a:r>
              <a:rPr b="1" dirty="0"/>
              <a:t>BFS completeness + DFS memory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68370-3E66-43C5-9727-45C4F50A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068" y="2720695"/>
            <a:ext cx="2762344" cy="271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64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6980-5871-4931-9CE2-1EC221D4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312F-F9A4-4313-A2EF-64169CAD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BBDDAC-66F3-47A7-B84F-D880820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0"/>
            <a:ext cx="869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959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redoing work is NOT wasteful</a:t>
            </a:r>
          </a:p>
          <a:p>
            <a:pPr lvl="1"/>
            <a:r>
              <a:rPr lang="en-US" dirty="0"/>
              <a:t>At first it looks inefficient because nodes are revisited, but:</a:t>
            </a:r>
          </a:p>
          <a:p>
            <a:pPr lvl="2"/>
            <a:r>
              <a:rPr lang="en-US" dirty="0"/>
              <a:t>Most nodes are at the </a:t>
            </a:r>
            <a:r>
              <a:rPr lang="en-US" b="1" dirty="0"/>
              <a:t>deepest level</a:t>
            </a:r>
            <a:endParaRPr lang="en-US" dirty="0"/>
          </a:p>
          <a:p>
            <a:pPr lvl="2"/>
            <a:r>
              <a:rPr lang="en-US" dirty="0"/>
              <a:t>Upper levels are small compared to bottom levels</a:t>
            </a:r>
          </a:p>
          <a:p>
            <a:pPr lvl="1"/>
            <a:r>
              <a:rPr lang="en-US" dirty="0"/>
              <a:t>So total work is still:</a:t>
            </a:r>
          </a:p>
          <a:p>
            <a:pPr lvl="2"/>
            <a:r>
              <a:rPr lang="en-US" dirty="0"/>
              <a:t>O(</a:t>
            </a:r>
            <a:r>
              <a:rPr lang="en-US" dirty="0" err="1"/>
              <a:t>b^d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Same as BFS, where:</a:t>
            </a:r>
          </a:p>
          <a:p>
            <a:pPr lvl="2"/>
            <a:r>
              <a:rPr lang="en-US" dirty="0" err="1"/>
              <a:t>bbb</a:t>
            </a:r>
            <a:r>
              <a:rPr lang="en-US" dirty="0"/>
              <a:t> = branching factor</a:t>
            </a:r>
          </a:p>
          <a:p>
            <a:pPr lvl="2"/>
            <a:r>
              <a:rPr lang="en-US" dirty="0" err="1"/>
              <a:t>ddd</a:t>
            </a:r>
            <a:r>
              <a:rPr lang="en-US" dirty="0"/>
              <a:t> = depth of shallowest solution</a:t>
            </a:r>
          </a:p>
          <a:p>
            <a:pPr lvl="1"/>
            <a:r>
              <a:rPr lang="en-US" dirty="0"/>
              <a:t>The repeated visits add only a small constant factor.</a:t>
            </a:r>
          </a:p>
          <a:p>
            <a:r>
              <a:rPr lang="en-US" b="1" dirty="0"/>
              <a:t>IDS has:</a:t>
            </a:r>
          </a:p>
          <a:p>
            <a:pPr lvl="1"/>
            <a:r>
              <a:rPr lang="en-US" dirty="0"/>
              <a:t>Optimality of BFS</a:t>
            </a:r>
          </a:p>
          <a:p>
            <a:pPr lvl="1"/>
            <a:r>
              <a:rPr lang="en-US" dirty="0"/>
              <a:t>Memory efficiency of DFS</a:t>
            </a:r>
          </a:p>
          <a:p>
            <a:r>
              <a:rPr lang="en-US" dirty="0"/>
              <a:t>That’s why it’s often called:</a:t>
            </a:r>
          </a:p>
          <a:p>
            <a:pPr lvl="1"/>
            <a:r>
              <a:rPr lang="en-US" b="1" dirty="0"/>
              <a:t>The best uninformed search strategy in practice</a:t>
            </a:r>
          </a:p>
        </p:txBody>
      </p:sp>
    </p:spTree>
    <p:extLst>
      <p:ext uri="{BB962C8B-B14F-4D97-AF65-F5344CB8AC3E}">
        <p14:creationId xmlns:p14="http://schemas.microsoft.com/office/powerpoint/2010/main" val="439092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ID</a:t>
            </a:r>
            <a:r>
              <a:rPr dirty="0"/>
              <a:t>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IDS.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E3AF5-6E21-4B02-B38E-FF65B5C87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79" y="2078132"/>
            <a:ext cx="6098241" cy="40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Bidirectional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Strategy: Search forward from start AND backward from goal</a:t>
            </a:r>
          </a:p>
          <a:p>
            <a:endParaRPr dirty="0"/>
          </a:p>
          <a:p>
            <a:r>
              <a:rPr dirty="0"/>
              <a:t>Motivation: 2 × b^(d/2) &lt;&lt; </a:t>
            </a:r>
            <a:r>
              <a:rPr dirty="0" err="1"/>
              <a:t>b^d</a:t>
            </a:r>
            <a:endParaRPr dirty="0"/>
          </a:p>
          <a:p>
            <a:endParaRPr dirty="0"/>
          </a:p>
          <a:p>
            <a:r>
              <a:rPr dirty="0"/>
              <a:t>Example: b=10, d=10</a:t>
            </a:r>
          </a:p>
          <a:p>
            <a:r>
              <a:rPr dirty="0"/>
              <a:t>Unidirectional: 10^10 = 10 billion</a:t>
            </a:r>
          </a:p>
          <a:p>
            <a:r>
              <a:rPr dirty="0"/>
              <a:t>Bidirectional: 2 × 10^5 = 200,000</a:t>
            </a:r>
          </a:p>
          <a:p>
            <a:r>
              <a:rPr dirty="0"/>
              <a:t>50,000× faster</a:t>
            </a:r>
          </a:p>
          <a:p>
            <a:endParaRPr dirty="0"/>
          </a:p>
          <a:p>
            <a:r>
              <a:rPr dirty="0"/>
              <a:t>Challenge: Need to search backwards</a:t>
            </a:r>
          </a:p>
          <a:p>
            <a:r>
              <a:rPr dirty="0"/>
              <a:t>Requires inverse actions</a:t>
            </a:r>
          </a:p>
          <a:p>
            <a:r>
              <a:rPr dirty="0"/>
              <a:t>Must check if two frontiers have met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Bidirectional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Bidirectional Search </a:t>
            </a:r>
            <a:r>
              <a:rPr lang="en-US" dirty="0"/>
              <a:t>runs two searches (</a:t>
            </a:r>
            <a:r>
              <a:rPr lang="en-CA" dirty="0"/>
              <a:t>BFS) </a:t>
            </a:r>
            <a:r>
              <a:rPr lang="en-US" dirty="0"/>
              <a:t>at the same time: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forward</a:t>
            </a:r>
            <a:r>
              <a:rPr lang="en-US" dirty="0"/>
              <a:t> from the start state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backward</a:t>
            </a:r>
            <a:r>
              <a:rPr lang="en-US" dirty="0"/>
              <a:t> from the goal state</a:t>
            </a:r>
          </a:p>
          <a:p>
            <a:pPr lvl="1"/>
            <a:r>
              <a:rPr lang="en-US" dirty="0"/>
              <a:t>and stops when the two searches meet in the middle.</a:t>
            </a:r>
          </a:p>
          <a:p>
            <a:endParaRPr lang="en-US" dirty="0"/>
          </a:p>
          <a:p>
            <a:r>
              <a:rPr lang="en-US" dirty="0"/>
              <a:t>Instead of searching:   	Start → → → → → → Goal</a:t>
            </a:r>
          </a:p>
          <a:p>
            <a:r>
              <a:rPr lang="en-US" dirty="0"/>
              <a:t>you search:    		Start → → → ← ← ← Goal</a:t>
            </a:r>
          </a:p>
          <a:p>
            <a:pPr lvl="1"/>
            <a:r>
              <a:rPr lang="en-US" dirty="0"/>
              <a:t>and meet somewhere in between.</a:t>
            </a:r>
            <a:endParaRPr dirty="0"/>
          </a:p>
          <a:p>
            <a:endParaRPr lang="en-CA" dirty="0"/>
          </a:p>
          <a:p>
            <a:r>
              <a:rPr b="1" dirty="0"/>
              <a:t>Motivation</a:t>
            </a:r>
            <a:r>
              <a:rPr dirty="0"/>
              <a:t>: 2 × b^(d/2) &lt;&lt; </a:t>
            </a:r>
            <a:r>
              <a:rPr dirty="0" err="1"/>
              <a:t>b^d</a:t>
            </a:r>
            <a:endParaRPr dirty="0"/>
          </a:p>
          <a:p>
            <a:r>
              <a:rPr b="1" dirty="0"/>
              <a:t>Example</a:t>
            </a:r>
            <a:r>
              <a:rPr dirty="0"/>
              <a:t>: b=10, d=10</a:t>
            </a:r>
          </a:p>
          <a:p>
            <a:pPr lvl="1"/>
            <a:r>
              <a:rPr dirty="0"/>
              <a:t>Unidirectional: 10^10 = 10 billion</a:t>
            </a:r>
          </a:p>
          <a:p>
            <a:pPr lvl="1"/>
            <a:r>
              <a:rPr dirty="0"/>
              <a:t>Bidirectional: 2 × 10^5 = 200,000</a:t>
            </a:r>
          </a:p>
          <a:p>
            <a:pPr lvl="1"/>
            <a:r>
              <a:rPr dirty="0"/>
              <a:t>50,000× faster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6673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Bidirectional Search -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It Works (Step by Step)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Put </a:t>
            </a:r>
            <a:r>
              <a:rPr lang="en-US" b="1" dirty="0"/>
              <a:t>start</a:t>
            </a:r>
            <a:r>
              <a:rPr lang="en-US" dirty="0"/>
              <a:t> in forward frontier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Put </a:t>
            </a:r>
            <a:r>
              <a:rPr lang="en-US" b="1" dirty="0"/>
              <a:t>goal</a:t>
            </a:r>
            <a:r>
              <a:rPr lang="en-US" dirty="0"/>
              <a:t> in backward frontier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Expand one level from the start side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Expand one level from the goal side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After each expansion, check:</a:t>
            </a:r>
          </a:p>
          <a:p>
            <a:pPr lvl="2" indent="-285750"/>
            <a:r>
              <a:rPr lang="en-US" b="1" dirty="0"/>
              <a:t>Has any state been generated by both searches?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If yes → path found by joining the two partial paths</a:t>
            </a:r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Bidirectional Search -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Why It’s Faster</a:t>
            </a:r>
          </a:p>
          <a:p>
            <a:pPr lvl="1"/>
            <a:r>
              <a:rPr lang="en-CA" dirty="0"/>
              <a:t>If:</a:t>
            </a:r>
          </a:p>
          <a:p>
            <a:pPr lvl="2"/>
            <a:r>
              <a:rPr lang="en-CA" dirty="0"/>
              <a:t>Branching factor = b</a:t>
            </a:r>
          </a:p>
          <a:p>
            <a:pPr lvl="2"/>
            <a:r>
              <a:rPr lang="en-CA" dirty="0"/>
              <a:t>Solution depth = 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45C77-0A7D-4228-8638-0DFBDDE8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93" y="2829603"/>
            <a:ext cx="5902291" cy="279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50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Uninformed Searches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C9480-B9D1-4826-947A-E995B122C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03" y="1753719"/>
            <a:ext cx="8093141" cy="349026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Uninformed Searches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157833-67B9-495E-961E-E1AE4114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" y="1023142"/>
            <a:ext cx="8209456" cy="46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13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Uninformed Search - 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3765550" cy="4530725"/>
          </a:xfrm>
        </p:spPr>
        <p:txBody>
          <a:bodyPr/>
          <a:lstStyle/>
          <a:p>
            <a:r>
              <a:rPr dirty="0"/>
              <a:t>Breadth-First:</a:t>
            </a:r>
          </a:p>
          <a:p>
            <a:pPr lvl="1"/>
            <a:r>
              <a:rPr dirty="0"/>
              <a:t>Small state space</a:t>
            </a:r>
          </a:p>
          <a:p>
            <a:pPr lvl="1"/>
            <a:r>
              <a:rPr dirty="0"/>
              <a:t>All actions same cost</a:t>
            </a:r>
          </a:p>
          <a:p>
            <a:pPr lvl="1"/>
            <a:r>
              <a:rPr dirty="0"/>
              <a:t>Need optimal solution</a:t>
            </a:r>
          </a:p>
          <a:p>
            <a:endParaRPr dirty="0"/>
          </a:p>
          <a:p>
            <a:r>
              <a:rPr dirty="0"/>
              <a:t>Uniform-Cost:</a:t>
            </a:r>
          </a:p>
          <a:p>
            <a:pPr lvl="1"/>
            <a:r>
              <a:rPr dirty="0"/>
              <a:t>Different action costs</a:t>
            </a:r>
          </a:p>
          <a:p>
            <a:pPr lvl="1"/>
            <a:r>
              <a:rPr dirty="0"/>
              <a:t>Need optimal solution</a:t>
            </a:r>
          </a:p>
          <a:p>
            <a:pPr lvl="1"/>
            <a:r>
              <a:rPr dirty="0"/>
              <a:t>Have enough memory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162482-C98F-4D54-9706-07D052F5F1CB}"/>
              </a:ext>
            </a:extLst>
          </p:cNvPr>
          <p:cNvSpPr txBox="1">
            <a:spLocks/>
          </p:cNvSpPr>
          <p:nvPr/>
        </p:nvSpPr>
        <p:spPr bwMode="auto">
          <a:xfrm>
            <a:off x="5010897" y="1233488"/>
            <a:ext cx="37655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kern="0" dirty="0"/>
              <a:t>Depth-First/IDS:</a:t>
            </a:r>
          </a:p>
          <a:p>
            <a:pPr lvl="1"/>
            <a:r>
              <a:rPr lang="en-US" kern="0" dirty="0"/>
              <a:t>Large/infinite state space</a:t>
            </a:r>
          </a:p>
          <a:p>
            <a:pPr lvl="1"/>
            <a:r>
              <a:rPr lang="en-US" kern="0" dirty="0"/>
              <a:t>Limited memory</a:t>
            </a:r>
          </a:p>
          <a:p>
            <a:pPr lvl="1"/>
            <a:r>
              <a:rPr lang="en-US" kern="0" dirty="0"/>
              <a:t>IDS preferred for completeness</a:t>
            </a:r>
          </a:p>
          <a:p>
            <a:endParaRPr lang="en-US" kern="0" dirty="0"/>
          </a:p>
          <a:p>
            <a:r>
              <a:rPr lang="en-US" kern="0" dirty="0"/>
              <a:t>Bidirectional:</a:t>
            </a:r>
          </a:p>
          <a:p>
            <a:pPr lvl="1"/>
            <a:r>
              <a:rPr lang="en-US" kern="0" dirty="0"/>
              <a:t>Can compute predecessors</a:t>
            </a:r>
          </a:p>
          <a:p>
            <a:pPr lvl="1"/>
            <a:r>
              <a:rPr lang="en-US" kern="0" dirty="0"/>
              <a:t>Single goal (or few goals)</a:t>
            </a:r>
          </a:p>
          <a:p>
            <a:pPr lvl="1"/>
            <a:r>
              <a:rPr lang="en-US" kern="0" dirty="0"/>
              <a:t>Want big speedup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29496</TotalTime>
  <Words>2527</Words>
  <Application>Microsoft Office PowerPoint</Application>
  <PresentationFormat>On-screen Show (4:3)</PresentationFormat>
  <Paragraphs>460</Paragraphs>
  <Slides>41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Helvetica</vt:lpstr>
      <vt:lpstr>Times New Roman</vt:lpstr>
      <vt:lpstr>Verdana</vt:lpstr>
      <vt:lpstr>Webdings</vt:lpstr>
      <vt:lpstr>Wingdings</vt:lpstr>
      <vt:lpstr>os-8</vt:lpstr>
      <vt:lpstr>Solving Problems by Searching</vt:lpstr>
      <vt:lpstr>Recap - Where We Are</vt:lpstr>
      <vt:lpstr>Problem-Solving Agents</vt:lpstr>
      <vt:lpstr>Assumptions for This Chapter</vt:lpstr>
      <vt:lpstr>Search Problem - Formal Definition</vt:lpstr>
      <vt:lpstr>Example - Romania Road Map</vt:lpstr>
      <vt:lpstr>Problem Formulation - Abstraction</vt:lpstr>
      <vt:lpstr>Example Problems - Grid World</vt:lpstr>
      <vt:lpstr>Example Problems - Sliding Tile Puzzles</vt:lpstr>
      <vt:lpstr>Example Problems - Real World</vt:lpstr>
      <vt:lpstr>Search Trees and Graphs</vt:lpstr>
      <vt:lpstr>Search Tree Concepts</vt:lpstr>
      <vt:lpstr>Visual - Search Tree Growth</vt:lpstr>
      <vt:lpstr>Redundant Paths and Cycles</vt:lpstr>
      <vt:lpstr>Measuring Search Performance</vt:lpstr>
      <vt:lpstr>Uninformed vs. Informed Search</vt:lpstr>
      <vt:lpstr>UNINFORMED SEARCH STRATEGIES : Breadth-First Search (BFS)</vt:lpstr>
      <vt:lpstr>BFS - Example on Tree</vt:lpstr>
      <vt:lpstr>BFS - Memory Problem</vt:lpstr>
      <vt:lpstr>BFS - Example on Graph</vt:lpstr>
      <vt:lpstr>BFS - Example on Graph</vt:lpstr>
      <vt:lpstr>Uniform-Cost Search (UCS)</vt:lpstr>
      <vt:lpstr>UCS - Properties</vt:lpstr>
      <vt:lpstr>UCS - Properties</vt:lpstr>
      <vt:lpstr>UCS - Example on Graph</vt:lpstr>
      <vt:lpstr>Depth-First Search (DFS)</vt:lpstr>
      <vt:lpstr>DFS - Example on Tree</vt:lpstr>
      <vt:lpstr>DFS - Why Use It?</vt:lpstr>
      <vt:lpstr>Depth-Limited Search</vt:lpstr>
      <vt:lpstr>DFS - Example on Graph</vt:lpstr>
      <vt:lpstr>Iterative Deepening Search (IDS)</vt:lpstr>
      <vt:lpstr>PowerPoint Presentation</vt:lpstr>
      <vt:lpstr>Iterative Deepening Search (IDS)</vt:lpstr>
      <vt:lpstr>IDS - Example on Graph</vt:lpstr>
      <vt:lpstr>Bidirectional Search</vt:lpstr>
      <vt:lpstr>Bidirectional Search</vt:lpstr>
      <vt:lpstr>Bidirectional Search - How It Works</vt:lpstr>
      <vt:lpstr>Bidirectional Search - How It Works</vt:lpstr>
      <vt:lpstr>Comparing Uninformed Searches</vt:lpstr>
      <vt:lpstr>Comparing Uninformed Searches</vt:lpstr>
      <vt:lpstr>Uninformed Search - When to Use What?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369</cp:revision>
  <cp:lastPrinted>2001-06-14T13:58:17Z</cp:lastPrinted>
  <dcterms:created xsi:type="dcterms:W3CDTF">2011-01-13T23:43:38Z</dcterms:created>
  <dcterms:modified xsi:type="dcterms:W3CDTF">2026-01-24T22:49:59Z</dcterms:modified>
</cp:coreProperties>
</file>