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8" r:id="rId15"/>
    <p:sldId id="285" r:id="rId16"/>
    <p:sldId id="283" r:id="rId17"/>
    <p:sldId id="277" r:id="rId18"/>
    <p:sldId id="278" r:id="rId19"/>
    <p:sldId id="287" r:id="rId20"/>
    <p:sldId id="286" r:id="rId21"/>
    <p:sldId id="284" r:id="rId22"/>
    <p:sldId id="280" r:id="rId23"/>
    <p:sldId id="281" r:id="rId24"/>
    <p:sldId id="282" r:id="rId25"/>
    <p:sldId id="279" r:id="rId26"/>
    <p:sldId id="269" r:id="rId27"/>
    <p:sldId id="270" r:id="rId28"/>
    <p:sldId id="289" r:id="rId29"/>
    <p:sldId id="290" r:id="rId30"/>
    <p:sldId id="291" r:id="rId31"/>
    <p:sldId id="271" r:id="rId32"/>
    <p:sldId id="272" r:id="rId33"/>
    <p:sldId id="273" r:id="rId34"/>
    <p:sldId id="274" r:id="rId35"/>
    <p:sldId id="275" r:id="rId3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9" autoAdjust="0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82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9792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F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731520"/>
            <a:ext cx="109728" cy="109728"/>
          </a:xfrm>
          <a:prstGeom prst="ellipse">
            <a:avLst/>
          </a:prstGeom>
          <a:solidFill>
            <a:srgbClr val="00E5FF">
              <a:alpha val="6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1280160"/>
            <a:ext cx="109728" cy="109728"/>
          </a:xfrm>
          <a:prstGeom prst="ellipse">
            <a:avLst/>
          </a:prstGeom>
          <a:solidFill>
            <a:srgbClr val="00E5FF">
              <a:alpha val="6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2286000"/>
            <a:ext cx="109728" cy="109728"/>
          </a:xfrm>
          <a:prstGeom prst="ellipse">
            <a:avLst/>
          </a:prstGeom>
          <a:solidFill>
            <a:srgbClr val="00E5FF">
              <a:alpha val="6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0" y="457200"/>
            <a:ext cx="109728" cy="109728"/>
          </a:xfrm>
          <a:prstGeom prst="ellipse">
            <a:avLst/>
          </a:prstGeom>
          <a:solidFill>
            <a:srgbClr val="00E5FF">
              <a:alpha val="6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2926080"/>
            <a:ext cx="109728" cy="109728"/>
          </a:xfrm>
          <a:prstGeom prst="ellipse">
            <a:avLst/>
          </a:prstGeom>
          <a:solidFill>
            <a:srgbClr val="00E5FF">
              <a:alpha val="6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38544" y="786384"/>
            <a:ext cx="1078992" cy="438912"/>
          </a:xfrm>
          <a:prstGeom prst="line">
            <a:avLst/>
          </a:prstGeom>
          <a:noFill/>
          <a:ln w="635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87184" y="786384"/>
            <a:ext cx="1078992" cy="1444752"/>
          </a:xfrm>
          <a:prstGeom prst="line">
            <a:avLst/>
          </a:prstGeom>
          <a:noFill/>
          <a:ln w="635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371600"/>
            <a:ext cx="5669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Playing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Search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 · Alpha-Beta Pruning · Imperfect Decision Making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2011680" cy="32004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657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Year · AI Course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2560320" cy="2286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13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LECTURE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73152" cy="65836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430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43000" y="1161288"/>
            <a:ext cx="7223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games as formal search problems with states, actions, and utilities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822960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10512"/>
            <a:ext cx="73152" cy="65836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0195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43000" y="1920240"/>
            <a:ext cx="7223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adversarial search and why it differs from single-agent search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2569464"/>
            <a:ext cx="822960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569464"/>
            <a:ext cx="73152" cy="65836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60904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43000" y="2679192"/>
            <a:ext cx="7223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Minimax algorithm and analyse its complexity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3328416"/>
            <a:ext cx="822960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328416"/>
            <a:ext cx="73152" cy="65836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419856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43000" y="3438144"/>
            <a:ext cx="7223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Alpha-Beta pruning to dramatically reduce the search space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4087368"/>
            <a:ext cx="822960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087368"/>
            <a:ext cx="73152" cy="65836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17880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143000" y="4197096"/>
            <a:ext cx="7223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about decision-making under uncertainty and imperfect information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Game in AI?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2560320" cy="2286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13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GAME PLAYING AS SEARCH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937760" cy="37947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4937760" cy="32004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Components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141732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description of the board / game at any point in time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18745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State: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187452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configuration before any moves are made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23317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20240" y="233172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taking turns — usually MAX and MIN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7889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278892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legal moves available in a given state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2461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Model: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920240" y="324612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Result(s, a): state reached after applying action a in state 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7033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Test: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370332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whether the game is over (win, loss, draw)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1605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Function: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416052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payoff for each player at a terminal state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532120" y="1005840"/>
            <a:ext cx="3246120" cy="37947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32120" y="1005840"/>
            <a:ext cx="3246120" cy="32004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7840" y="1005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Examples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23560" y="141732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♟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53328" y="14173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053328" y="16276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35M states per move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623560" y="195681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⬡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053328" y="1956816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53328" y="216712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~250 branches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623560" y="249631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✕○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053328" y="24963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Tic-Tac-Toe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53328" y="270662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3×3 grid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623560" y="303580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⬤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053328" y="303580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053328" y="324612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in 2007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623560" y="357530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🎲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053328" y="357530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Backgammon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053328" y="378561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(dice)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623560" y="411480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🃏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053328" y="41148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053328" y="43251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Imperfect info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Games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2560320" cy="2286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13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GAME PLAYING AS SEARCH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60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vs. Stochastic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252728"/>
            <a:ext cx="4133088" cy="9144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29844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15270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have certain, predictable outcomes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1783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Chess, Go, Tic-Tac-Toe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45152" y="1252728"/>
            <a:ext cx="4133088" cy="9144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29844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5270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elements (dice, shuffled cards) introduce chance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783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Backgammon, Solitaire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51960" y="1481328"/>
            <a:ext cx="320040" cy="32004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14813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2286000"/>
            <a:ext cx="8412480" cy="27432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2860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vs. Imperfect Information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578608"/>
            <a:ext cx="4133088" cy="9144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62432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Info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5488" y="28529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players can see the entire game state at all times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" y="3108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Chess, Checkers, Go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45152" y="2578608"/>
            <a:ext cx="4133088" cy="9144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62432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Imperfect Info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28529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information (e.g. cards) is hidden from opponents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0" y="3108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Poker, Stratego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251960" y="2807208"/>
            <a:ext cx="320040" cy="32004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51960" y="2807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65760" y="3611880"/>
            <a:ext cx="8412480" cy="274320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6118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Zero-Sum vs. Non-Zero-Sum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904488"/>
            <a:ext cx="4133088" cy="9144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395020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Zero-Sum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5488" y="41788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player's gain equals the other's loss — pure competition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" y="4434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Chess, Checkers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45152" y="3904488"/>
            <a:ext cx="4133088" cy="9144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95020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Non-Zero-Sum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754880" y="41788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players can win or lose; collaboration is possible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54880" y="44348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Negotiation, Cooperation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251960" y="4133088"/>
            <a:ext cx="320040" cy="320040"/>
          </a:xfrm>
          <a:prstGeom prst="ellipse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51960" y="41330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as a Search Tree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2560320" cy="2286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13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GAME PLAYING AS SEARCH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11480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54864" cy="65836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32588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individual game states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764792"/>
            <a:ext cx="411480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764792"/>
            <a:ext cx="54864" cy="65836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8288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08483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legal actions / moves taken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523744"/>
            <a:ext cx="411480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523744"/>
            <a:ext cx="54864" cy="658368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5877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2843784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game state we're evaluating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282696"/>
            <a:ext cx="411480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282696"/>
            <a:ext cx="54864" cy="658368"/>
          </a:xfrm>
          <a:prstGeom prst="rect">
            <a:avLst/>
          </a:prstGeom>
          <a:solidFill>
            <a:srgbClr val="FF3D57"/>
          </a:solidFill>
          <a:ln w="12700">
            <a:solidFill>
              <a:srgbClr val="FF3D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3467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60273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states (game over conditions)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041648"/>
            <a:ext cx="4114800" cy="658368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4041648"/>
            <a:ext cx="54864" cy="658368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1056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Values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436168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payoffs assigned to terminal states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09160" y="10058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Tic-Tac-Toe Search Tree</a:t>
            </a:r>
            <a:endParaRPr lang="en-US" sz="1000" dirty="0"/>
          </a:p>
        </p:txBody>
      </p:sp>
      <p:pic>
        <p:nvPicPr>
          <p:cNvPr id="1026" name="Picture 2" descr="A game tree of tic-tac-toe (image source). Note that it is not fully expanded due to space.">
            <a:extLst>
              <a:ext uri="{FF2B5EF4-FFF2-40B4-BE49-F238E27FC236}">
                <a16:creationId xmlns:a16="http://schemas.microsoft.com/office/drawing/2014/main" id="{5595FC9A-D14E-4A1D-B705-D714DD4C8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9160" y="1280160"/>
            <a:ext cx="4293344" cy="3431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3D57"/>
          </a:solidFill>
          <a:ln w="12700">
            <a:solidFill>
              <a:srgbClr val="FF3D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Traditional Search Is Not Enough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2560320" cy="2286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13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GAME PLAYING AS SEARCH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3931920" cy="3474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3931920" cy="34747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Single-Agent Search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is fully cooperative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19385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decision-maker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241401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 toward a fixed goal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288950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transitions are predictable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336499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adversary to account for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384048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/ BFS / DFS are sufficient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0" y="1005840"/>
            <a:ext cx="4206240" cy="3474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005840"/>
            <a:ext cx="4206240" cy="347472"/>
          </a:xfrm>
          <a:prstGeom prst="rect">
            <a:avLst/>
          </a:prstGeom>
          <a:solidFill>
            <a:srgbClr val="FF3D57"/>
          </a:solidFill>
          <a:ln w="12700">
            <a:solidFill>
              <a:srgbClr val="FF3D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Search (Games)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09160" y="14630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opponent actively works against you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09160" y="19385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competing decision-makers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09160" y="241401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account for all opponent responses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09160" y="288950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Opponent moves change the environment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09160" y="336499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Best-case analysis is insufficient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09160" y="38404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reason about worst-case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61772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This leads us to Adversarial Search — planning against a rational opponent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Minimax Principle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2560320" cy="2286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13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MINIMAX ALGORITHM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9144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51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Assumption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53312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players — MAX and MIN — alternate moves. MAX tries to maximise utility; MIN tries to minimise it.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Critically: we assume the opponent always plays optimally. This worst-case assumption guarantees a safe strategy.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3931920" cy="26060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057400"/>
            <a:ext cx="3931920" cy="32004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057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(Maximising Player)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423160"/>
            <a:ext cx="3611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move that leads to the highest guaranteed utility — the best outcome assuming the opponent also plays perfectly.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474720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pick max of children's values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70332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V(s) = max  V(s')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4005072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s' ∈ successors(s)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0" y="2057400"/>
            <a:ext cx="4206240" cy="26060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2057400"/>
            <a:ext cx="4206240" cy="320040"/>
          </a:xfrm>
          <a:prstGeom prst="rect">
            <a:avLst/>
          </a:prstGeom>
          <a:solidFill>
            <a:srgbClr val="FF3D57"/>
          </a:solidFill>
          <a:ln w="12700">
            <a:solidFill>
              <a:srgbClr val="FF3D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2057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(Minimising Player)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24231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move that leads to the lowest possible utility for MAX — the opponent always makes things as hard as possible.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9160" y="34747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pick min of children's values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3703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3D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V(s) = min  V(s')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s' ∈ successors(s)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recursive, back-propagated reasoning is the foundation of all game-playing AI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 Tree — Worked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2560320" cy="2286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13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MINIMAX ALGORITHM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64450" y="1148588"/>
            <a:ext cx="4590705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all leaf nodes (terminal utilities): -1, 4, 2, 6, -3, ….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means maximizer wins, negative means minimizer wins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64450" y="1466036"/>
            <a:ext cx="4407549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Maximizer chooses the max of the children of each node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64450" y="1722068"/>
            <a:ext cx="4407549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Minimizer chooses the min of the children of each node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64450" y="2032361"/>
            <a:ext cx="4407549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going until you reach the root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5978" y="4102516"/>
            <a:ext cx="8412480" cy="20116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5690" y="4102513"/>
            <a:ext cx="855510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MAX always picks the branch that leads to its highest guaranteed payoff — even if the opponent plays perfectly against it</a:t>
            </a:r>
            <a:endParaRPr lang="en-US" sz="12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6399707E-F0D6-4A75-9C1F-C3C578134A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5155" y="664858"/>
            <a:ext cx="4328224" cy="323048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 — Formal Definition &amp; Pseudocode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2560320" cy="2286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13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MINIMAX ALGORITHM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206240" cy="1828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51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Definition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45720" cy="320040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417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V(s) = Utility(s)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834640" y="14173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 is terminal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1856232"/>
            <a:ext cx="45720" cy="32004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85623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V(s) = max V(s')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34640" y="185623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 is a MAX node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295144"/>
            <a:ext cx="45720" cy="320040"/>
          </a:xfrm>
          <a:prstGeom prst="rect">
            <a:avLst/>
          </a:prstGeom>
          <a:solidFill>
            <a:srgbClr val="FF3D57"/>
          </a:solidFill>
          <a:ln w="12700">
            <a:solidFill>
              <a:srgbClr val="FF3D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29514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V(s) = min V(s')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834640" y="2295144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 is a MIN node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005840"/>
            <a:ext cx="4023360" cy="38862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0515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00600" y="1389888"/>
            <a:ext cx="3886200" cy="3429000"/>
          </a:xfrm>
          <a:prstGeom prst="rect">
            <a:avLst/>
          </a:prstGeom>
          <a:solidFill>
            <a:srgbClr val="080E1A"/>
          </a:solidFill>
          <a:ln w="12700">
            <a:solidFill>
              <a:srgbClr val="080E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1417320"/>
            <a:ext cx="37490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MINIMAX(state):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TERMINAL(state):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UTILITY(state)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MAX's turn: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 = −∞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each action a: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child = RESULT(state, a)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value = max(value,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MINIMAX(child))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value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else:  // MIN's turn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value = +∞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each action a: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child = RESULT(state, a)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value = min(value,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MINIMAX(child))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value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2926080"/>
            <a:ext cx="420624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926080"/>
            <a:ext cx="45720" cy="38404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29809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Recursive: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755648" y="29809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 explores one level deeper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374136"/>
            <a:ext cx="420624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374136"/>
            <a:ext cx="45720" cy="384048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7" y="3429000"/>
            <a:ext cx="14215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Backpropagation: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897038" y="343814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bubble up from leaves to root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822192"/>
            <a:ext cx="420624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822192"/>
            <a:ext cx="45720" cy="38404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38770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Optimality: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755648" y="387705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optimal move assuming rational opponent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4270248"/>
            <a:ext cx="4206240" cy="384048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4270248"/>
            <a:ext cx="45720" cy="384048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432511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Completeness: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755648" y="43251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find a solution if tree is finite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&amp; Depth-Limited Search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2560320" cy="2286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13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MINIMAX ALGORITHM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8412480" cy="155448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058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 of Full Minimax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1520" y="1389888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O(b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444752" y="135331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37360" y="1389888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103120" y="14630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branching factor  ·  m = maximum depth of tree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26517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304288" y="26517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63240" y="26517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40480" y="26517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bᵐ estimate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26517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760" y="2926080"/>
            <a:ext cx="8412480" cy="0"/>
          </a:xfrm>
          <a:prstGeom prst="line">
            <a:avLst/>
          </a:prstGeom>
          <a:noFill/>
          <a:ln w="6350">
            <a:solidFill>
              <a:srgbClr val="546E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971800"/>
            <a:ext cx="8412480" cy="420624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97180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Tic-Tac-Toe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304288" y="2971800"/>
            <a:ext cx="731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063240" y="2971800"/>
            <a:ext cx="731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40480" y="2971800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4⁹ = 262,144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46520" y="297180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Feasible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447288"/>
            <a:ext cx="8412480" cy="420624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44728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304288" y="3447288"/>
            <a:ext cx="731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063240" y="3447288"/>
            <a:ext cx="731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(max)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840480" y="3447288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35⁸⁰ ≈ astronomical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46520" y="344728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Infeasible — depth limited to ~8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3922776"/>
            <a:ext cx="8412480" cy="420624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392277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304288" y="3922776"/>
            <a:ext cx="731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~250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063240" y="3922776"/>
            <a:ext cx="731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(max)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840480" y="3922776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250¹⁵⁰ — beyond any computer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46520" y="392277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Requires MCTS + Deep RL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65760" y="4498848"/>
            <a:ext cx="8412480" cy="50292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4988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Depth-Limited Search  →  Cut the tree at depth d, then use an evaluation function Eval(s) ≈ Utility(s) to estimate terminal values without reaching true leaves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Functions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2560320" cy="2286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13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MINIMAX ALGORITHM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8412480" cy="7772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24128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full search is impossible, we use an evaluation function </a:t>
            </a:r>
            <a:r>
              <a:rPr lang="en-US" sz="14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Eval(s)</a:t>
            </a: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estimate the utility of a non-terminal state. A good evaluation function is the difference between winning and losing in real-world games.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2743200" cy="155448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874520"/>
            <a:ext cx="2743200" cy="32004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74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winning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" y="224028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must reflect the true probability of winning. A state that's clearly winning should score much higher than a losing one.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27832" y="1874520"/>
            <a:ext cx="2743200" cy="155448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27832" y="1874520"/>
            <a:ext cx="2743200" cy="320040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3552" y="1874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of computation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37560" y="224028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millions of times during search, so it must be fast — typically O(1) or O(n) at most. A slow eval function defeats the purpose.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089904" y="1874520"/>
            <a:ext cx="2743200" cy="155448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9904" y="1874520"/>
            <a:ext cx="2743200" cy="32004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35624" y="18745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and consistent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99632" y="224028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positional differences should produce small value differences; large differences should produce large ones. Avoid discontinuities.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35478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Chess Evaluation Function — Common Features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65760" y="3858768"/>
            <a:ext cx="45720" cy="20116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85876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Count: 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449937" y="3785616"/>
            <a:ext cx="7646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piece values (pawn=1, knight/bishop=3, rook=5, queen=9). Most important factor — being up material almost always wins.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096512"/>
            <a:ext cx="45720" cy="20116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409651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 Mobility: 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449937" y="4096512"/>
            <a:ext cx="7220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legal moves available. More options = more control and flexibility; restricted pieces are weaker pieces.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334256"/>
            <a:ext cx="45720" cy="201168"/>
          </a:xfrm>
          <a:prstGeom prst="rect">
            <a:avLst/>
          </a:prstGeom>
          <a:solidFill>
            <a:srgbClr val="FF3D57"/>
          </a:solidFill>
          <a:ln w="12700">
            <a:solidFill>
              <a:srgbClr val="FF3D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433425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Safety: 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449937" y="4334256"/>
            <a:ext cx="7220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 open files near the king, reward castled positions and pawn shields. A vulnerable king loses quickly.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572000"/>
            <a:ext cx="45720" cy="201168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" y="45720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Pawn Structure: 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449937" y="4572000"/>
            <a:ext cx="7220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 doubled, isolated, or backward pawns; reward passed pawns near promotion. Pawns define the game's skeleton.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809744"/>
            <a:ext cx="45720" cy="201168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4809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Control: 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449937" y="4809744"/>
            <a:ext cx="7220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Pieces controlling the centre have greater reach. Extra weight for pawns and pieces on d4, d5, e4, e5 squares.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Alpha-Beta Pruning — Motivation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2560320" cy="2286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13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ALPHA-BETA PRUNING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8412480" cy="7772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8138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 is correct but brutally expensive — it visits every node in the game tree. Yet many branches cannot possibly affect the final decision. Alpha-Beta pruning skips them, saving enormous amounts of computation.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841248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Intuitive Analogy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2212848"/>
            <a:ext cx="8138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you're choosing a vacation. You've found a great deal at $500. Now you're checking a second agency whose prices start at $700. You don't need to look at their full catalog — you already know the first option is better. Alpha-Beta does exactly this: once a branch can't beat the current best, stop exploring it.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200400"/>
            <a:ext cx="4114800" cy="16916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3200400"/>
            <a:ext cx="4114800" cy="34747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200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 —  Alpha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" y="360273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value MAX can guarantee along the current path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" y="411480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MAX's lower bound — MAX will never accept less than α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200400"/>
            <a:ext cx="4114800" cy="16916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3200400"/>
            <a:ext cx="4114800" cy="347472"/>
          </a:xfrm>
          <a:prstGeom prst="rect">
            <a:avLst/>
          </a:prstGeom>
          <a:solidFill>
            <a:srgbClr val="FF3D57"/>
          </a:solidFill>
          <a:ln w="12700">
            <a:solidFill>
              <a:srgbClr val="FF3D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3200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 —  Beta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773168" y="360273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value MIN can guarantee along the current path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73168" y="4114800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MIN's upper bound — MIN will never allow more than β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956048"/>
            <a:ext cx="8412480" cy="91440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463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 (skip) a branch when α ≥ β  —  the current path can never lead to a better result for the player whose turn it is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Alpha-Beta — Step-by-Step Example &amp; Pseudocode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2560320" cy="2286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13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ALPHA-BETA PRUNING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37760" y="987552"/>
            <a:ext cx="3840480" cy="4023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74920" y="10241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83480" y="1371600"/>
            <a:ext cx="3749040" cy="3566160"/>
          </a:xfrm>
          <a:prstGeom prst="rect">
            <a:avLst/>
          </a:prstGeom>
          <a:solidFill>
            <a:srgbClr val="080E1A"/>
          </a:solidFill>
          <a:ln w="12700">
            <a:solidFill>
              <a:srgbClr val="080E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417320"/>
            <a:ext cx="3657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ALPHABETA(s, α, β):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TERMINAL(s):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UTILITY(s)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MAX's turn: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 = −∞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each action a: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 = max(v,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ALPHABETA(result(s,a), α, β))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α = max(α, v)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α ≥ β: break  // prune!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else: // MIN's turn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 = +∞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each action a: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 = min(v,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ALPHABETA(result(s,a), α, β))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β = min(β, v)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β ≤ α: break  // prune!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10241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— tree with α/β propagation: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89888"/>
            <a:ext cx="4389120" cy="402336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389888"/>
            <a:ext cx="54864" cy="402336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389888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353312" y="142646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MAX node: α = −∞, β = +∞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1847088"/>
            <a:ext cx="4389120" cy="402336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1847088"/>
            <a:ext cx="54864" cy="40233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1847088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353312" y="188366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left MIN subtree. First leaf = 3. MIN's best ≤ 3; α stays −∞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304288"/>
            <a:ext cx="4389120" cy="402336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304288"/>
            <a:ext cx="54864" cy="40233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304288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353312" y="234086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leaf = 5. Still worse for MIN. MIN's value still 3.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2761488"/>
            <a:ext cx="4389120" cy="402336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761488"/>
            <a:ext cx="54864" cy="402336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2761488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353312" y="279806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leaf = 2. MIN picks 2. Back at MAX: α = max(−∞, 2) = 2.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218688"/>
            <a:ext cx="4389120" cy="402336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218688"/>
            <a:ext cx="54864" cy="402336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3218688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353312" y="325526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right MIN subtree. First leaf = 9. MAX's α = 2.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3675888"/>
            <a:ext cx="4389120" cy="402336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675888"/>
            <a:ext cx="54864" cy="402336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3675888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D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353312" y="371246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can guarantee ≤ 9. But we already have 2 for MAX. β = 9 ≥ α = 2; continue.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4133088"/>
            <a:ext cx="4389120" cy="402336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4133088"/>
            <a:ext cx="54864" cy="402336"/>
          </a:xfrm>
          <a:prstGeom prst="rect">
            <a:avLst/>
          </a:prstGeom>
          <a:solidFill>
            <a:srgbClr val="FF3D57"/>
          </a:solidFill>
          <a:ln w="12700">
            <a:solidFill>
              <a:srgbClr val="FF3D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" y="4133088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353312" y="416966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leaf = 1. MIN picks min(9,1) = 1. Now β = 1 &lt; α = 2. PRUNE!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4590288"/>
            <a:ext cx="4389120" cy="402336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4590288"/>
            <a:ext cx="54864" cy="402336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" y="4590288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353312" y="462686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returns 2 (left branch). Third leaf of right subtree NEVER visited.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65760" y="4983480"/>
            <a:ext cx="4389120" cy="4572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BB90D2-250E-4D5C-A5AE-20F9FB0A0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3387"/>
            <a:ext cx="9144000" cy="427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7276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D33944-FA3E-44D3-B682-6F7E3BF28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723"/>
            <a:ext cx="9144000" cy="4286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663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23EB4E-AA0A-4547-8E64-0DE5960CD7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723"/>
            <a:ext cx="9144000" cy="4286053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0DE5854-6110-4ADF-8F81-2FF9EB91631E}"/>
              </a:ext>
            </a:extLst>
          </p:cNvPr>
          <p:cNvCxnSpPr/>
          <p:nvPr/>
        </p:nvCxnSpPr>
        <p:spPr>
          <a:xfrm flipH="1">
            <a:off x="3964675" y="3708268"/>
            <a:ext cx="402609" cy="33437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D0ACD8E1-D9FE-4AFC-8F59-1873EE6531E5}"/>
              </a:ext>
            </a:extLst>
          </p:cNvPr>
          <p:cNvSpPr/>
          <p:nvPr/>
        </p:nvSpPr>
        <p:spPr>
          <a:xfrm>
            <a:off x="2968388" y="2147813"/>
            <a:ext cx="996287" cy="77792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C17953D-A349-4D33-9504-4943FC647E63}"/>
              </a:ext>
            </a:extLst>
          </p:cNvPr>
          <p:cNvCxnSpPr/>
          <p:nvPr/>
        </p:nvCxnSpPr>
        <p:spPr>
          <a:xfrm flipH="1">
            <a:off x="6233875" y="3725203"/>
            <a:ext cx="402609" cy="33437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CB4C8D6-C7B5-4DA7-819B-00B273C569DC}"/>
              </a:ext>
            </a:extLst>
          </p:cNvPr>
          <p:cNvSpPr/>
          <p:nvPr/>
        </p:nvSpPr>
        <p:spPr>
          <a:xfrm>
            <a:off x="5237588" y="2164748"/>
            <a:ext cx="996287" cy="777922"/>
          </a:xfrm>
          <a:prstGeom prst="rect">
            <a:avLst/>
          </a:prstGeom>
          <a:noFill/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38278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863A8A-8CB9-4AF8-A6BD-610EA700F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7783"/>
            <a:ext cx="9144000" cy="416793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77380A-2FB9-4B79-961A-AA8B46F90110}"/>
              </a:ext>
            </a:extLst>
          </p:cNvPr>
          <p:cNvCxnSpPr/>
          <p:nvPr/>
        </p:nvCxnSpPr>
        <p:spPr>
          <a:xfrm flipH="1">
            <a:off x="3964675" y="3708268"/>
            <a:ext cx="402609" cy="33437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5D57C8A6-8781-4494-B647-35FF30DA1122}"/>
              </a:ext>
            </a:extLst>
          </p:cNvPr>
          <p:cNvSpPr/>
          <p:nvPr/>
        </p:nvSpPr>
        <p:spPr>
          <a:xfrm>
            <a:off x="2968388" y="2147813"/>
            <a:ext cx="996287" cy="77792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B9B9F7-CF2A-4BA2-82E1-50CD70E3473F}"/>
              </a:ext>
            </a:extLst>
          </p:cNvPr>
          <p:cNvCxnSpPr/>
          <p:nvPr/>
        </p:nvCxnSpPr>
        <p:spPr>
          <a:xfrm flipH="1">
            <a:off x="6233875" y="3725203"/>
            <a:ext cx="402609" cy="33437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42C03FBE-A043-4A2E-AFC7-470FF41537E0}"/>
              </a:ext>
            </a:extLst>
          </p:cNvPr>
          <p:cNvSpPr/>
          <p:nvPr/>
        </p:nvSpPr>
        <p:spPr>
          <a:xfrm>
            <a:off x="5237588" y="2164748"/>
            <a:ext cx="996287" cy="777922"/>
          </a:xfrm>
          <a:prstGeom prst="rect">
            <a:avLst/>
          </a:prstGeom>
          <a:noFill/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858410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ABB5A7-97AD-40C8-8694-4FB0E675D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9241"/>
            <a:ext cx="9144000" cy="412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6117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4EE879-0259-4C75-AAA7-7A72B40AC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9587"/>
            <a:ext cx="9144000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25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AA266D8-8D42-4A7E-94AE-C68570240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6931"/>
            <a:ext cx="9097645" cy="4029637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A75A7E7-84CA-49B0-9539-1D3A6226445C}"/>
              </a:ext>
            </a:extLst>
          </p:cNvPr>
          <p:cNvCxnSpPr/>
          <p:nvPr/>
        </p:nvCxnSpPr>
        <p:spPr>
          <a:xfrm flipH="1">
            <a:off x="3562066" y="2945068"/>
            <a:ext cx="402609" cy="33437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02E8FA-C2C6-4054-937F-390242B2CF4E}"/>
              </a:ext>
            </a:extLst>
          </p:cNvPr>
          <p:cNvCxnSpPr/>
          <p:nvPr/>
        </p:nvCxnSpPr>
        <p:spPr>
          <a:xfrm flipH="1">
            <a:off x="1698466" y="3844549"/>
            <a:ext cx="402609" cy="33437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D3CF2E3-DF32-447E-85BC-B67D543DC2FE}"/>
              </a:ext>
            </a:extLst>
          </p:cNvPr>
          <p:cNvCxnSpPr/>
          <p:nvPr/>
        </p:nvCxnSpPr>
        <p:spPr>
          <a:xfrm flipH="1">
            <a:off x="8185666" y="2945068"/>
            <a:ext cx="402609" cy="33437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24539F78-7115-4C3D-BC9E-4FEAA60273F6}"/>
              </a:ext>
            </a:extLst>
          </p:cNvPr>
          <p:cNvSpPr/>
          <p:nvPr/>
        </p:nvSpPr>
        <p:spPr>
          <a:xfrm>
            <a:off x="1724581" y="1385947"/>
            <a:ext cx="996287" cy="77792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EAE68F-641F-448D-A86E-67A91D2DBEB9}"/>
              </a:ext>
            </a:extLst>
          </p:cNvPr>
          <p:cNvSpPr/>
          <p:nvPr/>
        </p:nvSpPr>
        <p:spPr>
          <a:xfrm>
            <a:off x="555725" y="2334331"/>
            <a:ext cx="996287" cy="777922"/>
          </a:xfrm>
          <a:prstGeom prst="rect">
            <a:avLst/>
          </a:prstGeom>
          <a:noFill/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6BBC816-EFE9-4E9D-B1E1-2D2BE5EEBD02}"/>
              </a:ext>
            </a:extLst>
          </p:cNvPr>
          <p:cNvSpPr/>
          <p:nvPr/>
        </p:nvSpPr>
        <p:spPr>
          <a:xfrm>
            <a:off x="6318915" y="1369891"/>
            <a:ext cx="996287" cy="777922"/>
          </a:xfrm>
          <a:prstGeom prst="rect">
            <a:avLst/>
          </a:prstGeom>
          <a:noFill/>
          <a:ln w="254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465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77DA366-5BE1-49CB-9841-7F346378C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3188"/>
            <a:ext cx="9144000" cy="4177124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14D4A5C-CD00-4B22-A889-577B939C7C64}"/>
              </a:ext>
            </a:extLst>
          </p:cNvPr>
          <p:cNvCxnSpPr/>
          <p:nvPr/>
        </p:nvCxnSpPr>
        <p:spPr>
          <a:xfrm flipH="1">
            <a:off x="3562066" y="2945068"/>
            <a:ext cx="402609" cy="33437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C54CE28-88D4-4B0A-B273-7D314865065A}"/>
              </a:ext>
            </a:extLst>
          </p:cNvPr>
          <p:cNvCxnSpPr/>
          <p:nvPr/>
        </p:nvCxnSpPr>
        <p:spPr>
          <a:xfrm flipH="1">
            <a:off x="1698466" y="3844549"/>
            <a:ext cx="402609" cy="33437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B2E227-6C5D-415F-A9FF-3D333D37D266}"/>
              </a:ext>
            </a:extLst>
          </p:cNvPr>
          <p:cNvCxnSpPr/>
          <p:nvPr/>
        </p:nvCxnSpPr>
        <p:spPr>
          <a:xfrm flipH="1">
            <a:off x="8185666" y="2945068"/>
            <a:ext cx="402609" cy="33437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F7C8840E-63E2-49D4-9381-479D03002ABA}"/>
              </a:ext>
            </a:extLst>
          </p:cNvPr>
          <p:cNvSpPr/>
          <p:nvPr/>
        </p:nvSpPr>
        <p:spPr>
          <a:xfrm>
            <a:off x="1724581" y="1385947"/>
            <a:ext cx="996287" cy="77792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08FFEAF-962F-4FA4-B3AA-545B355D303D}"/>
              </a:ext>
            </a:extLst>
          </p:cNvPr>
          <p:cNvSpPr/>
          <p:nvPr/>
        </p:nvSpPr>
        <p:spPr>
          <a:xfrm>
            <a:off x="555725" y="2334331"/>
            <a:ext cx="996287" cy="777922"/>
          </a:xfrm>
          <a:prstGeom prst="rect">
            <a:avLst/>
          </a:prstGeom>
          <a:noFill/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69E3DE2-0A97-4CDE-86A1-2BB837D80DFA}"/>
              </a:ext>
            </a:extLst>
          </p:cNvPr>
          <p:cNvSpPr/>
          <p:nvPr/>
        </p:nvSpPr>
        <p:spPr>
          <a:xfrm>
            <a:off x="6318915" y="1369891"/>
            <a:ext cx="996287" cy="777922"/>
          </a:xfrm>
          <a:prstGeom prst="rect">
            <a:avLst/>
          </a:prstGeom>
          <a:noFill/>
          <a:ln w="254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5440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7E2E40-01FD-4E99-BD51-245521E76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4" y="495010"/>
            <a:ext cx="9107171" cy="415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7113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64BAF1-95ED-4541-A575-E637006FD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7" y="542642"/>
            <a:ext cx="9069066" cy="40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4823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1CF802E-13DA-46D3-B4DF-114DF2825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4" y="528352"/>
            <a:ext cx="9078592" cy="4086795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F241BCA-9D93-441D-AD1B-AF2092972653}"/>
              </a:ext>
            </a:extLst>
          </p:cNvPr>
          <p:cNvCxnSpPr/>
          <p:nvPr/>
        </p:nvCxnSpPr>
        <p:spPr>
          <a:xfrm flipH="1">
            <a:off x="3681913" y="3021842"/>
            <a:ext cx="402609" cy="334370"/>
          </a:xfrm>
          <a:prstGeom prst="line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E3CFDEA-8DA3-40D8-A158-F63CEE84CBF9}"/>
              </a:ext>
            </a:extLst>
          </p:cNvPr>
          <p:cNvCxnSpPr/>
          <p:nvPr/>
        </p:nvCxnSpPr>
        <p:spPr>
          <a:xfrm flipH="1">
            <a:off x="7411765" y="2145655"/>
            <a:ext cx="402609" cy="33437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6DD1F099-4E4F-4252-AA1F-D4EBB764A8D8}"/>
              </a:ext>
            </a:extLst>
          </p:cNvPr>
          <p:cNvSpPr/>
          <p:nvPr/>
        </p:nvSpPr>
        <p:spPr>
          <a:xfrm>
            <a:off x="1828800" y="1398896"/>
            <a:ext cx="996287" cy="777922"/>
          </a:xfrm>
          <a:prstGeom prst="rect">
            <a:avLst/>
          </a:prstGeom>
          <a:noFill/>
          <a:ln w="254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7EB218-7287-41DE-8C80-B3D4C2FE5B23}"/>
              </a:ext>
            </a:extLst>
          </p:cNvPr>
          <p:cNvSpPr/>
          <p:nvPr/>
        </p:nvSpPr>
        <p:spPr>
          <a:xfrm>
            <a:off x="5250000" y="2243920"/>
            <a:ext cx="996287" cy="777922"/>
          </a:xfrm>
          <a:prstGeom prst="rect">
            <a:avLst/>
          </a:prstGeom>
          <a:noFill/>
          <a:ln w="254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331DA8-55A3-4CC7-99D0-5D2C81511F77}"/>
              </a:ext>
            </a:extLst>
          </p:cNvPr>
          <p:cNvCxnSpPr>
            <a:cxnSpLocks/>
          </p:cNvCxnSpPr>
          <p:nvPr/>
        </p:nvCxnSpPr>
        <p:spPr>
          <a:xfrm flipH="1">
            <a:off x="6246287" y="3767274"/>
            <a:ext cx="402609" cy="334370"/>
          </a:xfrm>
          <a:prstGeom prst="line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9B9BF74-314D-4530-8B45-2DD3817F16BF}"/>
              </a:ext>
            </a:extLst>
          </p:cNvPr>
          <p:cNvSpPr/>
          <p:nvPr/>
        </p:nvSpPr>
        <p:spPr>
          <a:xfrm>
            <a:off x="4073856" y="537443"/>
            <a:ext cx="996287" cy="77792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86248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B910DB-38B4-46B5-96B6-6799B3993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8" y="537878"/>
            <a:ext cx="9126224" cy="40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0357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Alpha-Beta Complexity &amp; Move Ordering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2560320" cy="2286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13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ALPHA-BETA PRUNING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743200" cy="20574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60120"/>
            <a:ext cx="2743200" cy="274320"/>
          </a:xfrm>
          <a:prstGeom prst="rect">
            <a:avLst/>
          </a:prstGeom>
          <a:solidFill>
            <a:srgbClr val="FF3D57"/>
          </a:solidFill>
          <a:ln w="12700">
            <a:solidFill>
              <a:srgbClr val="FF3D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60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29844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O(b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201546" y="126187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3D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06394" y="1298448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" y="1938528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pruning occurs. Identical to full Minimax — all nodes visited. Happens when moves are ordered worst-first.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27832" y="960120"/>
            <a:ext cx="2743200" cy="20574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27832" y="960120"/>
            <a:ext cx="2743200" cy="27432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73552" y="960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56432" y="1298448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O(b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063618" y="126187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8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m/2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48250" y="1298448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319272" y="1938528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move ordering — always examine the best move first. Effective branching factor becomes √b, effectively doubling search depth.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89904" y="960120"/>
            <a:ext cx="2743200" cy="20574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9904" y="960120"/>
            <a:ext cx="2743200" cy="274320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35624" y="960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Case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18504" y="1298448"/>
            <a:ext cx="74475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O(b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960631" y="1252728"/>
            <a:ext cx="66246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3m/4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545369" y="1298448"/>
            <a:ext cx="320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181344" y="1938528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ordering. Typically achieves significant pruning in practice. Chess depth effectively increases by 50–100%.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Ordering — Why It Matters So Much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65760" y="3474720"/>
            <a:ext cx="8412480" cy="15087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35204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move ordering leads to more pruning. In chess, examining the best move first can cut the search space from b^m to b^(m/2) — that's a HUGE improvement. Standard techniques: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02920" y="4069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Captures First: 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331720" y="4069080"/>
            <a:ext cx="6263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Winning captures examined before quiet moves; they tend to be good moves.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" y="42885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Killer Moves: 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331720" y="4288536"/>
            <a:ext cx="6263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moves that caused pruning at same depth — try them again in siblings.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" y="45079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History Heuristic: 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331720" y="4507992"/>
            <a:ext cx="6263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how often each move caused a cut; sort by historical success rate.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" y="4727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Iterative Deepening: 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331720" y="4727448"/>
            <a:ext cx="6263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depth d-1 first; use best move found as first move at depth d.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Imperfect Decision Making — Stochastic Games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2560320" cy="2286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13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IMPERFECT DECISION MAKING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8412480" cy="8229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24128"/>
            <a:ext cx="8138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 assumes a deterministic world with a rational opponent. But many real games involve randomness (dice, card shuffles) or hidden information. We need extensions to handle these.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Minimax Assumptions Break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65760" y="2212848"/>
            <a:ext cx="274320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212848"/>
            <a:ext cx="2743200" cy="256032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128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Outcomes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5146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Dice, coin flips, card draws. The same action can lead to different states. e.g. Backgammon dice.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46120" y="2212848"/>
            <a:ext cx="274320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2212848"/>
            <a:ext cx="2743200" cy="256032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22128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Imperfect Information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25146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in hand are hidden. Opponent's resources unknown. e.g. Poker, Stratego.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26480" y="2212848"/>
            <a:ext cx="274320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2212848"/>
            <a:ext cx="2743200" cy="256032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22128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Non-rational Opponent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25146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opponents make mistakes. Pure worst-case analysis misses winning opportunities.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520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Expectiminimax — Handling Chance Nodes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65760" y="3840480"/>
            <a:ext cx="475488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886200"/>
            <a:ext cx="4434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now has three node types: MAX (our turn), MIN (opponent's turn), and CHANCE (random event like a dice roll).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315968"/>
            <a:ext cx="4434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CHANCE nodes, compute expected value: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4572000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V(s) = Σ P(outcome) × V(child)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257800" y="3840480"/>
            <a:ext cx="352044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388620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Dice Example: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4187952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P(roll=1) = 0.5  →  child value = 10
P(roll=2) = 0.5  →  child value =  0
</a:t>
            </a:r>
            <a:r>
              <a:rPr lang="en-US" sz="1200" b="1" dirty="0">
                <a:solidFill>
                  <a:srgbClr val="FFD7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E[V] = 0.5 × 10 + 0.5 × 0 = 5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D1089EA-807A-4E8D-8D08-571AFEC23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994" y="331634"/>
            <a:ext cx="6414406" cy="43484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700831-C946-4868-939A-BD6114603E9D}"/>
              </a:ext>
            </a:extLst>
          </p:cNvPr>
          <p:cNvSpPr txBox="1"/>
          <p:nvPr/>
        </p:nvSpPr>
        <p:spPr>
          <a:xfrm>
            <a:off x="6305727" y="1190812"/>
            <a:ext cx="2913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MAX makes a move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AF38D1-4650-468B-AC1C-65A0081466F3}"/>
              </a:ext>
            </a:extLst>
          </p:cNvPr>
          <p:cNvSpPr txBox="1"/>
          <p:nvPr/>
        </p:nvSpPr>
        <p:spPr>
          <a:xfrm>
            <a:off x="6908707" y="2362599"/>
            <a:ext cx="2913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MIN rolls the dice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DE5967-CE26-46FD-B00B-1BE34FFE32C8}"/>
              </a:ext>
            </a:extLst>
          </p:cNvPr>
          <p:cNvSpPr txBox="1"/>
          <p:nvPr/>
        </p:nvSpPr>
        <p:spPr>
          <a:xfrm>
            <a:off x="7192800" y="3267986"/>
            <a:ext cx="2913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MIN makes a move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3DEABE-87B2-48C2-A4C5-2ABBBA3BA700}"/>
              </a:ext>
            </a:extLst>
          </p:cNvPr>
          <p:cNvSpPr txBox="1"/>
          <p:nvPr/>
        </p:nvSpPr>
        <p:spPr>
          <a:xfrm>
            <a:off x="5215353" y="381333"/>
            <a:ext cx="2913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MAX rolls the dice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5DDF82-4803-4DE6-B8DE-1F1E890BF7C4}"/>
              </a:ext>
            </a:extLst>
          </p:cNvPr>
          <p:cNvSpPr/>
          <p:nvPr/>
        </p:nvSpPr>
        <p:spPr>
          <a:xfrm>
            <a:off x="1630907" y="1840099"/>
            <a:ext cx="1405720" cy="16612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71FB29-5B54-4DFD-9AEB-5DB7D8233002}"/>
              </a:ext>
            </a:extLst>
          </p:cNvPr>
          <p:cNvSpPr txBox="1"/>
          <p:nvPr/>
        </p:nvSpPr>
        <p:spPr>
          <a:xfrm>
            <a:off x="673774" y="1560144"/>
            <a:ext cx="1549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Available plays after this dice roll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4DAE575-EE85-484A-90C4-6A75257639E3}"/>
              </a:ext>
            </a:extLst>
          </p:cNvPr>
          <p:cNvSpPr/>
          <p:nvPr/>
        </p:nvSpPr>
        <p:spPr>
          <a:xfrm>
            <a:off x="5079241" y="1830921"/>
            <a:ext cx="1405720" cy="16612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0904094-F2F9-4BB9-BC6B-077E9A0290F8}"/>
              </a:ext>
            </a:extLst>
          </p:cNvPr>
          <p:cNvSpPr txBox="1"/>
          <p:nvPr/>
        </p:nvSpPr>
        <p:spPr>
          <a:xfrm>
            <a:off x="4064760" y="1564614"/>
            <a:ext cx="1549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Available plays after this dice roll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50E953A-CCA5-4019-AB7F-BF5BB61E419D}"/>
              </a:ext>
            </a:extLst>
          </p:cNvPr>
          <p:cNvCxnSpPr>
            <a:stCxn id="17" idx="0"/>
          </p:cNvCxnSpPr>
          <p:nvPr/>
        </p:nvCxnSpPr>
        <p:spPr>
          <a:xfrm flipV="1">
            <a:off x="4839395" y="1009934"/>
            <a:ext cx="239846" cy="55468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22C58DF8-47C0-49AC-B0B2-F633662F6A0B}"/>
              </a:ext>
            </a:extLst>
          </p:cNvPr>
          <p:cNvCxnSpPr>
            <a:cxnSpLocks/>
            <a:stCxn id="12" idx="0"/>
          </p:cNvCxnSpPr>
          <p:nvPr/>
        </p:nvCxnSpPr>
        <p:spPr>
          <a:xfrm rot="5400000" flipH="1" flipV="1">
            <a:off x="1821851" y="713760"/>
            <a:ext cx="472943" cy="1219826"/>
          </a:xfrm>
          <a:prstGeom prst="curvedConnector2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3239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D53C248-23FE-4CC8-8714-FAD668899EB0}"/>
              </a:ext>
            </a:extLst>
          </p:cNvPr>
          <p:cNvSpPr txBox="1"/>
          <p:nvPr/>
        </p:nvSpPr>
        <p:spPr>
          <a:xfrm>
            <a:off x="6357877" y="2769336"/>
            <a:ext cx="2913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MAX rolls the dice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A576295-E373-4D32-928C-7D45C3197327}"/>
              </a:ext>
            </a:extLst>
          </p:cNvPr>
          <p:cNvGrpSpPr/>
          <p:nvPr/>
        </p:nvGrpSpPr>
        <p:grpSpPr>
          <a:xfrm>
            <a:off x="201600" y="86461"/>
            <a:ext cx="8620538" cy="4909353"/>
            <a:chOff x="201600" y="86461"/>
            <a:chExt cx="8620538" cy="490935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8C3243E-63A7-4EEC-890A-92FCBC9C515F}"/>
                </a:ext>
              </a:extLst>
            </p:cNvPr>
            <p:cNvGrpSpPr/>
            <p:nvPr/>
          </p:nvGrpSpPr>
          <p:grpSpPr>
            <a:xfrm>
              <a:off x="201600" y="441900"/>
              <a:ext cx="8620538" cy="4553914"/>
              <a:chOff x="201600" y="144000"/>
              <a:chExt cx="8620538" cy="4553914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8B4D2BD9-484A-4CFB-8F90-B657258A79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848140" y="445586"/>
                <a:ext cx="5509737" cy="4252328"/>
              </a:xfrm>
              <a:prstGeom prst="rect">
                <a:avLst/>
              </a:prstGeom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284E37-1FD0-4AC3-957B-7F8E81CA66D7}"/>
                  </a:ext>
                </a:extLst>
              </p:cNvPr>
              <p:cNvSpPr txBox="1"/>
              <p:nvPr/>
            </p:nvSpPr>
            <p:spPr>
              <a:xfrm>
                <a:off x="5908341" y="441863"/>
                <a:ext cx="2913797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/>
                  <a:t>MAX makes a move</a:t>
                </a:r>
              </a:p>
              <a:p>
                <a:r>
                  <a:rPr lang="en-CA" sz="1200" dirty="0"/>
                  <a:t>Assuming MAX rolled the dice already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C620351-F7D8-4D13-8174-493C9D3B10A8}"/>
                  </a:ext>
                </a:extLst>
              </p:cNvPr>
              <p:cNvSpPr txBox="1"/>
              <p:nvPr/>
            </p:nvSpPr>
            <p:spPr>
              <a:xfrm>
                <a:off x="5908340" y="1174790"/>
                <a:ext cx="29137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/>
                  <a:t>MIN rolls the dice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09349AE-F921-427E-8BB3-44DF1FEE8631}"/>
                  </a:ext>
                </a:extLst>
              </p:cNvPr>
              <p:cNvSpPr txBox="1"/>
              <p:nvPr/>
            </p:nvSpPr>
            <p:spPr>
              <a:xfrm>
                <a:off x="5908341" y="1921104"/>
                <a:ext cx="29137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/>
                  <a:t>MIN makes a move</a:t>
                </a: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4C9B310-CE5F-4647-BBAA-E1764A6C0486}"/>
                  </a:ext>
                </a:extLst>
              </p:cNvPr>
              <p:cNvSpPr txBox="1"/>
              <p:nvPr/>
            </p:nvSpPr>
            <p:spPr>
              <a:xfrm>
                <a:off x="5167951" y="3579989"/>
                <a:ext cx="29137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CA" dirty="0"/>
                  <a:t>MAX makes a move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04D8AAFF-AD28-40A3-83F7-C33006F1C216}"/>
                  </a:ext>
                </a:extLst>
              </p:cNvPr>
              <p:cNvSpPr/>
              <p:nvPr/>
            </p:nvSpPr>
            <p:spPr>
              <a:xfrm>
                <a:off x="2081284" y="1685499"/>
                <a:ext cx="3514298" cy="300250"/>
              </a:xfrm>
              <a:prstGeom prst="rect">
                <a:avLst/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94943AA-E50C-44C9-A1F2-8E20A978A99E}"/>
                  </a:ext>
                </a:extLst>
              </p:cNvPr>
              <p:cNvSpPr txBox="1"/>
              <p:nvPr/>
            </p:nvSpPr>
            <p:spPr>
              <a:xfrm>
                <a:off x="201600" y="1616417"/>
                <a:ext cx="196560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>
                    <a:solidFill>
                      <a:srgbClr val="FF0000"/>
                    </a:solidFill>
                  </a:rPr>
                  <a:t>The probability of each dice outcome</a:t>
                </a:r>
                <a:endParaRPr lang="en-CA" sz="11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4B9908D0-7374-4256-AE84-062CCFD291F9}"/>
                  </a:ext>
                </a:extLst>
              </p:cNvPr>
              <p:cNvCxnSpPr/>
              <p:nvPr/>
            </p:nvCxnSpPr>
            <p:spPr>
              <a:xfrm flipV="1">
                <a:off x="3168000" y="144000"/>
                <a:ext cx="496800" cy="4104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C4BC83B-35B0-4D1D-A0FB-B2049D863F1D}"/>
                </a:ext>
              </a:extLst>
            </p:cNvPr>
            <p:cNvSpPr txBox="1"/>
            <p:nvPr/>
          </p:nvSpPr>
          <p:spPr>
            <a:xfrm>
              <a:off x="3630970" y="86461"/>
              <a:ext cx="770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/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24354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E83E0DC-C498-42DE-BAE8-1ADF70AC40D0}"/>
              </a:ext>
            </a:extLst>
          </p:cNvPr>
          <p:cNvGrpSpPr/>
          <p:nvPr/>
        </p:nvGrpSpPr>
        <p:grpSpPr>
          <a:xfrm>
            <a:off x="158996" y="-160533"/>
            <a:ext cx="6852897" cy="5095232"/>
            <a:chOff x="43200" y="-160533"/>
            <a:chExt cx="6852897" cy="509523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D534629-05F4-4D65-B1C9-8027D9BA11EE}"/>
                </a:ext>
              </a:extLst>
            </p:cNvPr>
            <p:cNvGrpSpPr/>
            <p:nvPr/>
          </p:nvGrpSpPr>
          <p:grpSpPr>
            <a:xfrm>
              <a:off x="43200" y="113541"/>
              <a:ext cx="6852897" cy="4821158"/>
              <a:chOff x="43200" y="113541"/>
              <a:chExt cx="6852897" cy="4821158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09621246-98B3-4C4E-94B8-F4EB0375A2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3200" y="208800"/>
                <a:ext cx="6852897" cy="4725899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2BB22D6A-317E-4D75-ACB1-97F0740F45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93646" y="113541"/>
                <a:ext cx="777307" cy="190517"/>
              </a:xfrm>
              <a:prstGeom prst="rect">
                <a:avLst/>
              </a:prstGeom>
            </p:spPr>
          </p:pic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85C8A69-110C-4E85-AC71-B01230B9D90E}"/>
                </a:ext>
              </a:extLst>
            </p:cNvPr>
            <p:cNvSpPr txBox="1"/>
            <p:nvPr/>
          </p:nvSpPr>
          <p:spPr>
            <a:xfrm>
              <a:off x="3985753" y="-160533"/>
              <a:ext cx="770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CA" dirty="0"/>
                <a:t>…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52C0EA9-4A13-4565-B7D3-B52D28CD1143}"/>
              </a:ext>
            </a:extLst>
          </p:cNvPr>
          <p:cNvSpPr txBox="1"/>
          <p:nvPr/>
        </p:nvSpPr>
        <p:spPr>
          <a:xfrm>
            <a:off x="6240927" y="298324"/>
            <a:ext cx="291379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MAX makes a move</a:t>
            </a:r>
          </a:p>
          <a:p>
            <a:r>
              <a:rPr lang="en-CA" sz="1200" dirty="0"/>
              <a:t>Assuming MAX rolled the dice already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397E77-8DB6-4C74-A243-E60E9D78ED02}"/>
              </a:ext>
            </a:extLst>
          </p:cNvPr>
          <p:cNvSpPr txBox="1"/>
          <p:nvPr/>
        </p:nvSpPr>
        <p:spPr>
          <a:xfrm>
            <a:off x="6240926" y="1842022"/>
            <a:ext cx="2913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MIN rolls the dice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9FED17-51A9-455C-B117-FE59BF6A8FB3}"/>
              </a:ext>
            </a:extLst>
          </p:cNvPr>
          <p:cNvSpPr txBox="1"/>
          <p:nvPr/>
        </p:nvSpPr>
        <p:spPr>
          <a:xfrm>
            <a:off x="6884553" y="3483986"/>
            <a:ext cx="2913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MIN makes a move</a:t>
            </a:r>
          </a:p>
        </p:txBody>
      </p:sp>
    </p:spTree>
    <p:extLst>
      <p:ext uri="{BB962C8B-B14F-4D97-AF65-F5344CB8AC3E}">
        <p14:creationId xmlns:p14="http://schemas.microsoft.com/office/powerpoint/2010/main" val="32600007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Imperfect Information &amp; Mixed Strategies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2560320" cy="2286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13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IMPERFECT DECISION MAKING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4160520" cy="39776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87552"/>
            <a:ext cx="4160520" cy="310896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87552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Imperfect Information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353312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games like Poker or Battleships, we do not have full visibility of the game state. This fundamentally changes strategy.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must maintain belief states — probability distributions over possible opponent states — and update them as new information arrives (Bayesian updating).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788920"/>
            <a:ext cx="45720" cy="25603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7889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 States: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92808" y="27889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 distribution P(hidden state | observed evidence) updated each turn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3099816"/>
            <a:ext cx="45720" cy="25603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30998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Sets: 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92808" y="309981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states the player cannot distinguish — act over the whole set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410712"/>
            <a:ext cx="45720" cy="256032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34107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Regret: 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92808" y="34107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regret across histories — used in modern Poker AI (Libratus)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721608"/>
            <a:ext cx="45720" cy="256032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" y="37216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POMDP Formulation: 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92808" y="372160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Observable Markov Decision Process — principled framework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4069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Poker, Stratego, Battleships, Magic: The Gathering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" y="4315968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requires: Game Theory · Bayesian Updating · Probabilistic Reasoning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09160" y="987552"/>
            <a:ext cx="4069080" cy="39776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987552"/>
            <a:ext cx="4069080" cy="310896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98755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Strategies &amp; Nash Equilibrium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1353312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strategy is exploitable — a smart opponent will learn and beat it. The solution is to randomise.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1965960"/>
            <a:ext cx="3977640" cy="25603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96596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Rock-Paper-Scissors — Classic Example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228600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Always Rock: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739128" y="22860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Opponent plays Paper → always wins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2670048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Always Paper: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739128" y="267004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Opponent plays Scissors → always wins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6320" y="3054096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Always Scissors: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739128" y="305409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Opponent plays Rock → always wins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3438144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Random 1/3 each: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739128" y="343814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exploitable pattern → Nash Equilibrium!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46320" y="3822192"/>
            <a:ext cx="3794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Nash Equilibrium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846320" y="4059936"/>
            <a:ext cx="37947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of strategies where no player can improve by unilaterally changing strategy. In zero-sum 2-player games, this is the optimal mixed strategy — both players randomise optimally and neither can do better.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Rationality &amp; Real Opponents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2560320" cy="2286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13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IMPERFECT DECISION MAKING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8412480" cy="7772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24128"/>
            <a:ext cx="81381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 assumes the opponent is perfectly rational — always making the best possible move. In practice, opponents are human, use heuristics, or are weak AI agents. Modelling this can unlock significantly stronger play.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4114800" cy="31089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874520"/>
            <a:ext cx="4114800" cy="292608"/>
          </a:xfrm>
          <a:prstGeom prst="rect">
            <a:avLst/>
          </a:prstGeom>
          <a:solidFill>
            <a:srgbClr val="FF3D57"/>
          </a:solidFill>
          <a:ln w="12700">
            <a:solidFill>
              <a:srgbClr val="FF3D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8745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Opponents Deviate from Optimal Play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" y="2231136"/>
            <a:ext cx="3913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pressure forces quick, suboptimal decisions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743200"/>
            <a:ext cx="3913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limits — human working memory is finite (~7 items)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3255264"/>
            <a:ext cx="3913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Pattern-based play learned from experience, not exhaustive analysis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" y="3767328"/>
            <a:ext cx="3913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state affects decision quality (tilt, overconfidence)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4279392"/>
            <a:ext cx="3913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knowledge of openings, endgames, or tactics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874520"/>
            <a:ext cx="4114800" cy="31089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874520"/>
            <a:ext cx="4114800" cy="29260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8745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Can Exploit This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73168" y="2231136"/>
            <a:ext cx="3913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search depth to model opponent's horizon (bounded minimax)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73168" y="2743200"/>
            <a:ext cx="3913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noisy/probabilistic move models: P(opponent plays move) ∝ quality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73168" y="3255264"/>
            <a:ext cx="3913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 known human tendencies (e.g. centre openings in chess)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73168" y="3767328"/>
            <a:ext cx="3913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objectively weaker moves that confuse or trap specific opponents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73168" y="4279392"/>
            <a:ext cx="39136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Opponent modelling with RL or Bayesian inference on play history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5047488"/>
            <a:ext cx="8412480" cy="45720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Game AI — Beyond Minimax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2560320" cy="2286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13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IMPERFECT DECISION MAKING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8412480" cy="7315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24128"/>
            <a:ext cx="81381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minimax with alpha-beta dominated game AI for decades. Modern AI has broken through the computational barriers that limited classical methods — achieving superhuman play in even the most complex games.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10512"/>
            <a:ext cx="841248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810512"/>
            <a:ext cx="914400" cy="100584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810512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89888" y="1865376"/>
            <a:ext cx="7269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Tree Search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389888" y="2130552"/>
            <a:ext cx="7269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evaluating all branches, simulate random playouts from promising states and back-propagate win rates. Combines exploration with exploitation (UCB formula). Key to AlphaGo.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89888" y="2560320"/>
            <a:ext cx="7269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Works without evaluation function, handles huge branching factors   ✗ Requires many simulations to converge; slow for real-time games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871216"/>
            <a:ext cx="841248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871216"/>
            <a:ext cx="914400" cy="100584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71216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89888" y="2926080"/>
            <a:ext cx="7269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Neural Networks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389888" y="3191256"/>
            <a:ext cx="7269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position evaluation from millions of games rather than hand-crafting features. Convolutional networks for board games (vision-like); transformer-based for sequential games.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89888" y="3621024"/>
            <a:ext cx="7269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Rich position evaluation, detects complex patterns   ✗ Huge training data requirements; black-box decisions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931920"/>
            <a:ext cx="841248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931920"/>
            <a:ext cx="914400" cy="1005840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93192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89888" y="3986784"/>
            <a:ext cx="7269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E9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389888" y="4251960"/>
            <a:ext cx="7269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learns by playing against itself (self-play) and receiving win/loss rewards. No human data needed. AlphaZero learned chess, Go and shogi from scratch in hours.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389888" y="4681728"/>
            <a:ext cx="7269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Self-improving, no expert data needed, discovers novel strategies   ✗ Unstable training, reward engineering is hard, compute-intensive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5047488"/>
            <a:ext cx="8412480" cy="4572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&amp; Weaknesses — Algorithm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2560320" cy="2286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13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4206240" cy="201168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87552"/>
            <a:ext cx="4206240" cy="27432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875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31673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Strengths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" y="15361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Optimal for deterministic, perfect-info games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30352" y="1828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Simple to implement and reason about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30352" y="21214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Guarantees best worst-case outcome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" y="245973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Weaknesses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0352" y="26791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O(bᵐ) — exponential in depth and branching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" y="29535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Cannot handle stochastic environments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30352" y="32278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Assumes opponent rationality — fails vs humans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0" y="987552"/>
            <a:ext cx="4206240" cy="201168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987552"/>
            <a:ext cx="4206240" cy="27432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9875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Alpha-Beta Pruning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10328" y="131673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Strengths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65192" y="15361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Reduces to O(b^(m/2)) in best case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65192" y="18288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Same optimal result as Minimax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65192" y="21214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Large practical speedup with move ordering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10328" y="245973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Weaknesses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65192" y="26791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Still exponential in worst case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65192" y="29535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Benefit depends heavily on move ordering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965192" y="32278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Pure classical approach — no learning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090672"/>
            <a:ext cx="4206240" cy="201168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090672"/>
            <a:ext cx="4206240" cy="274320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090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Expectiminimax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75488" y="341985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Strengths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0352" y="36393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Correctly handles random events (dice, cards)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30352" y="3931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Generalises Minimax naturally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30352" y="42245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Provably correct under stated assumptions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5488" y="456285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Weaknesses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" y="47823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Even more expensive: b^m × number of outcomes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30352" y="50566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Requires known probabilities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30352" y="5330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Evaluation function must be linear in utilities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00600" y="3090672"/>
            <a:ext cx="4206240" cy="201168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0600" y="3090672"/>
            <a:ext cx="4206240" cy="274320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090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MCTS + Deep RL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910328" y="341985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Strengths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65192" y="36393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Handles massive search spaces (Go, Chess)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965192" y="3931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need for hand-crafted evaluation functions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965192" y="42245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Self-improvement through self-play (AlphaZero)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910328" y="456285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3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Weaknesses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965192" y="47823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Requires enormous compute and data to train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965192" y="50566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Black-box: difficult to interpret decisions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965192" y="5330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Overkill for simple or well-solved games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502920" cy="43891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87552" y="90525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are formalised as search trees with states, players, actions, and utility functions.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444752"/>
            <a:ext cx="502920" cy="43891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4475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87552" y="148132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Minimax guarantees optimal play against a rational opponent but is exponentially expensive.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020824"/>
            <a:ext cx="502920" cy="438912"/>
          </a:xfrm>
          <a:prstGeom prst="rect">
            <a:avLst/>
          </a:prstGeom>
          <a:solidFill>
            <a:srgbClr val="FFD740"/>
          </a:solidFill>
          <a:ln w="12700">
            <a:solidFill>
              <a:srgbClr val="FFD7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2082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87552" y="205740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Alpha-Beta pruning achieves the same result while exploring only O(b^(m/2)) nodes in the best case.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596896"/>
            <a:ext cx="502920" cy="438912"/>
          </a:xfrm>
          <a:prstGeom prst="rect">
            <a:avLst/>
          </a:prstGeom>
          <a:solidFill>
            <a:srgbClr val="CE93D8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9689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87552" y="2633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Depth-limited search + evaluation functions make Minimax practical for real games.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172968"/>
            <a:ext cx="502920" cy="438912"/>
          </a:xfrm>
          <a:prstGeom prst="rect">
            <a:avLst/>
          </a:prstGeom>
          <a:solidFill>
            <a:srgbClr val="FF3D57"/>
          </a:solidFill>
          <a:ln w="12700">
            <a:solidFill>
              <a:srgbClr val="FF3D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17296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87552" y="320954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Stochastic games need Expectiminimax; imperfect information requires probabilistic and game-theoretic reasoning.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502920" cy="43891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74904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87552" y="3785616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AI (MCTS, Deep RL, AlphaZero) overcomes classical limits, achieving superhuman performance.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434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·  Game Playing as Search  ·  3rd Year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4382</TotalTime>
  <Words>3350</Words>
  <Application>Microsoft Office PowerPoint</Application>
  <PresentationFormat>On-screen Show (16:9)</PresentationFormat>
  <Paragraphs>466</Paragraphs>
  <Slides>35</Slides>
  <Notes>20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 Playing as Search</dc:title>
  <dc:subject>PptxGenJS Presentation</dc:subject>
  <dc:creator>PptxGenJS</dc:creator>
  <cp:lastModifiedBy>Yasser Ebrahim</cp:lastModifiedBy>
  <cp:revision>27</cp:revision>
  <dcterms:created xsi:type="dcterms:W3CDTF">2026-02-19T19:15:29Z</dcterms:created>
  <dcterms:modified xsi:type="dcterms:W3CDTF">2026-03-01T00:48:07Z</dcterms:modified>
</cp:coreProperties>
</file>