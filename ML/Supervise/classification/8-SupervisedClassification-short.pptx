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notesMasterIdLst>
    <p:notesMasterId r:id="rId19"/>
  </p:notesMasterIdLst>
  <p:sldIdLst>
    <p:sldId id="287" r:id="rId2"/>
    <p:sldId id="257" r:id="rId3"/>
    <p:sldId id="288" r:id="rId4"/>
    <p:sldId id="381" r:id="rId5"/>
    <p:sldId id="399" r:id="rId6"/>
    <p:sldId id="397" r:id="rId7"/>
    <p:sldId id="382" r:id="rId8"/>
    <p:sldId id="384" r:id="rId9"/>
    <p:sldId id="390" r:id="rId10"/>
    <p:sldId id="298" r:id="rId11"/>
    <p:sldId id="394" r:id="rId12"/>
    <p:sldId id="395" r:id="rId13"/>
    <p:sldId id="396" r:id="rId14"/>
    <p:sldId id="299" r:id="rId15"/>
    <p:sldId id="300" r:id="rId16"/>
    <p:sldId id="301" r:id="rId17"/>
    <p:sldId id="30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9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98A2E-CBA4-46BE-8860-7AE2AA0606D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5D4FA-D4BD-4E06-8686-4768FA599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77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44BE366-70C2-308F-E210-3824F19C31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637636-EEB3-4113-9668-B2398F1DE1BF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72034" name="Rectangle 2">
            <a:extLst>
              <a:ext uri="{FF2B5EF4-FFF2-40B4-BE49-F238E27FC236}">
                <a16:creationId xmlns:a16="http://schemas.microsoft.com/office/drawing/2014/main" id="{2437D2E8-4CBA-D9E7-B458-D87FBD6361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358B1D68-2945-0ED8-58D5-864E57B645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44BE366-70C2-308F-E210-3824F19C31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637636-EEB3-4113-9668-B2398F1DE1BF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72034" name="Rectangle 2">
            <a:extLst>
              <a:ext uri="{FF2B5EF4-FFF2-40B4-BE49-F238E27FC236}">
                <a16:creationId xmlns:a16="http://schemas.microsoft.com/office/drawing/2014/main" id="{2437D2E8-4CBA-D9E7-B458-D87FBD6361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358B1D68-2945-0ED8-58D5-864E57B645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6373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67290B5-3230-8757-10DF-3A277EF138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2B16D1-79E5-4E97-B666-ECFF281CFAFD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206850" name="Rectangle 2">
            <a:extLst>
              <a:ext uri="{FF2B5EF4-FFF2-40B4-BE49-F238E27FC236}">
                <a16:creationId xmlns:a16="http://schemas.microsoft.com/office/drawing/2014/main" id="{6237BD6A-6417-5408-E295-71F0EE665A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68E8C2DB-894A-513D-4E43-EE5815E56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0DCFB061-4267-4D9F-8017-6F550D3068DF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92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90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203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4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14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38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86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E4C8-2960-4ADD-862C-4D9643CB15AC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46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BDEA15-09CD-4275-A8E0-385C965F48B0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575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5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D1C6-60D0-4CD1-8F31-F912522EB041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6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12B73-C064-E796-C5EE-08F48F355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D4AF-DF01-6FAB-0DCA-BC33D3C22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FC8FD-2D49-69CF-2B9B-FE17D7FB6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1C82-61F8-45FE-9696-CFB61826696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4ED4B-CD3F-2CFD-12D9-43B1B283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72C54-CBDE-249C-15CD-0B856178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31943-DE9B-4D07-B24B-13C771412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37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8082C-0922-4249-A612-B415F5231620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41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fR1C6CvhmE&amp;t=492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20416" y="1085215"/>
            <a:ext cx="9144000" cy="2764028"/>
          </a:xfrm>
        </p:spPr>
        <p:txBody>
          <a:bodyPr anchor="ctr">
            <a:normAutofit fontScale="90000"/>
          </a:bodyPr>
          <a:lstStyle/>
          <a:p>
            <a:r>
              <a:rPr lang="en-US" sz="7200" dirty="0"/>
              <a:t>Supervised classification</a:t>
            </a:r>
            <a:br>
              <a:rPr lang="en-US" sz="7200" dirty="0"/>
            </a:b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320416" y="4258801"/>
            <a:ext cx="8258176" cy="631825"/>
          </a:xfrm>
        </p:spPr>
        <p:txBody>
          <a:bodyPr anchor="ctr">
            <a:normAutofit lnSpcReduction="10000"/>
          </a:bodyPr>
          <a:lstStyle/>
          <a:p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26825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84C13-780A-8849-3B21-8BE550E62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Support Vector Machines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31595-6468-B7A2-067F-00E1C33C0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dirty="0"/>
              <a:t>Support Vector Machines (SVMs) are powerful supervised learning algorithms used for classification, regression, and outlier detection.</a:t>
            </a:r>
          </a:p>
          <a:p>
            <a:r>
              <a:rPr lang="en-US" dirty="0"/>
              <a:t>Developed by Vladimir </a:t>
            </a:r>
            <a:r>
              <a:rPr lang="en-US" dirty="0" err="1"/>
              <a:t>Vapnik</a:t>
            </a:r>
            <a:r>
              <a:rPr lang="en-US" dirty="0"/>
              <a:t> and colleagues at AT&amp;T Bell Laboratories in the 1990s.</a:t>
            </a:r>
          </a:p>
          <a:p>
            <a:r>
              <a:rPr lang="en-US" dirty="0"/>
              <a:t>Based on statistical learning theory and structural risk minimization principles.</a:t>
            </a:r>
          </a:p>
          <a:p>
            <a:r>
              <a:rPr lang="en-US" dirty="0"/>
              <a:t>Core idea: Find an optimal hyperplane that maximally separates different classes.</a:t>
            </a:r>
          </a:p>
          <a:p>
            <a:r>
              <a:rPr lang="en-US" dirty="0"/>
              <a:t>SVMs excel at handling high-dimensional data and complex decision boundaries.</a:t>
            </a:r>
          </a:p>
          <a:p>
            <a:r>
              <a:rPr lang="en-US" dirty="0"/>
              <a:t>Particularly effective when the number of dimensions exceeds the number of samples.</a:t>
            </a:r>
          </a:p>
        </p:txBody>
      </p:sp>
    </p:spTree>
    <p:extLst>
      <p:ext uri="{BB962C8B-B14F-4D97-AF65-F5344CB8AC3E}">
        <p14:creationId xmlns:p14="http://schemas.microsoft.com/office/powerpoint/2010/main" val="532767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7F837-15F9-0F60-DF19-4C337C8E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D465-84E4-BB91-0E3E-9CC4F195C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Intuition Behind SVMs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4DA7E-93DC-6C97-9674-58DCCB43E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804965"/>
          </a:xfrm>
        </p:spPr>
        <p:txBody>
          <a:bodyPr>
            <a:normAutofit/>
          </a:bodyPr>
          <a:lstStyle/>
          <a:p>
            <a:r>
              <a:rPr lang="en-US" dirty="0"/>
              <a:t>Goal: Find the decision boundary with maximum margin between classes.</a:t>
            </a:r>
          </a:p>
          <a:p>
            <a:r>
              <a:rPr lang="en-US" dirty="0"/>
              <a:t>Margin: Distance between the decision boundary and the closest data points.</a:t>
            </a:r>
          </a:p>
          <a:p>
            <a:r>
              <a:rPr lang="en-US" dirty="0"/>
              <a:t>Support Vectors: The critical data points closest to the decision boundary.</a:t>
            </a:r>
          </a:p>
          <a:p>
            <a:r>
              <a:rPr lang="en-US" dirty="0"/>
              <a:t>Key insight: Only these support vectors influence the position and orientation of the hyperplane.</a:t>
            </a:r>
          </a:p>
          <a:p>
            <a:r>
              <a:rPr lang="en-US" dirty="0"/>
              <a:t>Larger margins lead to better generalization to unseen data.</a:t>
            </a:r>
          </a:p>
          <a:p>
            <a:r>
              <a:rPr lang="en-US" dirty="0"/>
              <a:t>SVM optimization problem focuses on maximizing this margin.</a:t>
            </a:r>
          </a:p>
          <a:p>
            <a:r>
              <a:rPr lang="en-US" dirty="0"/>
              <a:t>This approach makes SVMs naturally resistant to overfitting.</a:t>
            </a:r>
          </a:p>
        </p:txBody>
      </p:sp>
    </p:spTree>
    <p:extLst>
      <p:ext uri="{BB962C8B-B14F-4D97-AF65-F5344CB8AC3E}">
        <p14:creationId xmlns:p14="http://schemas.microsoft.com/office/powerpoint/2010/main" val="1546430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EC7CF045-31E1-0D71-21C7-4D34B4975F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Linear Separators (Perceptron) 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F254C9C4-77DE-179F-D959-3820A73EA9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51579" y="1785938"/>
            <a:ext cx="8229600" cy="2572507"/>
          </a:xfrm>
        </p:spPr>
        <p:txBody>
          <a:bodyPr>
            <a:normAutofit/>
          </a:bodyPr>
          <a:lstStyle/>
          <a:p>
            <a:r>
              <a:rPr lang="en-US" altLang="en-US" dirty="0"/>
              <a:t>Binary classification can be viewed as the task of separating classes in feature space:</a:t>
            </a:r>
          </a:p>
          <a:p>
            <a:pPr lvl="1"/>
            <a:r>
              <a:rPr lang="en-US" altLang="en-US" dirty="0"/>
              <a:t>A point (one feature)</a:t>
            </a:r>
          </a:p>
          <a:p>
            <a:pPr lvl="1"/>
            <a:r>
              <a:rPr lang="en-US" altLang="en-US" dirty="0"/>
              <a:t>A line (2 features</a:t>
            </a:r>
          </a:p>
          <a:p>
            <a:pPr lvl="1"/>
            <a:r>
              <a:rPr lang="en-US" altLang="en-US" dirty="0"/>
              <a:t>A Plane (3 features)</a:t>
            </a:r>
          </a:p>
          <a:p>
            <a:pPr lvl="1"/>
            <a:r>
              <a:rPr lang="en-US" altLang="en-US" dirty="0"/>
              <a:t>…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alt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934E219-AA8F-9A11-C717-AAC41D8858C3}"/>
              </a:ext>
            </a:extLst>
          </p:cNvPr>
          <p:cNvGrpSpPr/>
          <p:nvPr/>
        </p:nvGrpSpPr>
        <p:grpSpPr>
          <a:xfrm>
            <a:off x="4485975" y="3876675"/>
            <a:ext cx="3267375" cy="2098645"/>
            <a:chOff x="6958617" y="2650507"/>
            <a:chExt cx="5524499" cy="3400425"/>
          </a:xfrm>
        </p:grpSpPr>
        <p:sp>
          <p:nvSpPr>
            <p:cNvPr id="2" name="Line 4">
              <a:extLst>
                <a:ext uri="{FF2B5EF4-FFF2-40B4-BE49-F238E27FC236}">
                  <a16:creationId xmlns:a16="http://schemas.microsoft.com/office/drawing/2014/main" id="{E681AC0D-5348-3963-C5BB-299310A58E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93554" y="3009282"/>
              <a:ext cx="0" cy="3041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Line 5">
              <a:extLst>
                <a:ext uri="{FF2B5EF4-FFF2-40B4-BE49-F238E27FC236}">
                  <a16:creationId xmlns:a16="http://schemas.microsoft.com/office/drawing/2014/main" id="{44BD739F-D6ED-8DE5-79FA-1A40F1F658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58617" y="5935045"/>
              <a:ext cx="4081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6">
              <a:extLst>
                <a:ext uri="{FF2B5EF4-FFF2-40B4-BE49-F238E27FC236}">
                  <a16:creationId xmlns:a16="http://schemas.microsoft.com/office/drawing/2014/main" id="{E088F81E-AB26-9853-8B75-3D4E5C77B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3366" y="3764932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AutoShape 7">
              <a:extLst>
                <a:ext uri="{FF2B5EF4-FFF2-40B4-BE49-F238E27FC236}">
                  <a16:creationId xmlns:a16="http://schemas.microsoft.com/office/drawing/2014/main" id="{53D92601-AB2B-2681-DC68-B9A8355EE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8691" y="412212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AutoShape 8">
              <a:extLst>
                <a:ext uri="{FF2B5EF4-FFF2-40B4-BE49-F238E27FC236}">
                  <a16:creationId xmlns:a16="http://schemas.microsoft.com/office/drawing/2014/main" id="{EE0A18F9-74C3-C934-C8CE-218A54CC8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1091" y="466822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1F4DA27C-16A5-A5A9-4549-95B2E215F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0091" y="512542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AutoShape 10">
              <a:extLst>
                <a:ext uri="{FF2B5EF4-FFF2-40B4-BE49-F238E27FC236}">
                  <a16:creationId xmlns:a16="http://schemas.microsoft.com/office/drawing/2014/main" id="{214BA728-06D5-8B6B-4D03-24A7FFF23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3491" y="352522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AutoShape 11">
              <a:extLst>
                <a:ext uri="{FF2B5EF4-FFF2-40B4-BE49-F238E27FC236}">
                  <a16:creationId xmlns:a16="http://schemas.microsoft.com/office/drawing/2014/main" id="{554B8DF1-4F40-1390-F077-9BFF0138B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0091" y="443962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AutoShape 12">
              <a:extLst>
                <a:ext uri="{FF2B5EF4-FFF2-40B4-BE49-F238E27FC236}">
                  <a16:creationId xmlns:a16="http://schemas.microsoft.com/office/drawing/2014/main" id="{C277A55C-989E-6B1D-260E-39B66EE87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2491" y="459202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AutoShape 13">
              <a:extLst>
                <a:ext uri="{FF2B5EF4-FFF2-40B4-BE49-F238E27FC236}">
                  <a16:creationId xmlns:a16="http://schemas.microsoft.com/office/drawing/2014/main" id="{54FE2124-58C9-174D-EFBF-66EA57164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4491" y="421102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AutoShape 14">
              <a:extLst>
                <a:ext uri="{FF2B5EF4-FFF2-40B4-BE49-F238E27FC236}">
                  <a16:creationId xmlns:a16="http://schemas.microsoft.com/office/drawing/2014/main" id="{E98CBABA-5FC8-2D97-DDF9-8ADBC7CB3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6191" y="419832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AutoShape 15">
              <a:extLst>
                <a:ext uri="{FF2B5EF4-FFF2-40B4-BE49-F238E27FC236}">
                  <a16:creationId xmlns:a16="http://schemas.microsoft.com/office/drawing/2014/main" id="{D6DF4D3E-97DC-45B8-BA93-4A6728E5C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7891" y="512542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AutoShape 16">
              <a:extLst>
                <a:ext uri="{FF2B5EF4-FFF2-40B4-BE49-F238E27FC236}">
                  <a16:creationId xmlns:a16="http://schemas.microsoft.com/office/drawing/2014/main" id="{95190009-7852-72EB-63BF-8362ECBF8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8491" y="512542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AutoShape 17">
              <a:extLst>
                <a:ext uri="{FF2B5EF4-FFF2-40B4-BE49-F238E27FC236}">
                  <a16:creationId xmlns:a16="http://schemas.microsoft.com/office/drawing/2014/main" id="{876A4B82-1BD3-66EB-9D03-842E55C3A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0391" y="564612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AutoShape 18">
              <a:extLst>
                <a:ext uri="{FF2B5EF4-FFF2-40B4-BE49-F238E27FC236}">
                  <a16:creationId xmlns:a16="http://schemas.microsoft.com/office/drawing/2014/main" id="{B151B926-F876-F905-CE9F-F5DE6AAE2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2691" y="451582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AutoShape 19">
              <a:extLst>
                <a:ext uri="{FF2B5EF4-FFF2-40B4-BE49-F238E27FC236}">
                  <a16:creationId xmlns:a16="http://schemas.microsoft.com/office/drawing/2014/main" id="{58EDEB09-47E2-A287-393E-9C97B7957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0391" y="496032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AutoShape 20">
              <a:extLst>
                <a:ext uri="{FF2B5EF4-FFF2-40B4-BE49-F238E27FC236}">
                  <a16:creationId xmlns:a16="http://schemas.microsoft.com/office/drawing/2014/main" id="{68A2933E-83B1-3F81-D96B-4B45545EF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8891" y="535402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AutoShape 21">
              <a:extLst>
                <a:ext uri="{FF2B5EF4-FFF2-40B4-BE49-F238E27FC236}">
                  <a16:creationId xmlns:a16="http://schemas.microsoft.com/office/drawing/2014/main" id="{F1EFA703-0244-B5B0-0CA5-6D18C21DB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4691" y="443962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0EB99DA6-9E28-4EC9-8419-58EAFB968D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06291" y="2991820"/>
              <a:ext cx="2438400" cy="26670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AutoShape 23">
              <a:extLst>
                <a:ext uri="{FF2B5EF4-FFF2-40B4-BE49-F238E27FC236}">
                  <a16:creationId xmlns:a16="http://schemas.microsoft.com/office/drawing/2014/main" id="{3E59216C-FF9E-0D0B-69C9-037FAD17E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0216" y="2926732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AutoShape 24">
              <a:extLst>
                <a:ext uri="{FF2B5EF4-FFF2-40B4-BE49-F238E27FC236}">
                  <a16:creationId xmlns:a16="http://schemas.microsoft.com/office/drawing/2014/main" id="{CA367CE5-F007-501C-7FDE-A60D8CA85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9816" y="3002932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AutoShape 25">
              <a:extLst>
                <a:ext uri="{FF2B5EF4-FFF2-40B4-BE49-F238E27FC236}">
                  <a16:creationId xmlns:a16="http://schemas.microsoft.com/office/drawing/2014/main" id="{C88B02DF-1FEE-2930-02BC-10AFC348C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616" y="3764932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Text Box 26">
              <a:extLst>
                <a:ext uri="{FF2B5EF4-FFF2-40B4-BE49-F238E27FC236}">
                  <a16:creationId xmlns:a16="http://schemas.microsoft.com/office/drawing/2014/main" id="{8DE77A48-47D8-D901-8CCA-E608C24323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16115" y="2650507"/>
              <a:ext cx="2667001" cy="441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en-US" b="1" dirty="0"/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4FFF7076-8696-46DB-B6D7-1B3430D0D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204" y="2114837"/>
            <a:ext cx="6239746" cy="110505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34DD8D7-0EEC-4475-AD79-F52C0AAB5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898" y="2886859"/>
            <a:ext cx="1543265" cy="38105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1A0B68E-0FE9-41BA-9849-008BF6286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219" y="4324011"/>
            <a:ext cx="2994071" cy="157978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C4DC79C-3105-48A5-A6F2-D3F9F1C168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0818" y="1329136"/>
            <a:ext cx="3048264" cy="990686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EE18CCDD-4943-44DE-8B33-FE70A98631DD}"/>
              </a:ext>
            </a:extLst>
          </p:cNvPr>
          <p:cNvSpPr/>
          <p:nvPr/>
        </p:nvSpPr>
        <p:spPr>
          <a:xfrm>
            <a:off x="4405204" y="3480974"/>
            <a:ext cx="5812356" cy="2572507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9E4855FD-6B56-4896-9DE7-1E2D098651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4194" y="5835006"/>
            <a:ext cx="243861" cy="19813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2D717AE-C6A9-4F70-BE3C-174F0E4FDE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2719" y="2406006"/>
            <a:ext cx="243861" cy="19813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8DD0B0B8-895F-49AC-82A0-C4F901F9C9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3216" y="3560597"/>
            <a:ext cx="2429214" cy="45726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0DD56A5-8664-43F5-8E29-3EF3C59A82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5303" y="3719489"/>
            <a:ext cx="304843" cy="333422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869B1EF7-5BCD-4BA2-82C9-EADC95225FDB}"/>
              </a:ext>
            </a:extLst>
          </p:cNvPr>
          <p:cNvSpPr txBox="1"/>
          <p:nvPr/>
        </p:nvSpPr>
        <p:spPr>
          <a:xfrm>
            <a:off x="4931013" y="4149049"/>
            <a:ext cx="334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88B861-ADBE-4CBA-A991-35486062BFE2}"/>
              </a:ext>
            </a:extLst>
          </p:cNvPr>
          <p:cNvSpPr txBox="1"/>
          <p:nvPr/>
        </p:nvSpPr>
        <p:spPr>
          <a:xfrm>
            <a:off x="5623786" y="5100433"/>
            <a:ext cx="465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</a:p>
        </p:txBody>
      </p:sp>
      <p:graphicFrame>
        <p:nvGraphicFramePr>
          <p:cNvPr id="165888" name="Table 165887">
            <a:extLst>
              <a:ext uri="{FF2B5EF4-FFF2-40B4-BE49-F238E27FC236}">
                <a16:creationId xmlns:a16="http://schemas.microsoft.com/office/drawing/2014/main" id="{BDBEB163-B3DB-4156-855B-7237A99E0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736083"/>
              </p:ext>
            </p:extLst>
          </p:nvPr>
        </p:nvGraphicFramePr>
        <p:xfrm>
          <a:off x="167991" y="4270912"/>
          <a:ext cx="3470505" cy="1564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9860">
                  <a:extLst>
                    <a:ext uri="{9D8B030D-6E8A-4147-A177-3AD203B41FA5}">
                      <a16:colId xmlns:a16="http://schemas.microsoft.com/office/drawing/2014/main" val="2034977528"/>
                    </a:ext>
                  </a:extLst>
                </a:gridCol>
                <a:gridCol w="1777923">
                  <a:extLst>
                    <a:ext uri="{9D8B030D-6E8A-4147-A177-3AD203B41FA5}">
                      <a16:colId xmlns:a16="http://schemas.microsoft.com/office/drawing/2014/main" val="1475888369"/>
                    </a:ext>
                  </a:extLst>
                </a:gridCol>
                <a:gridCol w="682722">
                  <a:extLst>
                    <a:ext uri="{9D8B030D-6E8A-4147-A177-3AD203B41FA5}">
                      <a16:colId xmlns:a16="http://schemas.microsoft.com/office/drawing/2014/main" val="4259613238"/>
                    </a:ext>
                  </a:extLst>
                </a:gridCol>
              </a:tblGrid>
              <a:tr h="601574"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u="none" strike="noStrike">
                          <a:effectLst/>
                        </a:rPr>
                        <a:t>x1 (sugar level)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u="none" strike="noStrike">
                          <a:effectLst/>
                        </a:rPr>
                        <a:t>x2 (systolic blood pressure)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u="none" strike="noStrike">
                          <a:effectLst/>
                        </a:rPr>
                        <a:t>y (label)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92925608"/>
                  </a:ext>
                </a:extLst>
              </a:tr>
              <a:tr h="320840"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u="none" strike="noStrike">
                          <a:effectLst/>
                        </a:rPr>
                        <a:t>6.2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u="none" strike="noStrike">
                          <a:effectLst/>
                        </a:rPr>
                        <a:t>88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u="none" strike="noStrike">
                          <a:effectLst/>
                        </a:rPr>
                        <a:t>-1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94863203"/>
                  </a:ext>
                </a:extLst>
              </a:tr>
              <a:tr h="320840"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u="none" strike="noStrike">
                          <a:effectLst/>
                        </a:rPr>
                        <a:t>5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u="none" strike="noStrike" dirty="0">
                          <a:effectLst/>
                        </a:rPr>
                        <a:t>80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u="none" strike="noStrike">
                          <a:effectLst/>
                        </a:rPr>
                        <a:t>1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73223960"/>
                  </a:ext>
                </a:extLst>
              </a:tr>
              <a:tr h="320840"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u="none" strike="noStrike">
                          <a:effectLst/>
                        </a:rPr>
                        <a:t>9.5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u="none" strike="noStrike" dirty="0">
                          <a:effectLst/>
                        </a:rPr>
                        <a:t>150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u="none" strike="noStrike" dirty="0">
                          <a:effectLst/>
                        </a:rPr>
                        <a:t>-1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47019822"/>
                  </a:ext>
                </a:extLst>
              </a:tr>
            </a:tbl>
          </a:graphicData>
        </a:graphic>
      </p:graphicFrame>
    </p:spTree>
  </p:cSld>
  <p:clrMapOvr>
    <a:masterClrMapping/>
  </p:clrMapOvr>
  <p:transition advTm="34928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EC7CF045-31E1-0D71-21C7-4D34B4975F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Linear Separators 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F254C9C4-77DE-179F-D959-3820A73EA9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51579" y="1785938"/>
            <a:ext cx="8229600" cy="5029200"/>
          </a:xfrm>
        </p:spPr>
        <p:txBody>
          <a:bodyPr>
            <a:normAutofit/>
          </a:bodyPr>
          <a:lstStyle/>
          <a:p>
            <a:r>
              <a:rPr lang="en-US" altLang="en-US" dirty="0"/>
              <a:t>Binary classification can be viewed as the task of separating classes in feature space:</a:t>
            </a:r>
          </a:p>
          <a:p>
            <a:r>
              <a:rPr lang="en-US" dirty="0"/>
              <a:t>Where:</a:t>
            </a:r>
          </a:p>
          <a:p>
            <a:pPr lvl="1"/>
            <a:r>
              <a:rPr lang="en-US" b="1" dirty="0"/>
              <a:t>x </a:t>
            </a:r>
            <a:r>
              <a:rPr lang="en-US" dirty="0"/>
              <a:t>is </a:t>
            </a:r>
            <a:endParaRPr lang="en-US" b="1" dirty="0"/>
          </a:p>
          <a:p>
            <a:pPr lvl="1"/>
            <a:r>
              <a:rPr lang="en-US" b="1" dirty="0"/>
              <a:t>w</a:t>
            </a:r>
            <a:r>
              <a:rPr lang="en-US" dirty="0"/>
              <a:t> is the normal vector to the hyperplane,</a:t>
            </a:r>
          </a:p>
          <a:p>
            <a:pPr lvl="1"/>
            <a:r>
              <a:rPr lang="en-US" i="1" dirty="0"/>
              <a:t>b</a:t>
            </a:r>
            <a:r>
              <a:rPr lang="en-US" dirty="0"/>
              <a:t> is the bias term that determines the y intercept</a:t>
            </a:r>
          </a:p>
          <a:p>
            <a:r>
              <a:rPr lang="en-US" dirty="0"/>
              <a:t>Learning means finding the best </a:t>
            </a:r>
            <a:r>
              <a:rPr lang="en-US" b="1" dirty="0"/>
              <a:t>w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alt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0228E1C-3367-EDA3-C65B-7D00D2B44B28}"/>
              </a:ext>
            </a:extLst>
          </p:cNvPr>
          <p:cNvGrpSpPr/>
          <p:nvPr/>
        </p:nvGrpSpPr>
        <p:grpSpPr>
          <a:xfrm>
            <a:off x="7305375" y="3244645"/>
            <a:ext cx="5457214" cy="2844975"/>
            <a:chOff x="3519948" y="2932822"/>
            <a:chExt cx="6224127" cy="3161531"/>
          </a:xfrm>
        </p:grpSpPr>
        <p:sp>
          <p:nvSpPr>
            <p:cNvPr id="165917" name="Text Box 29">
              <a:extLst>
                <a:ext uri="{FF2B5EF4-FFF2-40B4-BE49-F238E27FC236}">
                  <a16:creationId xmlns:a16="http://schemas.microsoft.com/office/drawing/2014/main" id="{6C11112B-8DBD-C343-96EB-BE3569FF9D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0375" y="4381500"/>
              <a:ext cx="29337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i="1"/>
                <a:t>f</a:t>
              </a:r>
              <a:r>
                <a:rPr lang="en-US" altLang="en-US"/>
                <a:t>(</a:t>
              </a:r>
              <a:r>
                <a:rPr lang="en-US" altLang="en-US" b="1"/>
                <a:t>x</a:t>
              </a:r>
              <a:r>
                <a:rPr lang="en-US" altLang="en-US"/>
                <a:t>)</a:t>
              </a:r>
              <a:r>
                <a:rPr lang="en-US" altLang="en-US" i="1"/>
                <a:t> = </a:t>
              </a:r>
              <a:r>
                <a:rPr lang="en-US" altLang="en-US"/>
                <a:t>sign(</a:t>
              </a:r>
              <a:r>
                <a:rPr lang="en-US" altLang="en-US" b="1"/>
                <a:t>w</a:t>
              </a:r>
              <a:r>
                <a:rPr lang="en-US" altLang="en-US" b="1" baseline="30000"/>
                <a:t>T</a:t>
              </a:r>
              <a:r>
                <a:rPr lang="en-US" altLang="en-US" b="1"/>
                <a:t>x </a:t>
              </a:r>
              <a:r>
                <a:rPr lang="en-US" altLang="en-US"/>
                <a:t>+ </a:t>
              </a:r>
              <a:r>
                <a:rPr lang="en-US" altLang="en-US" i="1"/>
                <a:t>b</a:t>
              </a:r>
              <a:r>
                <a:rPr lang="en-US" altLang="en-US"/>
                <a:t>)</a:t>
              </a:r>
              <a:endParaRPr lang="en-US" altLang="en-US" b="1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934E219-AA8F-9A11-C717-AAC41D8858C3}"/>
                </a:ext>
              </a:extLst>
            </p:cNvPr>
            <p:cNvGrpSpPr/>
            <p:nvPr/>
          </p:nvGrpSpPr>
          <p:grpSpPr>
            <a:xfrm>
              <a:off x="3519948" y="2932822"/>
              <a:ext cx="5298972" cy="3161531"/>
              <a:chOff x="6958617" y="2650507"/>
              <a:chExt cx="5524499" cy="3400425"/>
            </a:xfrm>
          </p:grpSpPr>
          <p:sp>
            <p:nvSpPr>
              <p:cNvPr id="2" name="Line 4">
                <a:extLst>
                  <a:ext uri="{FF2B5EF4-FFF2-40B4-BE49-F238E27FC236}">
                    <a16:creationId xmlns:a16="http://schemas.microsoft.com/office/drawing/2014/main" id="{E681AC0D-5348-3963-C5BB-299310A58E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93554" y="3009282"/>
                <a:ext cx="0" cy="304165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" name="Line 5">
                <a:extLst>
                  <a:ext uri="{FF2B5EF4-FFF2-40B4-BE49-F238E27FC236}">
                    <a16:creationId xmlns:a16="http://schemas.microsoft.com/office/drawing/2014/main" id="{44BD739F-D6ED-8DE5-79FA-1A40F1F658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58617" y="5935045"/>
                <a:ext cx="40814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AutoShape 6">
                <a:extLst>
                  <a:ext uri="{FF2B5EF4-FFF2-40B4-BE49-F238E27FC236}">
                    <a16:creationId xmlns:a16="http://schemas.microsoft.com/office/drawing/2014/main" id="{E088F81E-AB26-9853-8B75-3D4E5C77B7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33366" y="3764932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FF0000"/>
              </a:solidFill>
              <a:ln w="9525" algn="ctr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" name="AutoShape 7">
                <a:extLst>
                  <a:ext uri="{FF2B5EF4-FFF2-40B4-BE49-F238E27FC236}">
                    <a16:creationId xmlns:a16="http://schemas.microsoft.com/office/drawing/2014/main" id="{53D92601-AB2B-2681-DC68-B9A8355EE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58691" y="412212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FF0000"/>
              </a:solidFill>
              <a:ln w="9525" algn="ctr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" name="AutoShape 8">
                <a:extLst>
                  <a:ext uri="{FF2B5EF4-FFF2-40B4-BE49-F238E27FC236}">
                    <a16:creationId xmlns:a16="http://schemas.microsoft.com/office/drawing/2014/main" id="{EE0A18F9-74C3-C934-C8CE-218A54CC83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1091" y="466822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FF0000"/>
              </a:solidFill>
              <a:ln w="9525" algn="ctr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1F4DA27C-16A5-A5A9-4549-95B2E215FC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30091" y="512542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FF0000"/>
              </a:solidFill>
              <a:ln w="9525" algn="ctr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AutoShape 10">
                <a:extLst>
                  <a:ext uri="{FF2B5EF4-FFF2-40B4-BE49-F238E27FC236}">
                    <a16:creationId xmlns:a16="http://schemas.microsoft.com/office/drawing/2014/main" id="{214BA728-06D5-8B6B-4D03-24A7FFF23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3491" y="352522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FF0000"/>
              </a:solidFill>
              <a:ln w="9525" algn="ctr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AutoShape 11">
                <a:extLst>
                  <a:ext uri="{FF2B5EF4-FFF2-40B4-BE49-F238E27FC236}">
                    <a16:creationId xmlns:a16="http://schemas.microsoft.com/office/drawing/2014/main" id="{554B8DF1-4F40-1390-F077-9BFF0138B4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30091" y="443962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FF0000"/>
              </a:solidFill>
              <a:ln w="9525" algn="ctr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AutoShape 12">
                <a:extLst>
                  <a:ext uri="{FF2B5EF4-FFF2-40B4-BE49-F238E27FC236}">
                    <a16:creationId xmlns:a16="http://schemas.microsoft.com/office/drawing/2014/main" id="{C277A55C-989E-6B1D-260E-39B66EE878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2491" y="459202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FF0000"/>
              </a:solidFill>
              <a:ln w="9525" algn="ctr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AutoShape 13">
                <a:extLst>
                  <a:ext uri="{FF2B5EF4-FFF2-40B4-BE49-F238E27FC236}">
                    <a16:creationId xmlns:a16="http://schemas.microsoft.com/office/drawing/2014/main" id="{54FE2124-58C9-174D-EFBF-66EA57164C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44491" y="421102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FF0000"/>
              </a:solidFill>
              <a:ln w="9525" algn="ctr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AutoShape 14">
                <a:extLst>
                  <a:ext uri="{FF2B5EF4-FFF2-40B4-BE49-F238E27FC236}">
                    <a16:creationId xmlns:a16="http://schemas.microsoft.com/office/drawing/2014/main" id="{E98CBABA-5FC8-2D97-DDF9-8ADBC7CB3D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6191" y="419832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0000FF"/>
              </a:solidFill>
              <a:ln w="9525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AutoShape 15">
                <a:extLst>
                  <a:ext uri="{FF2B5EF4-FFF2-40B4-BE49-F238E27FC236}">
                    <a16:creationId xmlns:a16="http://schemas.microsoft.com/office/drawing/2014/main" id="{D6DF4D3E-97DC-45B8-BA93-4A6728E5C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77891" y="512542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0000FF"/>
              </a:solidFill>
              <a:ln w="9525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AutoShape 16">
                <a:extLst>
                  <a:ext uri="{FF2B5EF4-FFF2-40B4-BE49-F238E27FC236}">
                    <a16:creationId xmlns:a16="http://schemas.microsoft.com/office/drawing/2014/main" id="{95190009-7852-72EB-63BF-8362ECBF8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68491" y="512542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0000FF"/>
              </a:solidFill>
              <a:ln w="9525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AutoShape 17">
                <a:extLst>
                  <a:ext uri="{FF2B5EF4-FFF2-40B4-BE49-F238E27FC236}">
                    <a16:creationId xmlns:a16="http://schemas.microsoft.com/office/drawing/2014/main" id="{876A4B82-1BD3-66EB-9D03-842E55C3A3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60391" y="564612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0000FF"/>
              </a:solidFill>
              <a:ln w="9525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AutoShape 18">
                <a:extLst>
                  <a:ext uri="{FF2B5EF4-FFF2-40B4-BE49-F238E27FC236}">
                    <a16:creationId xmlns:a16="http://schemas.microsoft.com/office/drawing/2014/main" id="{B151B926-F876-F905-CE9F-F5DE6AAE2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82691" y="451582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0000FF"/>
              </a:solidFill>
              <a:ln w="9525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AutoShape 19">
                <a:extLst>
                  <a:ext uri="{FF2B5EF4-FFF2-40B4-BE49-F238E27FC236}">
                    <a16:creationId xmlns:a16="http://schemas.microsoft.com/office/drawing/2014/main" id="{58EDEB09-47E2-A287-393E-9C97B7957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60391" y="496032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0000FF"/>
              </a:solidFill>
              <a:ln w="9525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AutoShape 20">
                <a:extLst>
                  <a:ext uri="{FF2B5EF4-FFF2-40B4-BE49-F238E27FC236}">
                    <a16:creationId xmlns:a16="http://schemas.microsoft.com/office/drawing/2014/main" id="{68A2933E-83B1-3F81-D96B-4B45545EF9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8891" y="535402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0000FF"/>
              </a:solidFill>
              <a:ln w="9525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AutoShape 21">
                <a:extLst>
                  <a:ext uri="{FF2B5EF4-FFF2-40B4-BE49-F238E27FC236}">
                    <a16:creationId xmlns:a16="http://schemas.microsoft.com/office/drawing/2014/main" id="{F1EFA703-0244-B5B0-0CA5-6D18C21DB8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44691" y="443962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0000FF"/>
              </a:solidFill>
              <a:ln w="9525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Line 22">
                <a:extLst>
                  <a:ext uri="{FF2B5EF4-FFF2-40B4-BE49-F238E27FC236}">
                    <a16:creationId xmlns:a16="http://schemas.microsoft.com/office/drawing/2014/main" id="{0EB99DA6-9E28-4EC9-8419-58EAFB968D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406291" y="2991820"/>
                <a:ext cx="2438400" cy="266700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AutoShape 23">
                <a:extLst>
                  <a:ext uri="{FF2B5EF4-FFF2-40B4-BE49-F238E27FC236}">
                    <a16:creationId xmlns:a16="http://schemas.microsoft.com/office/drawing/2014/main" id="{3E59216C-FF9E-0D0B-69C9-037FAD17E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0216" y="2926732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FF0000"/>
              </a:solidFill>
              <a:ln w="9525" algn="ctr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AutoShape 24">
                <a:extLst>
                  <a:ext uri="{FF2B5EF4-FFF2-40B4-BE49-F238E27FC236}">
                    <a16:creationId xmlns:a16="http://schemas.microsoft.com/office/drawing/2014/main" id="{CA367CE5-F007-501C-7FDE-A60D8CA85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9816" y="3002932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FF0000"/>
              </a:solidFill>
              <a:ln w="9525" algn="ctr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AutoShape 25">
                <a:extLst>
                  <a:ext uri="{FF2B5EF4-FFF2-40B4-BE49-F238E27FC236}">
                    <a16:creationId xmlns:a16="http://schemas.microsoft.com/office/drawing/2014/main" id="{C88B02DF-1FEE-2930-02BC-10AFC348CF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06616" y="3764932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0000FF"/>
              </a:solidFill>
              <a:ln w="9525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Text Box 26">
                <a:extLst>
                  <a:ext uri="{FF2B5EF4-FFF2-40B4-BE49-F238E27FC236}">
                    <a16:creationId xmlns:a16="http://schemas.microsoft.com/office/drawing/2014/main" id="{8DE77A48-47D8-D901-8CCA-E608C24323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16115" y="2650507"/>
                <a:ext cx="2667001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b="1" dirty="0" err="1"/>
                  <a:t>w</a:t>
                </a:r>
                <a:r>
                  <a:rPr lang="en-US" altLang="en-US" b="1" baseline="30000" dirty="0" err="1"/>
                  <a:t>T</a:t>
                </a:r>
                <a:r>
                  <a:rPr lang="en-US" altLang="en-US" b="1" dirty="0" err="1"/>
                  <a:t>x</a:t>
                </a:r>
                <a:r>
                  <a:rPr lang="en-US" altLang="en-US" b="1" dirty="0"/>
                  <a:t> </a:t>
                </a:r>
                <a:r>
                  <a:rPr lang="en-US" altLang="en-US" dirty="0"/>
                  <a:t>+ </a:t>
                </a:r>
                <a:r>
                  <a:rPr lang="en-US" altLang="en-US" i="1" dirty="0"/>
                  <a:t>b</a:t>
                </a:r>
                <a:r>
                  <a:rPr lang="en-US" altLang="en-US" b="1" dirty="0"/>
                  <a:t> = 0</a:t>
                </a:r>
              </a:p>
            </p:txBody>
          </p:sp>
          <p:sp>
            <p:nvSpPr>
              <p:cNvPr id="25" name="Text Box 27">
                <a:extLst>
                  <a:ext uri="{FF2B5EF4-FFF2-40B4-BE49-F238E27FC236}">
                    <a16:creationId xmlns:a16="http://schemas.microsoft.com/office/drawing/2014/main" id="{09F216F5-0644-BD9C-5EB6-C5CAB1B862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16116" y="3212482"/>
                <a:ext cx="2667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b="1"/>
                  <a:t>w</a:t>
                </a:r>
                <a:r>
                  <a:rPr lang="en-US" altLang="en-US" b="1" baseline="30000"/>
                  <a:t>T</a:t>
                </a:r>
                <a:r>
                  <a:rPr lang="en-US" altLang="en-US" b="1"/>
                  <a:t>x </a:t>
                </a:r>
                <a:r>
                  <a:rPr lang="en-US" altLang="en-US"/>
                  <a:t>+ </a:t>
                </a:r>
                <a:r>
                  <a:rPr lang="en-US" altLang="en-US" i="1"/>
                  <a:t>b</a:t>
                </a:r>
                <a:r>
                  <a:rPr lang="en-US" altLang="en-US" b="1"/>
                  <a:t> &lt; 0</a:t>
                </a:r>
              </a:p>
            </p:txBody>
          </p:sp>
          <p:sp>
            <p:nvSpPr>
              <p:cNvPr id="26" name="Text Box 28">
                <a:extLst>
                  <a:ext uri="{FF2B5EF4-FFF2-40B4-BE49-F238E27FC236}">
                    <a16:creationId xmlns:a16="http://schemas.microsoft.com/office/drawing/2014/main" id="{05840E86-E42E-FB4D-85C3-DC329C71C8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87241" y="2993407"/>
                <a:ext cx="2667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b="1"/>
                  <a:t>w</a:t>
                </a:r>
                <a:r>
                  <a:rPr lang="en-US" altLang="en-US" b="1" baseline="30000"/>
                  <a:t>T</a:t>
                </a:r>
                <a:r>
                  <a:rPr lang="en-US" altLang="en-US" b="1"/>
                  <a:t>x </a:t>
                </a:r>
                <a:r>
                  <a:rPr lang="en-US" altLang="en-US"/>
                  <a:t>+ </a:t>
                </a:r>
                <a:r>
                  <a:rPr lang="en-US" altLang="en-US" i="1"/>
                  <a:t>b</a:t>
                </a:r>
                <a:r>
                  <a:rPr lang="en-US" altLang="en-US" b="1"/>
                  <a:t> &gt; 0</a:t>
                </a:r>
              </a:p>
            </p:txBody>
          </p:sp>
        </p:grp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2E149573-F682-C9FD-5ABF-87C5F7C76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4" y="4752137"/>
            <a:ext cx="7298251" cy="120068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2A215A1-829C-7C47-38FF-61CECB0AB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9640" y="3130093"/>
            <a:ext cx="701481" cy="31616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34EF22B-3195-98E1-92D9-19227CEDF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7957" y="3475749"/>
            <a:ext cx="860083" cy="35589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32F5A278-F8B0-4230-9CC8-5A3758472EE5}"/>
              </a:ext>
            </a:extLst>
          </p:cNvPr>
          <p:cNvGrpSpPr/>
          <p:nvPr/>
        </p:nvGrpSpPr>
        <p:grpSpPr>
          <a:xfrm>
            <a:off x="3832092" y="2195301"/>
            <a:ext cx="5382930" cy="909482"/>
            <a:chOff x="3832092" y="2195301"/>
            <a:chExt cx="5382930" cy="909482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6E6406E-B525-AFEB-E52C-95C84FA47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32092" y="2195301"/>
              <a:ext cx="5382930" cy="908552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C8B4B743-791F-0089-8F7E-BD4EA82AC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32092" y="2735451"/>
              <a:ext cx="2271812" cy="368402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05CBC5B-52F8-8748-E725-2F7ABA9BBD29}"/>
                </a:ext>
              </a:extLst>
            </p:cNvPr>
            <p:cNvSpPr txBox="1"/>
            <p:nvPr/>
          </p:nvSpPr>
          <p:spPr>
            <a:xfrm>
              <a:off x="6523557" y="2735451"/>
              <a:ext cx="7014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6214507"/>
      </p:ext>
    </p:extLst>
  </p:cSld>
  <p:clrMapOvr>
    <a:masterClrMapping/>
  </p:clrMapOvr>
  <p:transition advTm="34928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B181E-4AF2-6DF7-61F1-F5CE81510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0C4E30BB-EF38-A743-DC1A-E5284A457B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Linear Separators 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67EC3C1A-A542-06F9-994B-AAE95FBDEB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51579" y="1785938"/>
            <a:ext cx="9603274" cy="5029200"/>
          </a:xfrm>
        </p:spPr>
        <p:txBody>
          <a:bodyPr>
            <a:normAutofit/>
          </a:bodyPr>
          <a:lstStyle/>
          <a:p>
            <a:r>
              <a:rPr lang="en-US" dirty="0"/>
              <a:t>The normal vector w </a:t>
            </a:r>
            <a:r>
              <a:rPr lang="en-US" b="1" dirty="0"/>
              <a:t>points in the direction perpendicular to the hyperplane</a:t>
            </a:r>
            <a:r>
              <a:rPr lang="en-US" dirty="0"/>
              <a:t>.</a:t>
            </a:r>
          </a:p>
          <a:p>
            <a:r>
              <a:rPr lang="en-US" dirty="0"/>
              <a:t>Learning means finding the best w</a:t>
            </a:r>
          </a:p>
          <a:p>
            <a:endParaRPr lang="en-US" dirty="0"/>
          </a:p>
          <a:p>
            <a:endParaRPr lang="en-US" altLang="en-US" dirty="0"/>
          </a:p>
        </p:txBody>
      </p:sp>
      <p:pic>
        <p:nvPicPr>
          <p:cNvPr id="1026" name="Picture 2" descr="Total Internal Reflection : Musings on Machine Learning, Technology, and Art">
            <a:extLst>
              <a:ext uri="{FF2B5EF4-FFF2-40B4-BE49-F238E27FC236}">
                <a16:creationId xmlns:a16="http://schemas.microsoft.com/office/drawing/2014/main" id="{9C89760C-D48E-9E80-D94F-40769C820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740" y="2610179"/>
            <a:ext cx="4447795" cy="333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2148763-5220-275F-E4AA-8ADFB80FF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09" y="4548271"/>
            <a:ext cx="7220447" cy="139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42135"/>
      </p:ext>
    </p:extLst>
  </p:cSld>
  <p:clrMapOvr>
    <a:masterClrMapping/>
  </p:clrMapOvr>
  <p:transition advTm="34928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>
            <a:extLst>
              <a:ext uri="{FF2B5EF4-FFF2-40B4-BE49-F238E27FC236}">
                <a16:creationId xmlns:a16="http://schemas.microsoft.com/office/drawing/2014/main" id="{10D0E412-8F8B-8D80-7CF8-6773FCEF8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Linear Separators</a:t>
            </a:r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5ABD4F22-A58C-79FD-EA6A-4E87461A03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7163" y="1893888"/>
            <a:ext cx="8229600" cy="5029200"/>
          </a:xfrm>
        </p:spPr>
        <p:txBody>
          <a:bodyPr/>
          <a:lstStyle/>
          <a:p>
            <a:r>
              <a:rPr lang="en-US" altLang="en-US" sz="2800" dirty="0"/>
              <a:t>Which of the linear separators is optimal?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39B315C-176E-5F95-CA5F-E567832CA92D}"/>
              </a:ext>
            </a:extLst>
          </p:cNvPr>
          <p:cNvGrpSpPr/>
          <p:nvPr/>
        </p:nvGrpSpPr>
        <p:grpSpPr>
          <a:xfrm>
            <a:off x="947732" y="2743200"/>
            <a:ext cx="4081462" cy="3124200"/>
            <a:chOff x="3995738" y="2743200"/>
            <a:chExt cx="4081462" cy="3124200"/>
          </a:xfrm>
        </p:grpSpPr>
        <p:sp>
          <p:nvSpPr>
            <p:cNvPr id="205828" name="Line 4">
              <a:extLst>
                <a:ext uri="{FF2B5EF4-FFF2-40B4-BE49-F238E27FC236}">
                  <a16:creationId xmlns:a16="http://schemas.microsoft.com/office/drawing/2014/main" id="{F6E80999-57B1-0935-60AD-4FCDBC80D1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0675" y="2825750"/>
              <a:ext cx="0" cy="3041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29" name="Line 5">
              <a:extLst>
                <a:ext uri="{FF2B5EF4-FFF2-40B4-BE49-F238E27FC236}">
                  <a16:creationId xmlns:a16="http://schemas.microsoft.com/office/drawing/2014/main" id="{CC7576A3-9379-1B1C-8284-763CA440EA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5738" y="5751513"/>
              <a:ext cx="40814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30" name="AutoShape 6">
              <a:extLst>
                <a:ext uri="{FF2B5EF4-FFF2-40B4-BE49-F238E27FC236}">
                  <a16:creationId xmlns:a16="http://schemas.microsoft.com/office/drawing/2014/main" id="{46673915-FD83-C141-2347-7D23718B5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0488" y="35814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31" name="AutoShape 7">
              <a:extLst>
                <a:ext uri="{FF2B5EF4-FFF2-40B4-BE49-F238E27FC236}">
                  <a16:creationId xmlns:a16="http://schemas.microsoft.com/office/drawing/2014/main" id="{3E960C38-B9E0-5587-9360-D4459DB9C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813" y="39385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32" name="AutoShape 8">
              <a:extLst>
                <a:ext uri="{FF2B5EF4-FFF2-40B4-BE49-F238E27FC236}">
                  <a16:creationId xmlns:a16="http://schemas.microsoft.com/office/drawing/2014/main" id="{833E6E1B-F760-69B5-DF85-7E2809D5D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8213" y="44846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33" name="AutoShape 9">
              <a:extLst>
                <a:ext uri="{FF2B5EF4-FFF2-40B4-BE49-F238E27FC236}">
                  <a16:creationId xmlns:a16="http://schemas.microsoft.com/office/drawing/2014/main" id="{E5E85C34-7CEB-589B-E8F5-05633FEA9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213" y="4941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34" name="AutoShape 10">
              <a:extLst>
                <a:ext uri="{FF2B5EF4-FFF2-40B4-BE49-F238E27FC236}">
                  <a16:creationId xmlns:a16="http://schemas.microsoft.com/office/drawing/2014/main" id="{442EE240-152B-7539-0A1A-802707918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0613" y="33416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35" name="AutoShape 11">
              <a:extLst>
                <a:ext uri="{FF2B5EF4-FFF2-40B4-BE49-F238E27FC236}">
                  <a16:creationId xmlns:a16="http://schemas.microsoft.com/office/drawing/2014/main" id="{B817864F-2217-2980-6B12-BE09D9347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213" y="4256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36" name="AutoShape 12">
              <a:extLst>
                <a:ext uri="{FF2B5EF4-FFF2-40B4-BE49-F238E27FC236}">
                  <a16:creationId xmlns:a16="http://schemas.microsoft.com/office/drawing/2014/main" id="{50C7EF3A-88E2-EAB5-0E13-3B4567F00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613" y="4408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37" name="AutoShape 13">
              <a:extLst>
                <a:ext uri="{FF2B5EF4-FFF2-40B4-BE49-F238E27FC236}">
                  <a16:creationId xmlns:a16="http://schemas.microsoft.com/office/drawing/2014/main" id="{46CC4468-E26E-25CE-7EC4-A77055B9E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1613" y="4027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38" name="AutoShape 14">
              <a:extLst>
                <a:ext uri="{FF2B5EF4-FFF2-40B4-BE49-F238E27FC236}">
                  <a16:creationId xmlns:a16="http://schemas.microsoft.com/office/drawing/2014/main" id="{DAE6F973-466D-DBE3-964A-EB426D3B7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3313" y="4014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39" name="AutoShape 15">
              <a:extLst>
                <a:ext uri="{FF2B5EF4-FFF2-40B4-BE49-F238E27FC236}">
                  <a16:creationId xmlns:a16="http://schemas.microsoft.com/office/drawing/2014/main" id="{4ACC967D-577E-B5A7-6228-6E7889CA2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5013" y="4941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40" name="AutoShape 16">
              <a:extLst>
                <a:ext uri="{FF2B5EF4-FFF2-40B4-BE49-F238E27FC236}">
                  <a16:creationId xmlns:a16="http://schemas.microsoft.com/office/drawing/2014/main" id="{FB1D86D2-C6EC-1A85-4F33-4F02340A2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5613" y="4941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41" name="AutoShape 17">
              <a:extLst>
                <a:ext uri="{FF2B5EF4-FFF2-40B4-BE49-F238E27FC236}">
                  <a16:creationId xmlns:a16="http://schemas.microsoft.com/office/drawing/2014/main" id="{5716B606-1ED2-B6BE-390A-1B1F0D508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7513" y="54625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42" name="AutoShape 18">
              <a:extLst>
                <a:ext uri="{FF2B5EF4-FFF2-40B4-BE49-F238E27FC236}">
                  <a16:creationId xmlns:a16="http://schemas.microsoft.com/office/drawing/2014/main" id="{54979C06-3E26-CF16-6674-4EB77E154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9813" y="43322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43" name="AutoShape 19">
              <a:extLst>
                <a:ext uri="{FF2B5EF4-FFF2-40B4-BE49-F238E27FC236}">
                  <a16:creationId xmlns:a16="http://schemas.microsoft.com/office/drawing/2014/main" id="{5CCF6EE5-D942-6371-95F2-A82E66501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7513" y="4776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44" name="AutoShape 20">
              <a:extLst>
                <a:ext uri="{FF2B5EF4-FFF2-40B4-BE49-F238E27FC236}">
                  <a16:creationId xmlns:a16="http://schemas.microsoft.com/office/drawing/2014/main" id="{B03D1056-FBC5-731D-DBC1-E09C007DD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6013" y="5170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45" name="AutoShape 21">
              <a:extLst>
                <a:ext uri="{FF2B5EF4-FFF2-40B4-BE49-F238E27FC236}">
                  <a16:creationId xmlns:a16="http://schemas.microsoft.com/office/drawing/2014/main" id="{40DCFCBE-FE9E-1776-A224-77010E7D4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1813" y="4256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46" name="Line 22">
              <a:extLst>
                <a:ext uri="{FF2B5EF4-FFF2-40B4-BE49-F238E27FC236}">
                  <a16:creationId xmlns:a16="http://schemas.microsoft.com/office/drawing/2014/main" id="{114D63DB-2DF2-4FB5-47AB-FF1FB5DC71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3414" y="3048000"/>
              <a:ext cx="2676525" cy="2427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47" name="AutoShape 23">
              <a:extLst>
                <a:ext uri="{FF2B5EF4-FFF2-40B4-BE49-F238E27FC236}">
                  <a16:creationId xmlns:a16="http://schemas.microsoft.com/office/drawing/2014/main" id="{72CC9EAC-8EFE-7854-5AD5-D965CD4C8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7338" y="27432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48" name="AutoShape 24">
              <a:extLst>
                <a:ext uri="{FF2B5EF4-FFF2-40B4-BE49-F238E27FC236}">
                  <a16:creationId xmlns:a16="http://schemas.microsoft.com/office/drawing/2014/main" id="{185702A0-CD62-F5D5-14B9-60989B336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6938" y="28194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49" name="AutoShape 25">
              <a:extLst>
                <a:ext uri="{FF2B5EF4-FFF2-40B4-BE49-F238E27FC236}">
                  <a16:creationId xmlns:a16="http://schemas.microsoft.com/office/drawing/2014/main" id="{80BBEEE1-9C33-C356-97DB-8DC17D59D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3738" y="35814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51" name="Line 27">
              <a:extLst>
                <a:ext uri="{FF2B5EF4-FFF2-40B4-BE49-F238E27FC236}">
                  <a16:creationId xmlns:a16="http://schemas.microsoft.com/office/drawing/2014/main" id="{D51F30C2-21E5-1D84-1D9A-895ECAA3BD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95814" y="2743200"/>
              <a:ext cx="2143125" cy="28844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52" name="Line 28">
              <a:extLst>
                <a:ext uri="{FF2B5EF4-FFF2-40B4-BE49-F238E27FC236}">
                  <a16:creationId xmlns:a16="http://schemas.microsoft.com/office/drawing/2014/main" id="{DE0D777E-4CFB-7C26-BB89-B918FAD98A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338" y="3048000"/>
              <a:ext cx="2971800" cy="22860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53" name="Line 29">
              <a:extLst>
                <a:ext uri="{FF2B5EF4-FFF2-40B4-BE49-F238E27FC236}">
                  <a16:creationId xmlns:a16="http://schemas.microsoft.com/office/drawing/2014/main" id="{B11004E1-3BDF-AD58-74C1-BDBA0EA5DF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7738" y="2819400"/>
              <a:ext cx="1828800" cy="28956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54" name="Line 30">
              <a:extLst>
                <a:ext uri="{FF2B5EF4-FFF2-40B4-BE49-F238E27FC236}">
                  <a16:creationId xmlns:a16="http://schemas.microsoft.com/office/drawing/2014/main" id="{47503A94-273D-9145-9C86-EAD97082EB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9138" y="2743200"/>
              <a:ext cx="1828800" cy="28956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55" name="Line 31">
              <a:extLst>
                <a:ext uri="{FF2B5EF4-FFF2-40B4-BE49-F238E27FC236}">
                  <a16:creationId xmlns:a16="http://schemas.microsoft.com/office/drawing/2014/main" id="{85C255EA-19D6-888A-73C2-B389F2398E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6738" y="2895600"/>
              <a:ext cx="2667000" cy="25908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3D462D4-EA33-A52F-9FDC-B9267133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508" y="2408783"/>
            <a:ext cx="7001852" cy="3553321"/>
          </a:xfrm>
          <a:prstGeom prst="rect">
            <a:avLst/>
          </a:prstGeom>
        </p:spPr>
      </p:pic>
    </p:spTree>
  </p:cSld>
  <p:clrMapOvr>
    <a:masterClrMapping/>
  </p:clrMapOvr>
  <p:transition advTm="34928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F64AE077-1A20-3707-17A3-300525738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Maximum Margin Classification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5F822E6D-04A3-A643-66D5-1C131D1CE3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9192" y="1861688"/>
            <a:ext cx="6251574" cy="5029200"/>
          </a:xfrm>
        </p:spPr>
        <p:txBody>
          <a:bodyPr>
            <a:normAutofit/>
          </a:bodyPr>
          <a:lstStyle/>
          <a:p>
            <a:r>
              <a:rPr lang="en-US" altLang="en-US" dirty="0"/>
              <a:t>Maximizing the margin is good according to intuition.</a:t>
            </a:r>
          </a:p>
          <a:p>
            <a:r>
              <a:rPr lang="en-US" altLang="en-US" dirty="0"/>
              <a:t>Examples closest to the hyperplane are </a:t>
            </a:r>
            <a:r>
              <a:rPr lang="en-US" altLang="en-US" b="1" i="1" dirty="0"/>
              <a:t>support vectors</a:t>
            </a:r>
            <a:r>
              <a:rPr lang="en-US" altLang="en-US" dirty="0"/>
              <a:t>. </a:t>
            </a:r>
          </a:p>
          <a:p>
            <a:r>
              <a:rPr lang="en-US" altLang="en-US" b="1" i="1" dirty="0"/>
              <a:t>Margin</a:t>
            </a:r>
            <a:r>
              <a:rPr lang="en-US" altLang="en-US" dirty="0"/>
              <a:t> </a:t>
            </a:r>
            <a:r>
              <a:rPr lang="el-GR" altLang="en-US" i="1" dirty="0">
                <a:cs typeface="Times New Roman" panose="02020603050405020304" pitchFamily="18" charset="0"/>
              </a:rPr>
              <a:t>ρ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of the separator is the distance between support vectors.</a:t>
            </a:r>
          </a:p>
          <a:p>
            <a:r>
              <a:rPr lang="en-US" altLang="en-US" dirty="0"/>
              <a:t>Implies that only support vectors matter; other training examples are ignorable. </a:t>
            </a:r>
          </a:p>
          <a:p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  <a:hlinkClick r:id="rId2"/>
              </a:rPr>
              <a:t>https://www.youtube.com/watch?v=efR1C6CvhmE&amp;t=492s</a:t>
            </a: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endParaRPr lang="en-US" alt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D7EFC3-F478-56C3-2CFF-4EA84AFDD092}"/>
              </a:ext>
            </a:extLst>
          </p:cNvPr>
          <p:cNvGrpSpPr/>
          <p:nvPr/>
        </p:nvGrpSpPr>
        <p:grpSpPr>
          <a:xfrm>
            <a:off x="7749817" y="2748306"/>
            <a:ext cx="4081462" cy="3305175"/>
            <a:chOff x="4052888" y="3076575"/>
            <a:chExt cx="4081462" cy="3305175"/>
          </a:xfrm>
        </p:grpSpPr>
        <p:sp>
          <p:nvSpPr>
            <p:cNvPr id="209950" name="Line 30">
              <a:extLst>
                <a:ext uri="{FF2B5EF4-FFF2-40B4-BE49-F238E27FC236}">
                  <a16:creationId xmlns:a16="http://schemas.microsoft.com/office/drawing/2014/main" id="{1E688696-3A77-3101-9327-4B0FE8C27F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7825" y="3340100"/>
              <a:ext cx="0" cy="3041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51" name="Line 31">
              <a:extLst>
                <a:ext uri="{FF2B5EF4-FFF2-40B4-BE49-F238E27FC236}">
                  <a16:creationId xmlns:a16="http://schemas.microsoft.com/office/drawing/2014/main" id="{1509087B-D3F0-3299-714D-B896142BCD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2888" y="6265863"/>
              <a:ext cx="40814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52" name="AutoShape 32">
              <a:extLst>
                <a:ext uri="{FF2B5EF4-FFF2-40B4-BE49-F238E27FC236}">
                  <a16:creationId xmlns:a16="http://schemas.microsoft.com/office/drawing/2014/main" id="{736941EF-AE94-323C-C287-34A44A68B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7638" y="40957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53" name="AutoShape 33">
              <a:extLst>
                <a:ext uri="{FF2B5EF4-FFF2-40B4-BE49-F238E27FC236}">
                  <a16:creationId xmlns:a16="http://schemas.microsoft.com/office/drawing/2014/main" id="{F5F0EFBB-1C86-481A-0C2A-0F7660A10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529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54" name="AutoShape 34">
              <a:extLst>
                <a:ext uri="{FF2B5EF4-FFF2-40B4-BE49-F238E27FC236}">
                  <a16:creationId xmlns:a16="http://schemas.microsoft.com/office/drawing/2014/main" id="{E1AC8F05-1622-6A8B-69F0-3F991174C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363" y="49990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55" name="AutoShape 35">
              <a:extLst>
                <a:ext uri="{FF2B5EF4-FFF2-40B4-BE49-F238E27FC236}">
                  <a16:creationId xmlns:a16="http://schemas.microsoft.com/office/drawing/2014/main" id="{AB3B7D4F-E816-6720-CDEC-18B0D1454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4363" y="54562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56" name="AutoShape 36">
              <a:extLst>
                <a:ext uri="{FF2B5EF4-FFF2-40B4-BE49-F238E27FC236}">
                  <a16:creationId xmlns:a16="http://schemas.microsoft.com/office/drawing/2014/main" id="{61E6A1A0-DF0D-8056-091D-8E6D07518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763" y="38560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57" name="AutoShape 37">
              <a:extLst>
                <a:ext uri="{FF2B5EF4-FFF2-40B4-BE49-F238E27FC236}">
                  <a16:creationId xmlns:a16="http://schemas.microsoft.com/office/drawing/2014/main" id="{33B4E31D-8992-FD1D-1B83-4A6BC8839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4363" y="47704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58" name="AutoShape 38">
              <a:extLst>
                <a:ext uri="{FF2B5EF4-FFF2-40B4-BE49-F238E27FC236}">
                  <a16:creationId xmlns:a16="http://schemas.microsoft.com/office/drawing/2014/main" id="{122D0517-CE51-DE98-D159-855896C53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6763" y="49228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59" name="AutoShape 39">
              <a:extLst>
                <a:ext uri="{FF2B5EF4-FFF2-40B4-BE49-F238E27FC236}">
                  <a16:creationId xmlns:a16="http://schemas.microsoft.com/office/drawing/2014/main" id="{B41E36A3-0BB4-350F-7BFC-0AE7E476C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8763" y="45418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60" name="AutoShape 40">
              <a:extLst>
                <a:ext uri="{FF2B5EF4-FFF2-40B4-BE49-F238E27FC236}">
                  <a16:creationId xmlns:a16="http://schemas.microsoft.com/office/drawing/2014/main" id="{DE293E88-6558-4EA4-C72D-6BD83DAFF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0463" y="45291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61" name="AutoShape 41">
              <a:extLst>
                <a:ext uri="{FF2B5EF4-FFF2-40B4-BE49-F238E27FC236}">
                  <a16:creationId xmlns:a16="http://schemas.microsoft.com/office/drawing/2014/main" id="{83BFB665-C9CA-1F93-B2FF-7987DF4A7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2163" y="54562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62" name="AutoShape 42">
              <a:extLst>
                <a:ext uri="{FF2B5EF4-FFF2-40B4-BE49-F238E27FC236}">
                  <a16:creationId xmlns:a16="http://schemas.microsoft.com/office/drawing/2014/main" id="{C30650D4-4847-87B4-A103-E1B95827C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2763" y="54562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63" name="AutoShape 43">
              <a:extLst>
                <a:ext uri="{FF2B5EF4-FFF2-40B4-BE49-F238E27FC236}">
                  <a16:creationId xmlns:a16="http://schemas.microsoft.com/office/drawing/2014/main" id="{67A21E2A-412F-77BA-3046-5BC40C4B1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4663" y="59769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64" name="AutoShape 44">
              <a:extLst>
                <a:ext uri="{FF2B5EF4-FFF2-40B4-BE49-F238E27FC236}">
                  <a16:creationId xmlns:a16="http://schemas.microsoft.com/office/drawing/2014/main" id="{7C8A0F8F-BDEF-0DE7-0732-218775432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6963" y="48466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65" name="AutoShape 45">
              <a:extLst>
                <a:ext uri="{FF2B5EF4-FFF2-40B4-BE49-F238E27FC236}">
                  <a16:creationId xmlns:a16="http://schemas.microsoft.com/office/drawing/2014/main" id="{D2A12970-DF62-95B8-8D4B-939801DD8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8638" y="53403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66" name="AutoShape 46">
              <a:extLst>
                <a:ext uri="{FF2B5EF4-FFF2-40B4-BE49-F238E27FC236}">
                  <a16:creationId xmlns:a16="http://schemas.microsoft.com/office/drawing/2014/main" id="{404386D3-EF70-A9AF-97F1-C18517FF5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3163" y="56848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67" name="AutoShape 47">
              <a:extLst>
                <a:ext uri="{FF2B5EF4-FFF2-40B4-BE49-F238E27FC236}">
                  <a16:creationId xmlns:a16="http://schemas.microsoft.com/office/drawing/2014/main" id="{E0AD5BCA-8E77-5FDB-7783-0CAB349C4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8963" y="47704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68" name="AutoShape 48">
              <a:extLst>
                <a:ext uri="{FF2B5EF4-FFF2-40B4-BE49-F238E27FC236}">
                  <a16:creationId xmlns:a16="http://schemas.microsoft.com/office/drawing/2014/main" id="{E738AF09-12D0-1F8E-B324-B9AEC1239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4488" y="32575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69" name="AutoShape 49">
              <a:extLst>
                <a:ext uri="{FF2B5EF4-FFF2-40B4-BE49-F238E27FC236}">
                  <a16:creationId xmlns:a16="http://schemas.microsoft.com/office/drawing/2014/main" id="{9F7C3988-F47F-FD86-DCA3-C25C7B85C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4088" y="33337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70" name="AutoShape 50">
              <a:extLst>
                <a:ext uri="{FF2B5EF4-FFF2-40B4-BE49-F238E27FC236}">
                  <a16:creationId xmlns:a16="http://schemas.microsoft.com/office/drawing/2014/main" id="{201A77A9-E4BE-3B47-3650-6F866B554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0888" y="40957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71" name="Line 51">
              <a:extLst>
                <a:ext uri="{FF2B5EF4-FFF2-40B4-BE49-F238E27FC236}">
                  <a16:creationId xmlns:a16="http://schemas.microsoft.com/office/drawing/2014/main" id="{13142647-4AAD-F0EA-0241-AC32A322DF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2964" y="3257550"/>
              <a:ext cx="2143125" cy="28844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73" name="Line 53">
              <a:extLst>
                <a:ext uri="{FF2B5EF4-FFF2-40B4-BE49-F238E27FC236}">
                  <a16:creationId xmlns:a16="http://schemas.microsoft.com/office/drawing/2014/main" id="{BABBF21B-408D-9DA5-1EBE-67D733B9B8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88050" y="4362450"/>
              <a:ext cx="254000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75" name="Oval 55">
              <a:extLst>
                <a:ext uri="{FF2B5EF4-FFF2-40B4-BE49-F238E27FC236}">
                  <a16:creationId xmlns:a16="http://schemas.microsoft.com/office/drawing/2014/main" id="{99E603FE-B430-C858-205F-65B584E97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4150" y="4476751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76" name="Oval 56">
              <a:extLst>
                <a:ext uri="{FF2B5EF4-FFF2-40B4-BE49-F238E27FC236}">
                  <a16:creationId xmlns:a16="http://schemas.microsoft.com/office/drawing/2014/main" id="{20AB2B4C-D7E0-5C72-E661-762A13715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7200" y="5272089"/>
              <a:ext cx="228600" cy="219075"/>
            </a:xfrm>
            <a:prstGeom prst="ellipse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77" name="Oval 57">
              <a:extLst>
                <a:ext uri="{FF2B5EF4-FFF2-40B4-BE49-F238E27FC236}">
                  <a16:creationId xmlns:a16="http://schemas.microsoft.com/office/drawing/2014/main" id="{A321B11B-6E75-CD16-7477-0EAB5BBCE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613" y="4459289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78" name="Line 58">
              <a:extLst>
                <a:ext uri="{FF2B5EF4-FFF2-40B4-BE49-F238E27FC236}">
                  <a16:creationId xmlns:a16="http://schemas.microsoft.com/office/drawing/2014/main" id="{4444D7F0-57BE-B0BB-C475-E09D2D2161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64164" y="5176839"/>
              <a:ext cx="244475" cy="174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79" name="Line 59">
              <a:extLst>
                <a:ext uri="{FF2B5EF4-FFF2-40B4-BE49-F238E27FC236}">
                  <a16:creationId xmlns:a16="http://schemas.microsoft.com/office/drawing/2014/main" id="{85E55DCA-C908-710F-C5EA-4A586CA2E7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16550" y="4614864"/>
              <a:ext cx="234950" cy="179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80" name="Line 60">
              <a:extLst>
                <a:ext uri="{FF2B5EF4-FFF2-40B4-BE49-F238E27FC236}">
                  <a16:creationId xmlns:a16="http://schemas.microsoft.com/office/drawing/2014/main" id="{8BED45EB-17EF-FFDA-3F31-D0EB370057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1114" y="3438525"/>
              <a:ext cx="2009775" cy="269398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81" name="Line 61">
              <a:extLst>
                <a:ext uri="{FF2B5EF4-FFF2-40B4-BE49-F238E27FC236}">
                  <a16:creationId xmlns:a16="http://schemas.microsoft.com/office/drawing/2014/main" id="{1956DF0A-9ED0-C067-1A2B-440556B5AF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3414" y="3076575"/>
              <a:ext cx="2066925" cy="277018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E229C973-F670-A99E-DC5A-E0DF73B9F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Soft Margin Classification  </a:t>
            </a:r>
          </a:p>
        </p:txBody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4175C2A1-0D65-CD81-A442-B6DB25F8FC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5201" y="1907942"/>
            <a:ext cx="6562810" cy="3450613"/>
          </a:xfrm>
        </p:spPr>
        <p:txBody>
          <a:bodyPr>
            <a:normAutofit/>
          </a:bodyPr>
          <a:lstStyle/>
          <a:p>
            <a:r>
              <a:rPr lang="en-US" altLang="en-US" dirty="0"/>
              <a:t>What if the training set is not linearly separable?</a:t>
            </a:r>
            <a:endParaRPr lang="en-US" altLang="en-US" i="1" dirty="0"/>
          </a:p>
          <a:p>
            <a:r>
              <a:rPr lang="en-US" altLang="en-US" i="1" dirty="0"/>
              <a:t>Slack variables</a:t>
            </a:r>
            <a:r>
              <a:rPr lang="en-US" altLang="en-US" dirty="0"/>
              <a:t> </a:t>
            </a:r>
            <a:r>
              <a:rPr lang="el-GR" altLang="en-US" i="1" dirty="0">
                <a:cs typeface="Times New Roman" panose="02020603050405020304" pitchFamily="18" charset="0"/>
              </a:rPr>
              <a:t>ξ</a:t>
            </a:r>
            <a:r>
              <a:rPr lang="en-US" altLang="en-US" i="1" baseline="-25000" dirty="0" err="1">
                <a:cs typeface="Times New Roman" panose="02020603050405020304" pitchFamily="18" charset="0"/>
              </a:rPr>
              <a:t>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can be added to allow misclassification of difficult or noisy examples, resulting margin called </a:t>
            </a:r>
            <a:r>
              <a:rPr lang="en-US" altLang="en-US" i="1" dirty="0"/>
              <a:t>soft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Here we try to reach a balance between a wider margin that misclassifies more datapoints and less misclassifications that result in a narrower margin.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E6E65F-124E-0A77-359F-CC4ECC586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407" y="2798812"/>
            <a:ext cx="4593593" cy="305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5677" y="479493"/>
            <a:ext cx="9928123" cy="1325563"/>
          </a:xfrm>
        </p:spPr>
        <p:txBody>
          <a:bodyPr>
            <a:normAutofit/>
          </a:bodyPr>
          <a:lstStyle/>
          <a:p>
            <a:r>
              <a:rPr lang="en-US" dirty="0"/>
              <a:t>Allowing for misclassifications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9738" y="1984443"/>
            <a:ext cx="5458838" cy="419252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Sometimes allowing for misclassifications is important for getting a good classification overall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dirty="0">
                <a:solidFill>
                  <a:srgbClr val="0D0D0D"/>
                </a:solidFill>
                <a:latin typeface="Söhne"/>
                <a:ea typeface="Calibri" panose="020F0502020204030204" pitchFamily="34" charset="0"/>
                <a:cs typeface="Arial" panose="020B0604020202020204" pitchFamily="34" charset="0"/>
              </a:rPr>
              <a:t>Another application of soft margines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A8FA21-4A8E-7774-5908-B8734862F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677" y="1984443"/>
            <a:ext cx="4887130" cy="379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18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>
            <a:extLst>
              <a:ext uri="{FF2B5EF4-FFF2-40B4-BE49-F238E27FC236}">
                <a16:creationId xmlns:a16="http://schemas.microsoft.com/office/drawing/2014/main" id="{B21F68F9-997E-3902-1C1B-BFC7668191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Non-linear SVMs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DF086FFD-F5F6-2545-BC71-03BBC99627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52808" y="1913552"/>
            <a:ext cx="9603275" cy="3450613"/>
          </a:xfrm>
        </p:spPr>
        <p:txBody>
          <a:bodyPr>
            <a:normAutofit/>
          </a:bodyPr>
          <a:lstStyle/>
          <a:p>
            <a:r>
              <a:rPr lang="en-US" altLang="en-US" dirty="0"/>
              <a:t>Datasets that are linearly separable with some noise work out great:</a:t>
            </a:r>
          </a:p>
          <a:p>
            <a:endParaRPr lang="en-US" altLang="en-US" dirty="0"/>
          </a:p>
          <a:p>
            <a:r>
              <a:rPr lang="en-US" altLang="en-US" dirty="0"/>
              <a:t>But what are we going to do if the dataset is just too hard? </a:t>
            </a:r>
          </a:p>
          <a:p>
            <a:endParaRPr lang="en-US" altLang="en-US" dirty="0"/>
          </a:p>
          <a:p>
            <a:r>
              <a:rPr lang="en-US" altLang="en-US" dirty="0"/>
              <a:t>How about… mapping data to a higher-dimensional space: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F6AF5C-C96E-23BC-2176-5C8BB8C00BF9}"/>
              </a:ext>
            </a:extLst>
          </p:cNvPr>
          <p:cNvGrpSpPr/>
          <p:nvPr/>
        </p:nvGrpSpPr>
        <p:grpSpPr>
          <a:xfrm>
            <a:off x="3200400" y="3686175"/>
            <a:ext cx="4286250" cy="423864"/>
            <a:chOff x="3200400" y="3686175"/>
            <a:chExt cx="4286250" cy="423864"/>
          </a:xfrm>
        </p:grpSpPr>
        <p:sp>
          <p:nvSpPr>
            <p:cNvPr id="222228" name="Line 20">
              <a:extLst>
                <a:ext uri="{FF2B5EF4-FFF2-40B4-BE49-F238E27FC236}">
                  <a16:creationId xmlns:a16="http://schemas.microsoft.com/office/drawing/2014/main" id="{7E19B8E7-B605-6631-2D8B-7B5025E9BE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400" y="3743325"/>
              <a:ext cx="3962400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29" name="AutoShape 21">
              <a:extLst>
                <a:ext uri="{FF2B5EF4-FFF2-40B4-BE49-F238E27FC236}">
                  <a16:creationId xmlns:a16="http://schemas.microsoft.com/office/drawing/2014/main" id="{4BA54B12-CA0A-D98A-95A4-5E50C6A28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313" y="37036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30" name="Line 22">
              <a:extLst>
                <a:ext uri="{FF2B5EF4-FFF2-40B4-BE49-F238E27FC236}">
                  <a16:creationId xmlns:a16="http://schemas.microsoft.com/office/drawing/2014/main" id="{FBC59892-481E-9C3E-A083-777EF8D7D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150" y="3686175"/>
              <a:ext cx="0" cy="11430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31" name="Text Box 23">
              <a:extLst>
                <a:ext uri="{FF2B5EF4-FFF2-40B4-BE49-F238E27FC236}">
                  <a16:creationId xmlns:a16="http://schemas.microsoft.com/office/drawing/2014/main" id="{465447BB-F837-DCE7-97E0-1D430F064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7275" y="3743326"/>
              <a:ext cx="3429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0</a:t>
              </a:r>
            </a:p>
          </p:txBody>
        </p:sp>
        <p:sp>
          <p:nvSpPr>
            <p:cNvPr id="222232" name="AutoShape 24">
              <a:extLst>
                <a:ext uri="{FF2B5EF4-FFF2-40B4-BE49-F238E27FC236}">
                  <a16:creationId xmlns:a16="http://schemas.microsoft.com/office/drawing/2014/main" id="{2E44709E-F3D6-8D43-C35C-6F6855858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5263" y="3694113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33" name="AutoShape 25">
              <a:extLst>
                <a:ext uri="{FF2B5EF4-FFF2-40B4-BE49-F238E27FC236}">
                  <a16:creationId xmlns:a16="http://schemas.microsoft.com/office/drawing/2014/main" id="{DF79471A-F1C4-4DCE-3676-7B298A6D5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1513" y="37036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34" name="AutoShape 26">
              <a:extLst>
                <a:ext uri="{FF2B5EF4-FFF2-40B4-BE49-F238E27FC236}">
                  <a16:creationId xmlns:a16="http://schemas.microsoft.com/office/drawing/2014/main" id="{A9CCA558-2D2B-C30B-CBC1-C149AFA3F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1063" y="37036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35" name="AutoShape 27">
              <a:extLst>
                <a:ext uri="{FF2B5EF4-FFF2-40B4-BE49-F238E27FC236}">
                  <a16:creationId xmlns:a16="http://schemas.microsoft.com/office/drawing/2014/main" id="{840087EE-8B57-606D-2213-5AC07259C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8313" y="37036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36" name="AutoShape 28">
              <a:extLst>
                <a:ext uri="{FF2B5EF4-FFF2-40B4-BE49-F238E27FC236}">
                  <a16:creationId xmlns:a16="http://schemas.microsoft.com/office/drawing/2014/main" id="{598D8A82-ADBD-F08B-1620-4A5398BF8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913" y="37036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37" name="AutoShape 29">
              <a:extLst>
                <a:ext uri="{FF2B5EF4-FFF2-40B4-BE49-F238E27FC236}">
                  <a16:creationId xmlns:a16="http://schemas.microsoft.com/office/drawing/2014/main" id="{6951654F-B338-56DB-3CBA-2E2C23DEA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4963" y="37036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43" name="AutoShape 35">
              <a:extLst>
                <a:ext uri="{FF2B5EF4-FFF2-40B4-BE49-F238E27FC236}">
                  <a16:creationId xmlns:a16="http://schemas.microsoft.com/office/drawing/2014/main" id="{5C37737F-C13E-C255-E7D5-EA374055A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7913" y="37036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44" name="AutoShape 36">
              <a:extLst>
                <a:ext uri="{FF2B5EF4-FFF2-40B4-BE49-F238E27FC236}">
                  <a16:creationId xmlns:a16="http://schemas.microsoft.com/office/drawing/2014/main" id="{802CD533-555A-5B21-4725-6DD2A19CF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6513" y="37036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45" name="AutoShape 37">
              <a:extLst>
                <a:ext uri="{FF2B5EF4-FFF2-40B4-BE49-F238E27FC236}">
                  <a16:creationId xmlns:a16="http://schemas.microsoft.com/office/drawing/2014/main" id="{99205086-0F6F-247A-443A-9C1254430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1813" y="3694113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62" name="Text Box 54">
              <a:extLst>
                <a:ext uri="{FF2B5EF4-FFF2-40B4-BE49-F238E27FC236}">
                  <a16:creationId xmlns:a16="http://schemas.microsoft.com/office/drawing/2014/main" id="{863AFA28-238C-DE20-FA22-3C6F99E943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9450" y="3686176"/>
              <a:ext cx="4572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i="1"/>
                <a:t>x</a:t>
              </a:r>
              <a:endParaRPr lang="en-US" altLang="en-US" i="1" baseline="3000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EC0BD61-41E9-F296-CF45-C2A354C14672}"/>
              </a:ext>
            </a:extLst>
          </p:cNvPr>
          <p:cNvGrpSpPr/>
          <p:nvPr/>
        </p:nvGrpSpPr>
        <p:grpSpPr>
          <a:xfrm>
            <a:off x="3152775" y="2335786"/>
            <a:ext cx="4324350" cy="642939"/>
            <a:chOff x="3200400" y="2038350"/>
            <a:chExt cx="4324350" cy="642939"/>
          </a:xfrm>
        </p:grpSpPr>
        <p:sp>
          <p:nvSpPr>
            <p:cNvPr id="222212" name="Line 4">
              <a:extLst>
                <a:ext uri="{FF2B5EF4-FFF2-40B4-BE49-F238E27FC236}">
                  <a16:creationId xmlns:a16="http://schemas.microsoft.com/office/drawing/2014/main" id="{6E444E41-60F9-6416-103A-DC01562038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400" y="2314575"/>
              <a:ext cx="3962400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13" name="AutoShape 5">
              <a:extLst>
                <a:ext uri="{FF2B5EF4-FFF2-40B4-BE49-F238E27FC236}">
                  <a16:creationId xmlns:a16="http://schemas.microsoft.com/office/drawing/2014/main" id="{BF2C8E2D-5A25-CA67-0F6D-25AF7BF4B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313" y="2274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14" name="Line 6">
              <a:extLst>
                <a:ext uri="{FF2B5EF4-FFF2-40B4-BE49-F238E27FC236}">
                  <a16:creationId xmlns:a16="http://schemas.microsoft.com/office/drawing/2014/main" id="{1E234327-84AF-1F69-DDDD-874A69B9A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150" y="2257425"/>
              <a:ext cx="0" cy="11430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15" name="Text Box 7">
              <a:extLst>
                <a:ext uri="{FF2B5EF4-FFF2-40B4-BE49-F238E27FC236}">
                  <a16:creationId xmlns:a16="http://schemas.microsoft.com/office/drawing/2014/main" id="{4A956709-BFA6-C97D-67C1-ED8D2E6D05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7275" y="2314576"/>
              <a:ext cx="3429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0</a:t>
              </a:r>
            </a:p>
          </p:txBody>
        </p:sp>
        <p:sp>
          <p:nvSpPr>
            <p:cNvPr id="222216" name="AutoShape 8">
              <a:extLst>
                <a:ext uri="{FF2B5EF4-FFF2-40B4-BE49-F238E27FC236}">
                  <a16:creationId xmlns:a16="http://schemas.microsoft.com/office/drawing/2014/main" id="{EC971945-EA41-EAD1-1C0E-3B9573BAA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5263" y="2265363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17" name="AutoShape 9">
              <a:extLst>
                <a:ext uri="{FF2B5EF4-FFF2-40B4-BE49-F238E27FC236}">
                  <a16:creationId xmlns:a16="http://schemas.microsoft.com/office/drawing/2014/main" id="{3BDA2D2B-0084-65CC-0926-563E3BE71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1513" y="2274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18" name="AutoShape 10">
              <a:extLst>
                <a:ext uri="{FF2B5EF4-FFF2-40B4-BE49-F238E27FC236}">
                  <a16:creationId xmlns:a16="http://schemas.microsoft.com/office/drawing/2014/main" id="{F452BB17-3C67-5BFB-4F33-69E52A1BF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1063" y="2274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19" name="AutoShape 11">
              <a:extLst>
                <a:ext uri="{FF2B5EF4-FFF2-40B4-BE49-F238E27FC236}">
                  <a16:creationId xmlns:a16="http://schemas.microsoft.com/office/drawing/2014/main" id="{07A07F45-4941-C921-522E-B0058D097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8313" y="2274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20" name="AutoShape 12">
              <a:extLst>
                <a:ext uri="{FF2B5EF4-FFF2-40B4-BE49-F238E27FC236}">
                  <a16:creationId xmlns:a16="http://schemas.microsoft.com/office/drawing/2014/main" id="{4EB82C33-6C4B-CF37-DA56-6FA2AA4DC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913" y="2274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21" name="AutoShape 13">
              <a:extLst>
                <a:ext uri="{FF2B5EF4-FFF2-40B4-BE49-F238E27FC236}">
                  <a16:creationId xmlns:a16="http://schemas.microsoft.com/office/drawing/2014/main" id="{45D3FCCD-3F1B-E211-9379-11801EBF7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4963" y="2274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22" name="Line 14">
              <a:extLst>
                <a:ext uri="{FF2B5EF4-FFF2-40B4-BE49-F238E27FC236}">
                  <a16:creationId xmlns:a16="http://schemas.microsoft.com/office/drawing/2014/main" id="{D0AF2DD5-4490-2507-8F8F-FB1AE90436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4450" y="2066925"/>
              <a:ext cx="0" cy="55245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23" name="Oval 15">
              <a:extLst>
                <a:ext uri="{FF2B5EF4-FFF2-40B4-BE49-F238E27FC236}">
                  <a16:creationId xmlns:a16="http://schemas.microsoft.com/office/drawing/2014/main" id="{CD75384C-6C5E-3C24-5941-22BF4D542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1938" y="2211389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24" name="Oval 16">
              <a:extLst>
                <a:ext uri="{FF2B5EF4-FFF2-40B4-BE49-F238E27FC236}">
                  <a16:creationId xmlns:a16="http://schemas.microsoft.com/office/drawing/2014/main" id="{7431888F-3CAE-63EE-FB61-14D80C346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563" y="2201864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26" name="Line 18">
              <a:extLst>
                <a:ext uri="{FF2B5EF4-FFF2-40B4-BE49-F238E27FC236}">
                  <a16:creationId xmlns:a16="http://schemas.microsoft.com/office/drawing/2014/main" id="{9DD7B55C-7DBB-ED7A-5289-99E17F35B8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53064" y="2038350"/>
              <a:ext cx="9525" cy="59848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27" name="Line 19">
              <a:extLst>
                <a:ext uri="{FF2B5EF4-FFF2-40B4-BE49-F238E27FC236}">
                  <a16:creationId xmlns:a16="http://schemas.microsoft.com/office/drawing/2014/main" id="{113E1109-5E65-920E-FC73-1BDD6D5140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38689" y="2038350"/>
              <a:ext cx="9525" cy="59848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63" name="Text Box 55">
              <a:extLst>
                <a:ext uri="{FF2B5EF4-FFF2-40B4-BE49-F238E27FC236}">
                  <a16:creationId xmlns:a16="http://schemas.microsoft.com/office/drawing/2014/main" id="{D076AD88-690B-6F17-BC32-02CFE19FB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7550" y="2238376"/>
              <a:ext cx="4572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i="1"/>
                <a:t>x</a:t>
              </a:r>
              <a:endParaRPr lang="en-US" altLang="en-US" i="1" baseline="300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972C5CC-3AA9-79FD-0A54-C939854E56BE}"/>
              </a:ext>
            </a:extLst>
          </p:cNvPr>
          <p:cNvGrpSpPr/>
          <p:nvPr/>
        </p:nvGrpSpPr>
        <p:grpSpPr>
          <a:xfrm>
            <a:off x="3228976" y="4238052"/>
            <a:ext cx="4352925" cy="1966913"/>
            <a:chOff x="3305175" y="4562476"/>
            <a:chExt cx="4352925" cy="1966913"/>
          </a:xfrm>
        </p:grpSpPr>
        <p:sp>
          <p:nvSpPr>
            <p:cNvPr id="222246" name="Line 38">
              <a:extLst>
                <a:ext uri="{FF2B5EF4-FFF2-40B4-BE49-F238E27FC236}">
                  <a16:creationId xmlns:a16="http://schemas.microsoft.com/office/drawing/2014/main" id="{472D2F4D-A009-4614-042C-3CC4774DA4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5175" y="6191250"/>
              <a:ext cx="3962400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47" name="AutoShape 39">
              <a:extLst>
                <a:ext uri="{FF2B5EF4-FFF2-40B4-BE49-F238E27FC236}">
                  <a16:creationId xmlns:a16="http://schemas.microsoft.com/office/drawing/2014/main" id="{D62685CA-9EA5-D3A8-843E-DA77B36CB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5238" y="5170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48" name="Line 40">
              <a:extLst>
                <a:ext uri="{FF2B5EF4-FFF2-40B4-BE49-F238E27FC236}">
                  <a16:creationId xmlns:a16="http://schemas.microsoft.com/office/drawing/2014/main" id="{0474D86B-2B25-695F-A966-23ADB02C1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4925" y="6134100"/>
              <a:ext cx="0" cy="11430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49" name="Text Box 41">
              <a:extLst>
                <a:ext uri="{FF2B5EF4-FFF2-40B4-BE49-F238E27FC236}">
                  <a16:creationId xmlns:a16="http://schemas.microsoft.com/office/drawing/2014/main" id="{A8FB8F17-41F4-9A79-638E-7CD81CCB0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2050" y="6162676"/>
              <a:ext cx="3429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0</a:t>
              </a:r>
            </a:p>
          </p:txBody>
        </p:sp>
        <p:sp>
          <p:nvSpPr>
            <p:cNvPr id="222250" name="AutoShape 42">
              <a:extLst>
                <a:ext uri="{FF2B5EF4-FFF2-40B4-BE49-F238E27FC236}">
                  <a16:creationId xmlns:a16="http://schemas.microsoft.com/office/drawing/2014/main" id="{6485319B-6ECC-30B7-88FF-957944F22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9088" y="56467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51" name="AutoShape 43">
              <a:extLst>
                <a:ext uri="{FF2B5EF4-FFF2-40B4-BE49-F238E27FC236}">
                  <a16:creationId xmlns:a16="http://schemas.microsoft.com/office/drawing/2014/main" id="{82321AE2-6697-1D5C-1D2D-B3301B6A7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6288" y="5961063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52" name="AutoShape 44">
              <a:extLst>
                <a:ext uri="{FF2B5EF4-FFF2-40B4-BE49-F238E27FC236}">
                  <a16:creationId xmlns:a16="http://schemas.microsoft.com/office/drawing/2014/main" id="{4CEAD553-87CE-BA7A-67EF-0DD54FFD4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4888" y="6056313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53" name="AutoShape 45">
              <a:extLst>
                <a:ext uri="{FF2B5EF4-FFF2-40B4-BE49-F238E27FC236}">
                  <a16:creationId xmlns:a16="http://schemas.microsoft.com/office/drawing/2014/main" id="{851D8173-6E31-0463-C992-D8E65B295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3088" y="59705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54" name="AutoShape 46">
              <a:extLst>
                <a:ext uri="{FF2B5EF4-FFF2-40B4-BE49-F238E27FC236}">
                  <a16:creationId xmlns:a16="http://schemas.microsoft.com/office/drawing/2014/main" id="{F5848487-9AA4-418F-8CA1-B23A56B75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1688" y="5789613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55" name="AutoShape 47">
              <a:extLst>
                <a:ext uri="{FF2B5EF4-FFF2-40B4-BE49-F238E27FC236}">
                  <a16:creationId xmlns:a16="http://schemas.microsoft.com/office/drawing/2014/main" id="{5D269B1D-A55B-4270-E125-D891DD3BA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2588" y="6037263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56" name="AutoShape 48">
              <a:extLst>
                <a:ext uri="{FF2B5EF4-FFF2-40B4-BE49-F238E27FC236}">
                  <a16:creationId xmlns:a16="http://schemas.microsoft.com/office/drawing/2014/main" id="{F727A154-B18D-A063-ED2A-0DA1FAD10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2688" y="5465763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57" name="AutoShape 49">
              <a:extLst>
                <a:ext uri="{FF2B5EF4-FFF2-40B4-BE49-F238E27FC236}">
                  <a16:creationId xmlns:a16="http://schemas.microsoft.com/office/drawing/2014/main" id="{276F9076-1EA0-82C8-7465-A3BB414F8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8438" y="5160963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58" name="AutoShape 50">
              <a:extLst>
                <a:ext uri="{FF2B5EF4-FFF2-40B4-BE49-F238E27FC236}">
                  <a16:creationId xmlns:a16="http://schemas.microsoft.com/office/drawing/2014/main" id="{9DED800E-366D-C84C-5DE5-BFD7ED78A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7538" y="4637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59" name="Line 51">
              <a:extLst>
                <a:ext uri="{FF2B5EF4-FFF2-40B4-BE49-F238E27FC236}">
                  <a16:creationId xmlns:a16="http://schemas.microsoft.com/office/drawing/2014/main" id="{4D780C9C-3BB1-B7BB-6970-C0063F8EBD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4925" y="4743450"/>
              <a:ext cx="0" cy="14859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60" name="Text Box 52">
              <a:extLst>
                <a:ext uri="{FF2B5EF4-FFF2-40B4-BE49-F238E27FC236}">
                  <a16:creationId xmlns:a16="http://schemas.microsoft.com/office/drawing/2014/main" id="{AA8677E7-3FAF-5309-E98C-46C4B6C5B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4925" y="4562476"/>
              <a:ext cx="4572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i="1"/>
                <a:t>x</a:t>
              </a:r>
              <a:r>
                <a:rPr lang="en-US" altLang="en-US" i="1" baseline="30000"/>
                <a:t>2</a:t>
              </a:r>
            </a:p>
          </p:txBody>
        </p:sp>
        <p:sp>
          <p:nvSpPr>
            <p:cNvPr id="222261" name="Text Box 53">
              <a:extLst>
                <a:ext uri="{FF2B5EF4-FFF2-40B4-BE49-F238E27FC236}">
                  <a16:creationId xmlns:a16="http://schemas.microsoft.com/office/drawing/2014/main" id="{C3CEFA8C-52D5-94F7-B6EB-459013B0B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0900" y="6096001"/>
              <a:ext cx="4572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i="1"/>
                <a:t>x</a:t>
              </a:r>
              <a:endParaRPr lang="en-US" altLang="en-US" i="1" baseline="30000"/>
            </a:p>
          </p:txBody>
        </p:sp>
        <p:sp>
          <p:nvSpPr>
            <p:cNvPr id="222264" name="Line 56">
              <a:extLst>
                <a:ext uri="{FF2B5EF4-FFF2-40B4-BE49-F238E27FC236}">
                  <a16:creationId xmlns:a16="http://schemas.microsoft.com/office/drawing/2014/main" id="{5F1886B5-5FBB-FAEA-6737-B137E1FF6C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6750" y="5048250"/>
              <a:ext cx="3181350" cy="12954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65" name="Line 57">
              <a:extLst>
                <a:ext uri="{FF2B5EF4-FFF2-40B4-BE49-F238E27FC236}">
                  <a16:creationId xmlns:a16="http://schemas.microsoft.com/office/drawing/2014/main" id="{67B6C8F9-56EA-9050-DAE0-33EC3E027A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1989" y="4972050"/>
              <a:ext cx="3114675" cy="128428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66" name="Line 58">
              <a:extLst>
                <a:ext uri="{FF2B5EF4-FFF2-40B4-BE49-F238E27FC236}">
                  <a16:creationId xmlns:a16="http://schemas.microsoft.com/office/drawing/2014/main" id="{2B15D597-CBBA-C48B-6CC1-2A6B1DF345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6289" y="5143500"/>
              <a:ext cx="3057525" cy="124618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67" name="Oval 59">
              <a:extLst>
                <a:ext uri="{FF2B5EF4-FFF2-40B4-BE49-F238E27FC236}">
                  <a16:creationId xmlns:a16="http://schemas.microsoft.com/office/drawing/2014/main" id="{6CCA4C56-DDE8-A344-CCFC-6C549FF17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9188" y="5402264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68" name="Oval 60">
              <a:extLst>
                <a:ext uri="{FF2B5EF4-FFF2-40B4-BE49-F238E27FC236}">
                  <a16:creationId xmlns:a16="http://schemas.microsoft.com/office/drawing/2014/main" id="{810B2D59-F714-38AB-C851-14877A0B8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663" y="5716589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69" name="Oval 61">
              <a:extLst>
                <a:ext uri="{FF2B5EF4-FFF2-40B4-BE49-F238E27FC236}">
                  <a16:creationId xmlns:a16="http://schemas.microsoft.com/office/drawing/2014/main" id="{9DC9CDF3-B128-4C0C-B5B7-E29FC5859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1863" y="5992814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>
            <a:extLst>
              <a:ext uri="{FF2B5EF4-FFF2-40B4-BE49-F238E27FC236}">
                <a16:creationId xmlns:a16="http://schemas.microsoft.com/office/drawing/2014/main" id="{ADCC5233-849A-9BB4-2E54-B513D0B8F9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Non-linear SVMs:  Feature spaces</a:t>
            </a:r>
          </a:p>
        </p:txBody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A0683B9A-9857-E309-618E-BBD8EE60E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51578" y="1883081"/>
            <a:ext cx="9603275" cy="3450613"/>
          </a:xfrm>
        </p:spPr>
        <p:txBody>
          <a:bodyPr/>
          <a:lstStyle/>
          <a:p>
            <a:r>
              <a:rPr lang="en-US" altLang="en-US" dirty="0"/>
              <a:t>General idea:   the original feature space can always be mapped to some higher-dimensional feature space where the training set is separable: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B27E61-03CC-F97C-D635-A1CC9035D55E}"/>
              </a:ext>
            </a:extLst>
          </p:cNvPr>
          <p:cNvGrpSpPr/>
          <p:nvPr/>
        </p:nvGrpSpPr>
        <p:grpSpPr>
          <a:xfrm>
            <a:off x="1597563" y="2852738"/>
            <a:ext cx="3319463" cy="3041650"/>
            <a:chOff x="1971676" y="2559050"/>
            <a:chExt cx="3319463" cy="3041650"/>
          </a:xfrm>
        </p:grpSpPr>
        <p:sp>
          <p:nvSpPr>
            <p:cNvPr id="223274" name="Line 42">
              <a:extLst>
                <a:ext uri="{FF2B5EF4-FFF2-40B4-BE49-F238E27FC236}">
                  <a16:creationId xmlns:a16="http://schemas.microsoft.com/office/drawing/2014/main" id="{A67F780F-F1EF-35E5-B125-E9D3D765D1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2513" y="2559050"/>
              <a:ext cx="0" cy="3041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75" name="Line 43">
              <a:extLst>
                <a:ext uri="{FF2B5EF4-FFF2-40B4-BE49-F238E27FC236}">
                  <a16:creationId xmlns:a16="http://schemas.microsoft.com/office/drawing/2014/main" id="{6AE12257-4E7C-F2A9-C866-E66CE5EAB2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1676" y="4170363"/>
              <a:ext cx="3319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76" name="AutoShape 44">
              <a:extLst>
                <a:ext uri="{FF2B5EF4-FFF2-40B4-BE49-F238E27FC236}">
                  <a16:creationId xmlns:a16="http://schemas.microsoft.com/office/drawing/2014/main" id="{9F317497-B4D1-7A57-907C-C56CEFEF8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75" y="33909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77" name="AutoShape 45">
              <a:extLst>
                <a:ext uri="{FF2B5EF4-FFF2-40B4-BE49-F238E27FC236}">
                  <a16:creationId xmlns:a16="http://schemas.microsoft.com/office/drawing/2014/main" id="{24754682-54CE-3687-114A-CC2CC4D3B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748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78" name="AutoShape 46">
              <a:extLst>
                <a:ext uri="{FF2B5EF4-FFF2-40B4-BE49-F238E27FC236}">
                  <a16:creationId xmlns:a16="http://schemas.microsoft.com/office/drawing/2014/main" id="{A2B692DB-C4F3-32F5-63A4-C514668D3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42941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79" name="AutoShape 47">
              <a:extLst>
                <a:ext uri="{FF2B5EF4-FFF2-40B4-BE49-F238E27FC236}">
                  <a16:creationId xmlns:a16="http://schemas.microsoft.com/office/drawing/2014/main" id="{CCAC8AB4-9304-6615-46EA-71DF14341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47704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80" name="AutoShape 48">
              <a:extLst>
                <a:ext uri="{FF2B5EF4-FFF2-40B4-BE49-F238E27FC236}">
                  <a16:creationId xmlns:a16="http://schemas.microsoft.com/office/drawing/2014/main" id="{F39318C5-9E6F-CE35-B03C-1CF922A26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700" y="34369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81" name="AutoShape 49">
              <a:extLst>
                <a:ext uri="{FF2B5EF4-FFF2-40B4-BE49-F238E27FC236}">
                  <a16:creationId xmlns:a16="http://schemas.microsoft.com/office/drawing/2014/main" id="{954928ED-2E92-1F60-180F-14A74D21F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40655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82" name="AutoShape 50">
              <a:extLst>
                <a:ext uri="{FF2B5EF4-FFF2-40B4-BE49-F238E27FC236}">
                  <a16:creationId xmlns:a16="http://schemas.microsoft.com/office/drawing/2014/main" id="{DBB0E4EA-0EEE-2DFF-A7E8-3B08259DA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500" y="48085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83" name="AutoShape 51">
              <a:extLst>
                <a:ext uri="{FF2B5EF4-FFF2-40B4-BE49-F238E27FC236}">
                  <a16:creationId xmlns:a16="http://schemas.microsoft.com/office/drawing/2014/main" id="{06BDA891-4199-D6BC-0F0A-26BFCC4E7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38369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84" name="AutoShape 52">
              <a:extLst>
                <a:ext uri="{FF2B5EF4-FFF2-40B4-BE49-F238E27FC236}">
                  <a16:creationId xmlns:a16="http://schemas.microsoft.com/office/drawing/2014/main" id="{8ECF71DD-9434-DD57-F501-F0361D5F7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5500" y="38242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85" name="AutoShape 53">
              <a:extLst>
                <a:ext uri="{FF2B5EF4-FFF2-40B4-BE49-F238E27FC236}">
                  <a16:creationId xmlns:a16="http://schemas.microsoft.com/office/drawing/2014/main" id="{83A14458-6E9D-4F02-C088-BF5AA47AD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50371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86" name="AutoShape 54">
              <a:extLst>
                <a:ext uri="{FF2B5EF4-FFF2-40B4-BE49-F238E27FC236}">
                  <a16:creationId xmlns:a16="http://schemas.microsoft.com/office/drawing/2014/main" id="{8D00DFF6-B407-34ED-E64E-7BD1F3F1E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900" y="39512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87" name="AutoShape 55">
              <a:extLst>
                <a:ext uri="{FF2B5EF4-FFF2-40B4-BE49-F238E27FC236}">
                  <a16:creationId xmlns:a16="http://schemas.microsoft.com/office/drawing/2014/main" id="{6051020A-697E-10BD-4F1A-6FDEBEAF5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9200" y="54054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88" name="AutoShape 56">
              <a:extLst>
                <a:ext uri="{FF2B5EF4-FFF2-40B4-BE49-F238E27FC236}">
                  <a16:creationId xmlns:a16="http://schemas.microsoft.com/office/drawing/2014/main" id="{EB0378C5-0003-764B-E1EC-0F3A15D6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560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89" name="AutoShape 57">
              <a:extLst>
                <a:ext uri="{FF2B5EF4-FFF2-40B4-BE49-F238E27FC236}">
                  <a16:creationId xmlns:a16="http://schemas.microsoft.com/office/drawing/2014/main" id="{02F5CC05-B450-01E0-8FC5-A133008E4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7650" y="51006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90" name="AutoShape 58">
              <a:extLst>
                <a:ext uri="{FF2B5EF4-FFF2-40B4-BE49-F238E27FC236}">
                  <a16:creationId xmlns:a16="http://schemas.microsoft.com/office/drawing/2014/main" id="{75AF64AD-9D50-A3EB-777F-A5BA3A688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6500" y="46180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91" name="AutoShape 59">
              <a:extLst>
                <a:ext uri="{FF2B5EF4-FFF2-40B4-BE49-F238E27FC236}">
                  <a16:creationId xmlns:a16="http://schemas.microsoft.com/office/drawing/2014/main" id="{C5A69807-0F50-C500-E3FC-BCB724F12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3650" y="30940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93" name="AutoShape 61">
              <a:extLst>
                <a:ext uri="{FF2B5EF4-FFF2-40B4-BE49-F238E27FC236}">
                  <a16:creationId xmlns:a16="http://schemas.microsoft.com/office/drawing/2014/main" id="{BB698173-4D6B-A216-E05D-258DB87E8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9075" y="42291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94" name="AutoShape 62">
              <a:extLst>
                <a:ext uri="{FF2B5EF4-FFF2-40B4-BE49-F238E27FC236}">
                  <a16:creationId xmlns:a16="http://schemas.microsoft.com/office/drawing/2014/main" id="{F0041232-CDEC-7305-6CE9-C65804CDB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075" y="43624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95" name="AutoShape 63">
              <a:extLst>
                <a:ext uri="{FF2B5EF4-FFF2-40B4-BE49-F238E27FC236}">
                  <a16:creationId xmlns:a16="http://schemas.microsoft.com/office/drawing/2014/main" id="{D0175CD7-6241-51D9-5C85-D603D365E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3825" y="31242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98" name="Oval 66">
              <a:extLst>
                <a:ext uri="{FF2B5EF4-FFF2-40B4-BE49-F238E27FC236}">
                  <a16:creationId xmlns:a16="http://schemas.microsoft.com/office/drawing/2014/main" id="{96B1AAD5-73CF-2B40-0084-5E814A32C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8425" y="3209925"/>
              <a:ext cx="1885950" cy="1905000"/>
            </a:xfrm>
            <a:prstGeom prst="ellipse">
              <a:avLst/>
            </a:prstGeom>
            <a:noFill/>
            <a:ln w="15875" algn="ctr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99" name="AutoShape 67">
              <a:extLst>
                <a:ext uri="{FF2B5EF4-FFF2-40B4-BE49-F238E27FC236}">
                  <a16:creationId xmlns:a16="http://schemas.microsoft.com/office/drawing/2014/main" id="{E51C0975-50EC-D5CD-72DA-92ECA43E2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6050" y="32464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00" name="AutoShape 68">
              <a:extLst>
                <a:ext uri="{FF2B5EF4-FFF2-40B4-BE49-F238E27FC236}">
                  <a16:creationId xmlns:a16="http://schemas.microsoft.com/office/drawing/2014/main" id="{E055FA48-39C7-9390-7082-5D9B0EF57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0100" y="32273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A30CF53-B509-A85A-9DE0-F3C334BD3466}"/>
              </a:ext>
            </a:extLst>
          </p:cNvPr>
          <p:cNvGrpSpPr/>
          <p:nvPr/>
        </p:nvGrpSpPr>
        <p:grpSpPr>
          <a:xfrm>
            <a:off x="7676650" y="2670176"/>
            <a:ext cx="3814764" cy="3327400"/>
            <a:chOff x="6134100" y="2311400"/>
            <a:chExt cx="3814764" cy="3327400"/>
          </a:xfrm>
        </p:grpSpPr>
        <p:sp>
          <p:nvSpPr>
            <p:cNvPr id="223301" name="Line 69">
              <a:extLst>
                <a:ext uri="{FF2B5EF4-FFF2-40B4-BE49-F238E27FC236}">
                  <a16:creationId xmlns:a16="http://schemas.microsoft.com/office/drawing/2014/main" id="{6945A3CA-6513-DDF4-2F58-C383F8F99D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631113" y="2311400"/>
              <a:ext cx="0" cy="20701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02" name="Line 70">
              <a:extLst>
                <a:ext uri="{FF2B5EF4-FFF2-40B4-BE49-F238E27FC236}">
                  <a16:creationId xmlns:a16="http://schemas.microsoft.com/office/drawing/2014/main" id="{2CA33560-8020-CFE9-6094-68E29995F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0951" y="4398963"/>
              <a:ext cx="23479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03" name="AutoShape 71">
              <a:extLst>
                <a:ext uri="{FF2B5EF4-FFF2-40B4-BE49-F238E27FC236}">
                  <a16:creationId xmlns:a16="http://schemas.microsoft.com/office/drawing/2014/main" id="{4B571BE4-3100-1202-366D-0C24E9D1E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9400" y="3762375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04" name="AutoShape 72">
              <a:extLst>
                <a:ext uri="{FF2B5EF4-FFF2-40B4-BE49-F238E27FC236}">
                  <a16:creationId xmlns:a16="http://schemas.microsoft.com/office/drawing/2014/main" id="{DAF25532-7EFD-D3EB-466E-DD54F38CA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4725" y="4119563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05" name="AutoShape 73">
              <a:extLst>
                <a:ext uri="{FF2B5EF4-FFF2-40B4-BE49-F238E27FC236}">
                  <a16:creationId xmlns:a16="http://schemas.microsoft.com/office/drawing/2014/main" id="{FF59F7B7-DAF6-8AD9-629F-9F0D61137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5725" y="46751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06" name="AutoShape 74">
              <a:extLst>
                <a:ext uri="{FF2B5EF4-FFF2-40B4-BE49-F238E27FC236}">
                  <a16:creationId xmlns:a16="http://schemas.microsoft.com/office/drawing/2014/main" id="{97173653-2CC8-6598-DB7D-B76F5F7B0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4875" y="46751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07" name="AutoShape 75">
              <a:extLst>
                <a:ext uri="{FF2B5EF4-FFF2-40B4-BE49-F238E27FC236}">
                  <a16:creationId xmlns:a16="http://schemas.microsoft.com/office/drawing/2014/main" id="{97C3E3F3-FB73-64CA-442E-99C3DA513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1425" y="3808413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08" name="AutoShape 76">
              <a:extLst>
                <a:ext uri="{FF2B5EF4-FFF2-40B4-BE49-F238E27FC236}">
                  <a16:creationId xmlns:a16="http://schemas.microsoft.com/office/drawing/2014/main" id="{3B2A0078-72A7-9EDF-2940-052F2CC91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0975" y="40846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09" name="AutoShape 77">
              <a:extLst>
                <a:ext uri="{FF2B5EF4-FFF2-40B4-BE49-F238E27FC236}">
                  <a16:creationId xmlns:a16="http://schemas.microsoft.com/office/drawing/2014/main" id="{93917FA4-5951-4DC5-6BD5-D50E03A65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9575" y="47132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10" name="AutoShape 78">
              <a:extLst>
                <a:ext uri="{FF2B5EF4-FFF2-40B4-BE49-F238E27FC236}">
                  <a16:creationId xmlns:a16="http://schemas.microsoft.com/office/drawing/2014/main" id="{4228B827-0DB1-70D2-4032-7A9DD5830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0525" y="4208463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11" name="AutoShape 79">
              <a:extLst>
                <a:ext uri="{FF2B5EF4-FFF2-40B4-BE49-F238E27FC236}">
                  <a16:creationId xmlns:a16="http://schemas.microsoft.com/office/drawing/2014/main" id="{4D422911-28EF-21FD-9EDB-F48A9A2BE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7075" y="38433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12" name="AutoShape 80">
              <a:extLst>
                <a:ext uri="{FF2B5EF4-FFF2-40B4-BE49-F238E27FC236}">
                  <a16:creationId xmlns:a16="http://schemas.microsoft.com/office/drawing/2014/main" id="{DF207D9C-C813-1B12-6451-5FFFD9266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7375" y="50561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13" name="AutoShape 81">
              <a:extLst>
                <a:ext uri="{FF2B5EF4-FFF2-40B4-BE49-F238E27FC236}">
                  <a16:creationId xmlns:a16="http://schemas.microsoft.com/office/drawing/2014/main" id="{873CFABE-C3B9-9223-04D2-22FBA215F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1125" y="28082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14" name="AutoShape 82">
              <a:extLst>
                <a:ext uri="{FF2B5EF4-FFF2-40B4-BE49-F238E27FC236}">
                  <a16:creationId xmlns:a16="http://schemas.microsoft.com/office/drawing/2014/main" id="{D66ED814-662A-D743-74C3-B6FFF13B4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7475" y="40719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15" name="AutoShape 83">
              <a:extLst>
                <a:ext uri="{FF2B5EF4-FFF2-40B4-BE49-F238E27FC236}">
                  <a16:creationId xmlns:a16="http://schemas.microsoft.com/office/drawing/2014/main" id="{AB9E2197-C1F8-5443-B366-36EDBD1AC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5975" y="45799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16" name="AutoShape 84">
              <a:extLst>
                <a:ext uri="{FF2B5EF4-FFF2-40B4-BE49-F238E27FC236}">
                  <a16:creationId xmlns:a16="http://schemas.microsoft.com/office/drawing/2014/main" id="{4F67A828-517B-4963-CF50-CCAAC90AF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5" y="3519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17" name="AutoShape 85">
              <a:extLst>
                <a:ext uri="{FF2B5EF4-FFF2-40B4-BE49-F238E27FC236}">
                  <a16:creationId xmlns:a16="http://schemas.microsoft.com/office/drawing/2014/main" id="{B6F0C259-C55A-68BF-9AF0-D626B19F3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4475" y="47513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18" name="AutoShape 86">
              <a:extLst>
                <a:ext uri="{FF2B5EF4-FFF2-40B4-BE49-F238E27FC236}">
                  <a16:creationId xmlns:a16="http://schemas.microsoft.com/office/drawing/2014/main" id="{9610692C-AA08-049B-A3A2-1040EAAD4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4925" y="30178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19" name="AutoShape 87">
              <a:extLst>
                <a:ext uri="{FF2B5EF4-FFF2-40B4-BE49-F238E27FC236}">
                  <a16:creationId xmlns:a16="http://schemas.microsoft.com/office/drawing/2014/main" id="{43113914-6A57-2A4A-D925-45BDBF759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4275" y="4524375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20" name="AutoShape 88">
              <a:extLst>
                <a:ext uri="{FF2B5EF4-FFF2-40B4-BE49-F238E27FC236}">
                  <a16:creationId xmlns:a16="http://schemas.microsoft.com/office/drawing/2014/main" id="{550706D6-EF1C-1667-D2A6-32EDE108B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3275" y="4657725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21" name="AutoShape 89">
              <a:extLst>
                <a:ext uri="{FF2B5EF4-FFF2-40B4-BE49-F238E27FC236}">
                  <a16:creationId xmlns:a16="http://schemas.microsoft.com/office/drawing/2014/main" id="{647A39CB-1EBA-5153-FDCF-A020EA541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5400" y="31432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23" name="AutoShape 91">
              <a:extLst>
                <a:ext uri="{FF2B5EF4-FFF2-40B4-BE49-F238E27FC236}">
                  <a16:creationId xmlns:a16="http://schemas.microsoft.com/office/drawing/2014/main" id="{C540397E-BE99-2D0A-B750-9490FA2CD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7725" y="26749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24" name="AutoShape 92">
              <a:extLst>
                <a:ext uri="{FF2B5EF4-FFF2-40B4-BE49-F238E27FC236}">
                  <a16:creationId xmlns:a16="http://schemas.microsoft.com/office/drawing/2014/main" id="{78C70B68-91AC-3D10-EFB8-79F3A0C39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1675" y="32464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25" name="Line 93">
              <a:extLst>
                <a:ext uri="{FF2B5EF4-FFF2-40B4-BE49-F238E27FC236}">
                  <a16:creationId xmlns:a16="http://schemas.microsoft.com/office/drawing/2014/main" id="{966AF44C-C160-1512-96B2-FEE66D2828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3338" y="4400550"/>
              <a:ext cx="1238250" cy="9969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26" name="Line 94">
              <a:extLst>
                <a:ext uri="{FF2B5EF4-FFF2-40B4-BE49-F238E27FC236}">
                  <a16:creationId xmlns:a16="http://schemas.microsoft.com/office/drawing/2014/main" id="{1FE34EDE-CA60-5024-EC57-3A15A5F80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0" y="3048000"/>
              <a:ext cx="1447800" cy="1333500"/>
            </a:xfrm>
            <a:prstGeom prst="line">
              <a:avLst/>
            </a:prstGeom>
            <a:noFill/>
            <a:ln w="158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27" name="Line 95">
              <a:extLst>
                <a:ext uri="{FF2B5EF4-FFF2-40B4-BE49-F238E27FC236}">
                  <a16:creationId xmlns:a16="http://schemas.microsoft.com/office/drawing/2014/main" id="{45108E4D-327C-2580-DD1F-D407698F97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48600" y="4419600"/>
              <a:ext cx="1219200" cy="1219200"/>
            </a:xfrm>
            <a:prstGeom prst="line">
              <a:avLst/>
            </a:prstGeom>
            <a:noFill/>
            <a:ln w="158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28" name="Line 96">
              <a:extLst>
                <a:ext uri="{FF2B5EF4-FFF2-40B4-BE49-F238E27FC236}">
                  <a16:creationId xmlns:a16="http://schemas.microsoft.com/office/drawing/2014/main" id="{166CC7B1-16FB-29A0-D105-FF5F89939D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53150" y="3086100"/>
              <a:ext cx="1466850" cy="838200"/>
            </a:xfrm>
            <a:prstGeom prst="line">
              <a:avLst/>
            </a:prstGeom>
            <a:noFill/>
            <a:ln w="158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29" name="Line 97">
              <a:extLst>
                <a:ext uri="{FF2B5EF4-FFF2-40B4-BE49-F238E27FC236}">
                  <a16:creationId xmlns:a16="http://schemas.microsoft.com/office/drawing/2014/main" id="{B12911AC-E919-AF38-D389-992EEF23E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34100" y="3924300"/>
              <a:ext cx="1714500" cy="1695450"/>
            </a:xfrm>
            <a:prstGeom prst="line">
              <a:avLst/>
            </a:prstGeom>
            <a:noFill/>
            <a:ln w="158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3486C69-3BA1-2BAB-C087-50D53A9076E0}"/>
              </a:ext>
            </a:extLst>
          </p:cNvPr>
          <p:cNvGrpSpPr/>
          <p:nvPr/>
        </p:nvGrpSpPr>
        <p:grpSpPr>
          <a:xfrm>
            <a:off x="5535112" y="3408979"/>
            <a:ext cx="1679576" cy="796926"/>
            <a:chOff x="5114925" y="2486025"/>
            <a:chExt cx="1679576" cy="796926"/>
          </a:xfrm>
        </p:grpSpPr>
        <p:sp>
          <p:nvSpPr>
            <p:cNvPr id="223330" name="AutoShape 98">
              <a:extLst>
                <a:ext uri="{FF2B5EF4-FFF2-40B4-BE49-F238E27FC236}">
                  <a16:creationId xmlns:a16="http://schemas.microsoft.com/office/drawing/2014/main" id="{86F3B78F-D046-D008-0E55-276B81EE6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925" y="2486025"/>
              <a:ext cx="1638300" cy="457200"/>
            </a:xfrm>
            <a:prstGeom prst="curvedDownArrow">
              <a:avLst>
                <a:gd name="adj1" fmla="val 71667"/>
                <a:gd name="adj2" fmla="val 143333"/>
                <a:gd name="adj3" fmla="val 33333"/>
              </a:avLst>
            </a:prstGeom>
            <a:solidFill>
              <a:srgbClr val="008000"/>
            </a:soli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31" name="Text Box 99">
              <a:extLst>
                <a:ext uri="{FF2B5EF4-FFF2-40B4-BE49-F238E27FC236}">
                  <a16:creationId xmlns:a16="http://schemas.microsoft.com/office/drawing/2014/main" id="{4535BB46-9A58-B63B-4643-0ADC072DC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4926" y="2886076"/>
              <a:ext cx="16795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altLang="en-US" sz="2000">
                  <a:cs typeface="Times New Roman" panose="02020603050405020304" pitchFamily="18" charset="0"/>
                </a:rPr>
                <a:t>Φ</a:t>
              </a:r>
              <a:r>
                <a:rPr lang="en-US" altLang="en-US" sz="2000">
                  <a:cs typeface="Times New Roman" panose="02020603050405020304" pitchFamily="18" charset="0"/>
                </a:rPr>
                <a:t>:  </a:t>
              </a:r>
              <a:r>
                <a:rPr lang="en-US" altLang="en-US" sz="2000" b="1">
                  <a:cs typeface="Times New Roman" panose="02020603050405020304" pitchFamily="18" charset="0"/>
                </a:rPr>
                <a:t>x</a:t>
              </a:r>
              <a:r>
                <a:rPr lang="en-US" altLang="en-US" sz="2000" b="1" baseline="-25000">
                  <a:cs typeface="Times New Roman" panose="02020603050405020304" pitchFamily="18" charset="0"/>
                </a:rPr>
                <a:t> </a:t>
              </a:r>
              <a:r>
                <a:rPr lang="en-US" altLang="en-US" sz="2000" b="1">
                  <a:cs typeface="Times New Roman" panose="02020603050405020304" pitchFamily="18" charset="0"/>
                </a:rPr>
                <a:t>→</a:t>
              </a:r>
              <a:r>
                <a:rPr lang="en-US" altLang="en-US" sz="2000">
                  <a:cs typeface="Times New Roman" panose="02020603050405020304" pitchFamily="18" charset="0"/>
                </a:rPr>
                <a:t> </a:t>
              </a:r>
              <a:r>
                <a:rPr lang="el-GR" altLang="en-US" sz="2000" b="1">
                  <a:cs typeface="Times New Roman" panose="02020603050405020304" pitchFamily="18" charset="0"/>
                </a:rPr>
                <a:t>φ</a:t>
              </a:r>
              <a:r>
                <a:rPr lang="en-US" altLang="en-US" sz="2000">
                  <a:cs typeface="Times New Roman" panose="02020603050405020304" pitchFamily="18" charset="0"/>
                </a:rPr>
                <a:t>(</a:t>
              </a:r>
              <a:r>
                <a:rPr lang="en-US" altLang="en-US" sz="2000" b="1">
                  <a:cs typeface="Times New Roman" panose="02020603050405020304" pitchFamily="18" charset="0"/>
                </a:rPr>
                <a:t>x</a:t>
              </a:r>
              <a:r>
                <a:rPr lang="en-US" altLang="en-US" sz="2000">
                  <a:cs typeface="Times New Roman" panose="02020603050405020304" pitchFamily="18" charset="0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D5E5B-64DC-469F-A712-97CA2A8A0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>
            <a:extLst>
              <a:ext uri="{FF2B5EF4-FFF2-40B4-BE49-F238E27FC236}">
                <a16:creationId xmlns:a16="http://schemas.microsoft.com/office/drawing/2014/main" id="{71CBF326-CEF6-7C89-25E0-A88403C212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02826C5A-8137-CC77-0DC5-DCDDE7C502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51578" y="1883081"/>
            <a:ext cx="9603275" cy="3450613"/>
          </a:xfrm>
        </p:spPr>
        <p:txBody>
          <a:bodyPr/>
          <a:lstStyle/>
          <a:p>
            <a:endParaRPr lang="en-US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8D4758D-5C9F-3D10-8A5F-CBB03C97D7A1}"/>
              </a:ext>
            </a:extLst>
          </p:cNvPr>
          <p:cNvSpPr txBox="1">
            <a:spLocks/>
          </p:cNvSpPr>
          <p:nvPr/>
        </p:nvSpPr>
        <p:spPr>
          <a:xfrm>
            <a:off x="6050616" y="1894132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>
                <a:solidFill>
                  <a:srgbClr val="0D0D0D"/>
                </a:solidFill>
                <a:latin typeface="Söhne"/>
              </a:rPr>
              <a:t>For non-linearly separable data, SVM can use the </a:t>
            </a:r>
            <a:r>
              <a:rPr lang="en-US" sz="2400" i="1">
                <a:solidFill>
                  <a:srgbClr val="0D0D0D"/>
                </a:solidFill>
                <a:latin typeface="Söhne"/>
              </a:rPr>
              <a:t>kernel trick </a:t>
            </a:r>
            <a:r>
              <a:rPr lang="en-US" sz="2400">
                <a:solidFill>
                  <a:srgbClr val="0D0D0D"/>
                </a:solidFill>
                <a:latin typeface="Söhne"/>
              </a:rPr>
              <a:t>to map inputs into high-dimensional feature spaces where a linear separation is possible.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>
                <a:solidFill>
                  <a:srgbClr val="0D0D0D"/>
                </a:solidFill>
                <a:latin typeface="Söhne"/>
              </a:rPr>
              <a:t>E.g., Medication is only effective if the does is not too little or too high</a:t>
            </a:r>
            <a:endParaRPr lang="en-US" sz="2400" dirty="0">
              <a:solidFill>
                <a:srgbClr val="0D0D0D"/>
              </a:solidFill>
              <a:latin typeface="Söhn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136ED8-6A86-7D1D-86E1-A3097539E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4" y="3608387"/>
            <a:ext cx="5458838" cy="2310619"/>
          </a:xfrm>
          <a:prstGeom prst="rect">
            <a:avLst/>
          </a:prstGeom>
        </p:spPr>
      </p:pic>
      <p:pic>
        <p:nvPicPr>
          <p:cNvPr id="7" name="Picture 2" descr="SVM concept - gitbook_docs">
            <a:extLst>
              <a:ext uri="{FF2B5EF4-FFF2-40B4-BE49-F238E27FC236}">
                <a16:creationId xmlns:a16="http://schemas.microsoft.com/office/drawing/2014/main" id="{B4C335D1-C456-7712-25F2-38B8A5E70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43" y="238472"/>
            <a:ext cx="5458838" cy="336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065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Classification Algorithms: K-Nearest Neighbors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KNN works by finding the most similar instances (neighbors) in the training data to a given input and predicting the output based on these neighbors.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24E051-F1BF-3C2E-A452-C414077F2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7" y="2046172"/>
            <a:ext cx="5576932" cy="276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65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Classification Algorithms: K-Nearest </a:t>
            </a:r>
            <a:r>
              <a:rPr lang="en-US" dirty="0" err="1"/>
              <a:t>Neighbours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KNN calculates the distance between the input sample and each training data point to identify the nearest neighbors.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Common distance measures include Euclidean, Manhattan, and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Minkowski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distances.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E5823C-703F-B49E-E0EF-F4F8FF312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79" y="2124844"/>
            <a:ext cx="5793358" cy="303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62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Classification Algorithms: K-Nearest </a:t>
            </a:r>
            <a:r>
              <a:rPr lang="en-US" dirty="0" err="1"/>
              <a:t>Neighbours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distances to the nodes are then sorted in increasing order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first K distances are considered and the class making the majority of the nodes is selected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9A74EE-A483-F067-58C8-3E591BBFC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97"/>
            <a:ext cx="5799105" cy="30248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508DB9-2E1B-7103-B17C-59562765C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52035"/>
            <a:ext cx="5799104" cy="30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96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Classification Algorithms: K-Nearest Neighbors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selected value of K can affect the classification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Too small K will result in Over-Fitting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Too large K will result in Under-Fitting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E075E59-3D86-1029-3BDE-8B9AE7AED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84442"/>
            <a:ext cx="5833867" cy="282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37078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64869</TotalTime>
  <Words>750</Words>
  <Application>Microsoft Office PowerPoint</Application>
  <PresentationFormat>Widescreen</PresentationFormat>
  <Paragraphs>100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Gill Sans MT</vt:lpstr>
      <vt:lpstr>Söhne</vt:lpstr>
      <vt:lpstr>Gallery</vt:lpstr>
      <vt:lpstr>Supervised classification </vt:lpstr>
      <vt:lpstr>Introduction to Support Vector Machines</vt:lpstr>
      <vt:lpstr>The Intuition Behind SVMs</vt:lpstr>
      <vt:lpstr>Linear Separators (Perceptron) </vt:lpstr>
      <vt:lpstr>Linear Separators </vt:lpstr>
      <vt:lpstr>Linear Separators </vt:lpstr>
      <vt:lpstr>Linear Separators</vt:lpstr>
      <vt:lpstr>Maximum Margin Classification</vt:lpstr>
      <vt:lpstr>Soft Margin Classification  </vt:lpstr>
      <vt:lpstr>Allowing for misclassifications</vt:lpstr>
      <vt:lpstr>Non-linear SVMs</vt:lpstr>
      <vt:lpstr>Non-linear SVMs:  Feature spaces</vt:lpstr>
      <vt:lpstr>PowerPoint Presentation</vt:lpstr>
      <vt:lpstr>Classification Algorithms: K-Nearest Neighbors</vt:lpstr>
      <vt:lpstr>Classification Algorithms: K-Nearest Neighbours</vt:lpstr>
      <vt:lpstr>Classification Algorithms: K-Nearest Neighbours</vt:lpstr>
      <vt:lpstr>Classification Algorithms: K-Nearest Neighbors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classification</dc:title>
  <dc:creator>Yasser Ebrahim</dc:creator>
  <cp:lastModifiedBy>Yasser Ebrahim</cp:lastModifiedBy>
  <cp:revision>597</cp:revision>
  <cp:lastPrinted>2024-09-09T00:36:31Z</cp:lastPrinted>
  <dcterms:created xsi:type="dcterms:W3CDTF">2024-08-30T15:00:34Z</dcterms:created>
  <dcterms:modified xsi:type="dcterms:W3CDTF">2026-04-07T17:08:54Z</dcterms:modified>
</cp:coreProperties>
</file>