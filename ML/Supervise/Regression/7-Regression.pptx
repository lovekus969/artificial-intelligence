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300" r:id="rId4"/>
    <p:sldId id="356" r:id="rId5"/>
    <p:sldId id="357" r:id="rId6"/>
    <p:sldId id="358" r:id="rId7"/>
    <p:sldId id="359" r:id="rId8"/>
    <p:sldId id="360" r:id="rId9"/>
    <p:sldId id="295" r:id="rId10"/>
    <p:sldId id="312" r:id="rId11"/>
    <p:sldId id="313" r:id="rId12"/>
    <p:sldId id="314" r:id="rId13"/>
    <p:sldId id="316" r:id="rId14"/>
    <p:sldId id="317" r:id="rId15"/>
    <p:sldId id="318" r:id="rId16"/>
    <p:sldId id="265" r:id="rId17"/>
    <p:sldId id="322" r:id="rId18"/>
    <p:sldId id="266" r:id="rId19"/>
    <p:sldId id="267" r:id="rId20"/>
    <p:sldId id="268" r:id="rId21"/>
    <p:sldId id="269" r:id="rId22"/>
    <p:sldId id="272" r:id="rId23"/>
    <p:sldId id="273" r:id="rId24"/>
    <p:sldId id="321" r:id="rId25"/>
    <p:sldId id="319" r:id="rId26"/>
    <p:sldId id="320" r:id="rId27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0" autoAdjust="0"/>
    <p:restoredTop sz="94667"/>
  </p:normalViewPr>
  <p:slideViewPr>
    <p:cSldViewPr snapToGrid="0">
      <p:cViewPr varScale="1">
        <p:scale>
          <a:sx n="85" d="100"/>
          <a:sy n="85" d="100"/>
        </p:scale>
        <p:origin x="1272" y="5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C8DF-AC17-9BB4-6691-417A7CFF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E75BF-FD14-1CA6-353D-CF4904041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DB650-AA8B-426E-AD58-8095E79EA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DC13-43C7-4142-98FF-EE6234BC463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333C4-3CE9-5152-F679-A33C08844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642C5-632C-F901-E475-197875C6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6A66E-7FAE-45AD-B03C-FF3287DC0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85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920" y="6457949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A7FB-53FF-794C-5A5F-8580FEA4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6D780-4941-BF07-8D07-B16F8A98B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Regression?</a:t>
            </a:r>
          </a:p>
          <a:p>
            <a:pPr lvl="1"/>
            <a:r>
              <a:rPr lang="en-US" dirty="0"/>
              <a:t>Regression is a supervised machine learning technique used to predict continuous numerical values based on input features.</a:t>
            </a:r>
          </a:p>
          <a:p>
            <a:r>
              <a:rPr lang="en-US" b="1" dirty="0"/>
              <a:t>Key characteristics:</a:t>
            </a:r>
          </a:p>
          <a:p>
            <a:pPr marL="342900" lvl="1" indent="0">
              <a:buNone/>
            </a:pPr>
            <a:r>
              <a:rPr lang="en-US" dirty="0"/>
              <a:t>- Predicts continuous numerical outputs</a:t>
            </a:r>
          </a:p>
          <a:p>
            <a:pPr marL="342900" lvl="1" indent="0">
              <a:buNone/>
            </a:pPr>
            <a:r>
              <a:rPr lang="en-US" dirty="0"/>
              <a:t>- Uses labeled training data</a:t>
            </a:r>
          </a:p>
          <a:p>
            <a:pPr marL="342900" lvl="1" indent="0">
              <a:buNone/>
            </a:pPr>
            <a:r>
              <a:rPr lang="en-US" dirty="0"/>
              <a:t>- Models relationships between variables</a:t>
            </a:r>
          </a:p>
          <a:p>
            <a:pPr marL="342900" lvl="1" indent="0">
              <a:buNone/>
            </a:pPr>
            <a:r>
              <a:rPr lang="en-US" dirty="0"/>
              <a:t>- Minimizes prediction errors</a:t>
            </a:r>
          </a:p>
        </p:txBody>
      </p:sp>
    </p:spTree>
    <p:extLst>
      <p:ext uri="{BB962C8B-B14F-4D97-AF65-F5344CB8AC3E}">
        <p14:creationId xmlns:p14="http://schemas.microsoft.com/office/powerpoint/2010/main" val="17540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6C47-310A-EA30-9E20-FFA80678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9E71C-649F-2704-0322-FD1B9C60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33308"/>
            <a:ext cx="7202456" cy="30283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1. Linear Regression</a:t>
            </a:r>
          </a:p>
          <a:p>
            <a:pPr marL="342900" lvl="1" indent="0">
              <a:buNone/>
            </a:pPr>
            <a:r>
              <a:rPr lang="en-US" dirty="0"/>
              <a:t>   - Simple linear regression (one feature)</a:t>
            </a:r>
          </a:p>
          <a:p>
            <a:pPr marL="342900" lvl="1" indent="0">
              <a:buNone/>
            </a:pPr>
            <a:r>
              <a:rPr lang="en-US" dirty="0"/>
              <a:t>   - Multiple linear regression (multiple features)</a:t>
            </a:r>
          </a:p>
          <a:p>
            <a:r>
              <a:rPr lang="en-US" dirty="0"/>
              <a:t>2. Polynomial Regression</a:t>
            </a:r>
          </a:p>
          <a:p>
            <a:pPr marL="342900" lvl="1" indent="0">
              <a:buNone/>
            </a:pPr>
            <a:r>
              <a:rPr lang="en-US" dirty="0"/>
              <a:t>   - Captures non-linear relationships</a:t>
            </a:r>
          </a:p>
          <a:p>
            <a:pPr marL="342900" lvl="1" indent="0">
              <a:buNone/>
            </a:pPr>
            <a:r>
              <a:rPr lang="en-US" dirty="0"/>
              <a:t>   - Higher-order feature relationships</a:t>
            </a:r>
          </a:p>
          <a:p>
            <a:r>
              <a:rPr lang="en-US" dirty="0"/>
              <a:t>3. Advanced Regression Methods</a:t>
            </a:r>
          </a:p>
          <a:p>
            <a:pPr marL="342900" lvl="1" indent="0">
              <a:buNone/>
            </a:pPr>
            <a:r>
              <a:rPr lang="en-US" dirty="0"/>
              <a:t>   - Ridge Regression (L2 regularization)</a:t>
            </a:r>
          </a:p>
          <a:p>
            <a:pPr marL="342900" lvl="1" indent="0">
              <a:buNone/>
            </a:pPr>
            <a:r>
              <a:rPr lang="en-US" dirty="0"/>
              <a:t>   - Lasso Regression (L1 regularization)</a:t>
            </a:r>
          </a:p>
          <a:p>
            <a:pPr marL="342900" lvl="1" indent="0">
              <a:buNone/>
            </a:pPr>
            <a:r>
              <a:rPr lang="en-US" dirty="0"/>
              <a:t>   - Elastic Net (combines L1 and L2)</a:t>
            </a:r>
          </a:p>
        </p:txBody>
      </p:sp>
      <p:pic>
        <p:nvPicPr>
          <p:cNvPr id="5" name="Picture 2" descr="Machine learning Polynomial Regression - Javatpoint">
            <a:extLst>
              <a:ext uri="{FF2B5EF4-FFF2-40B4-BE49-F238E27FC236}">
                <a16:creationId xmlns:a16="http://schemas.microsoft.com/office/drawing/2014/main" id="{981D3D1C-186C-1E57-3F0B-BDF477431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302" y="4240853"/>
            <a:ext cx="5175779" cy="258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07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5483-6C85-4822-85D0-BA6884EE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805EE-2F82-DE38-5EB5-7D1601836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832" y="1147483"/>
            <a:ext cx="7934274" cy="228151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Mathematical Formula:</a:t>
            </a:r>
          </a:p>
          <a:p>
            <a:r>
              <a:rPr lang="es-ES" dirty="0"/>
              <a:t>y = b0 + b1 * x1 + b2 * x2 + ... + </a:t>
            </a:r>
            <a:r>
              <a:rPr lang="es-ES" dirty="0" err="1"/>
              <a:t>bN</a:t>
            </a:r>
            <a:r>
              <a:rPr lang="es-ES" dirty="0"/>
              <a:t> * </a:t>
            </a:r>
            <a:r>
              <a:rPr lang="es-ES" dirty="0" err="1"/>
              <a:t>xN</a:t>
            </a:r>
            <a:r>
              <a:rPr lang="es-ES" dirty="0"/>
              <a:t> + e;</a:t>
            </a:r>
          </a:p>
          <a:p>
            <a:endParaRPr lang="en-US" dirty="0"/>
          </a:p>
          <a:p>
            <a:r>
              <a:rPr lang="en-US" dirty="0"/>
              <a:t>Where:</a:t>
            </a:r>
          </a:p>
          <a:p>
            <a:pPr lvl="1"/>
            <a:r>
              <a:rPr lang="en-US" dirty="0"/>
              <a:t>y: The predicted value.</a:t>
            </a:r>
          </a:p>
          <a:p>
            <a:pPr lvl="1"/>
            <a:r>
              <a:rPr lang="en-US" dirty="0"/>
              <a:t>b0: The intercept term (bias).</a:t>
            </a:r>
          </a:p>
          <a:p>
            <a:pPr lvl="1"/>
            <a:r>
              <a:rPr lang="en-US" dirty="0" err="1"/>
              <a:t>bN</a:t>
            </a:r>
            <a:r>
              <a:rPr lang="en-US" dirty="0"/>
              <a:t>: Coefficients for each feature.</a:t>
            </a:r>
          </a:p>
          <a:p>
            <a:pPr lvl="1"/>
            <a:r>
              <a:rPr lang="en-US" dirty="0" err="1"/>
              <a:t>xN</a:t>
            </a:r>
            <a:r>
              <a:rPr lang="en-US" dirty="0"/>
              <a:t>: Feature values (input variables).</a:t>
            </a:r>
          </a:p>
          <a:p>
            <a:pPr lvl="1"/>
            <a:r>
              <a:rPr lang="en-US" dirty="0"/>
              <a:t>e: The error term.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205DE7-3137-DDF7-C17B-43FF07891346}"/>
              </a:ext>
            </a:extLst>
          </p:cNvPr>
          <p:cNvSpPr txBox="1">
            <a:spLocks/>
          </p:cNvSpPr>
          <p:nvPr/>
        </p:nvSpPr>
        <p:spPr>
          <a:xfrm>
            <a:off x="420832" y="3619416"/>
            <a:ext cx="7934274" cy="296077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/>
              <a:t>Cost Function (Mean Squared Error):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s-ES" sz="1500" dirty="0"/>
              <a:t>J = (1/2m) * sum((</a:t>
            </a:r>
            <a:r>
              <a:rPr lang="es-ES" sz="1500" dirty="0" err="1"/>
              <a:t>y_actual</a:t>
            </a:r>
            <a:r>
              <a:rPr lang="es-ES" sz="1500" dirty="0"/>
              <a:t>[i] - </a:t>
            </a:r>
            <a:r>
              <a:rPr lang="es-ES" sz="1500" dirty="0" err="1"/>
              <a:t>y_predicted</a:t>
            </a:r>
            <a:r>
              <a:rPr lang="es-ES" sz="1500" dirty="0"/>
              <a:t>[i])^2);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5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/>
              <a:t>Where:</a:t>
            </a:r>
          </a:p>
          <a:p>
            <a:pPr lvl="1"/>
            <a:r>
              <a:rPr lang="en-US" sz="1350" dirty="0"/>
              <a:t>J: The cost function value (Mean Squared Error).</a:t>
            </a:r>
          </a:p>
          <a:p>
            <a:pPr lvl="1"/>
            <a:r>
              <a:rPr lang="en-US" sz="1350" dirty="0"/>
              <a:t>m: The number of training examples.</a:t>
            </a:r>
          </a:p>
          <a:p>
            <a:pPr lvl="1"/>
            <a:r>
              <a:rPr lang="en-US" sz="1350" dirty="0" err="1"/>
              <a:t>y_actual</a:t>
            </a:r>
            <a:r>
              <a:rPr lang="en-US" sz="1350" dirty="0"/>
              <a:t>[</a:t>
            </a:r>
            <a:r>
              <a:rPr lang="en-US" sz="1350" dirty="0" err="1"/>
              <a:t>i</a:t>
            </a:r>
            <a:r>
              <a:rPr lang="en-US" sz="1350" dirty="0"/>
              <a:t>]: The actual value for the </a:t>
            </a:r>
            <a:r>
              <a:rPr lang="en-US" sz="1350" dirty="0" err="1"/>
              <a:t>i-th</a:t>
            </a:r>
            <a:r>
              <a:rPr lang="en-US" sz="1350" dirty="0"/>
              <a:t> example.</a:t>
            </a:r>
          </a:p>
          <a:p>
            <a:pPr lvl="1"/>
            <a:r>
              <a:rPr lang="en-US" sz="1350" dirty="0" err="1"/>
              <a:t>y_predicted</a:t>
            </a:r>
            <a:r>
              <a:rPr lang="en-US" sz="1350" dirty="0"/>
              <a:t>[</a:t>
            </a:r>
            <a:r>
              <a:rPr lang="en-US" sz="1350" dirty="0" err="1"/>
              <a:t>i</a:t>
            </a:r>
            <a:r>
              <a:rPr lang="en-US" sz="1350" dirty="0"/>
              <a:t>]: The predicted value for the </a:t>
            </a:r>
            <a:r>
              <a:rPr lang="en-US" sz="1350" dirty="0" err="1"/>
              <a:t>i-th</a:t>
            </a:r>
            <a:r>
              <a:rPr lang="en-US" sz="1350" dirty="0"/>
              <a:t> example.</a:t>
            </a:r>
          </a:p>
        </p:txBody>
      </p:sp>
    </p:spTree>
    <p:extLst>
      <p:ext uri="{BB962C8B-B14F-4D97-AF65-F5344CB8AC3E}">
        <p14:creationId xmlns:p14="http://schemas.microsoft.com/office/powerpoint/2010/main" val="125674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1A2D-DC66-314A-5085-88AD047F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F2457-001C-EDD7-75A5-E845F15B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554"/>
            <a:ext cx="8578850" cy="4634660"/>
          </a:xfrm>
        </p:spPr>
        <p:txBody>
          <a:bodyPr/>
          <a:lstStyle/>
          <a:p>
            <a:r>
              <a:rPr lang="en-US" dirty="0"/>
              <a:t>Mathematical optimization algorithm used to minimize cost functions</a:t>
            </a:r>
          </a:p>
          <a:p>
            <a:pPr lvl="1"/>
            <a:r>
              <a:rPr lang="en-US" dirty="0"/>
              <a:t>Attempts to find the best values for the function parameters</a:t>
            </a:r>
          </a:p>
          <a:p>
            <a:pPr lvl="1"/>
            <a:r>
              <a:rPr lang="en-US" dirty="0"/>
              <a:t>Much more efficient than brute force</a:t>
            </a:r>
          </a:p>
          <a:p>
            <a:r>
              <a:rPr lang="en-US" dirty="0"/>
              <a:t>Fundamental technique in machine learning and deep learning</a:t>
            </a:r>
          </a:p>
          <a:p>
            <a:r>
              <a:rPr lang="en-US" dirty="0"/>
              <a:t>Iteratively finds the minimum of a function by moving in the direction of steepest descent</a:t>
            </a:r>
          </a:p>
          <a:p>
            <a:pPr lvl="1"/>
            <a:r>
              <a:rPr lang="en-US" dirty="0"/>
              <a:t>The direction that minimizes the error faster</a:t>
            </a:r>
          </a:p>
        </p:txBody>
      </p:sp>
    </p:spTree>
    <p:extLst>
      <p:ext uri="{BB962C8B-B14F-4D97-AF65-F5344CB8AC3E}">
        <p14:creationId xmlns:p14="http://schemas.microsoft.com/office/powerpoint/2010/main" val="94673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8044-5C72-638B-936F-857BAD73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Gradient decent: 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A3C57-0F7C-04A2-A427-F970644CD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7778"/>
            <a:ext cx="8229600" cy="4130363"/>
          </a:xfrm>
        </p:spPr>
        <p:txBody>
          <a:bodyPr>
            <a:normAutofit/>
          </a:bodyPr>
          <a:lstStyle/>
          <a:p>
            <a:r>
              <a:rPr lang="en-US" dirty="0"/>
              <a:t>Notation:</a:t>
            </a:r>
          </a:p>
          <a:p>
            <a:pPr lvl="1"/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h(x)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/>
              <a:t>The predicted output for input x</a:t>
            </a:r>
          </a:p>
          <a:p>
            <a:pPr lvl="1"/>
            <a:r>
              <a:rPr lang="en-US" dirty="0"/>
              <a:t>y: The expected output of input x (the label)</a:t>
            </a:r>
          </a:p>
          <a:p>
            <a:pPr lvl="1"/>
            <a:r>
              <a:rPr lang="en-US" dirty="0"/>
              <a:t>m: The number of observations</a:t>
            </a:r>
          </a:p>
          <a:p>
            <a:r>
              <a:rPr lang="en-US" dirty="0"/>
              <a:t>A popular cost function is Mean Square Error</a:t>
            </a:r>
          </a:p>
          <a:p>
            <a:pPr lvl="1"/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J(w) = 1/2m * Σ(h(x) - y)²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/>
              <a:t>Where w is the value of the parameter (weight on edge between nodes)</a:t>
            </a:r>
          </a:p>
          <a:p>
            <a:r>
              <a:rPr lang="en-US" dirty="0"/>
              <a:t>Gradient measures the slope of a curve using the partial derivative(s)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at </a:t>
            </a:r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J(w) = 1/m * 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(h(x) - y)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 x)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 assuming we have one parameter, x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91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475A7-A462-BADC-066E-A399FBC1B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2E5A-4A0A-7533-2CB6-8507CC11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Gradient decent: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81236-C41D-51DE-E5D9-6B863B359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0589"/>
            <a:ext cx="8077200" cy="4500282"/>
          </a:xfrm>
        </p:spPr>
        <p:txBody>
          <a:bodyPr>
            <a:normAutofit/>
          </a:bodyPr>
          <a:lstStyle/>
          <a:p>
            <a:r>
              <a:rPr lang="en-US" dirty="0"/>
              <a:t>Start with a random w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predicted values for all the observations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terms of x and w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Mean Square Error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 the error of each observation observations </a:t>
            </a:r>
          </a:p>
          <a:p>
            <a:pPr lvl="2"/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(h(x) - y)²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up all the resulting squares</a:t>
            </a:r>
          </a:p>
          <a:p>
            <a:pPr lvl="2"/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Σ(h(x) - y)²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 the result by </a:t>
            </a:r>
            <a:r>
              <a:rPr lang="en-US" dirty="0"/>
              <a:t>the number of observations to obtain the mean</a:t>
            </a:r>
          </a:p>
          <a:p>
            <a:pPr lvl="2"/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Σ(h(x) - y)²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2m</a:t>
            </a:r>
            <a:endParaRPr lang="en-US" dirty="0"/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19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C151-BE28-DCF1-878A-C2ED4ACF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49CF-9102-133F-D446-1F42E986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Gradient decent: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1C82-4BF0-BAFF-5F6B-DBF925AD2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0941"/>
            <a:ext cx="5665694" cy="5262283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Gradient (i.e., the set of partial derivative(s) for the parameter(s))</a:t>
            </a:r>
          </a:p>
          <a:p>
            <a:pPr lvl="1"/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J(w) = 1/m * 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pl-P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(h(x) - y)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 x)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new w using the Gradient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w = w – learning Rate * the gradient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learning rate is not too high, the next Mean Square Error will be smaller getting you closer to the solution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difference between w and w-1 is very small, that signals that no extra training is needed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744FFE-8A6C-BC85-78ED-8E2875FA3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1" y="1133940"/>
            <a:ext cx="2760459" cy="340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50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D8F55-2FB4-BB11-418A-2DEEFCC2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7B76-930F-7D42-D019-0C1E1F03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Gradient decent: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89D9E-EDCF-6355-A861-1C6B01BC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93695"/>
            <a:ext cx="5623561" cy="4129816"/>
          </a:xfrm>
        </p:spPr>
        <p:txBody>
          <a:bodyPr>
            <a:normAutofit/>
          </a:bodyPr>
          <a:lstStyle/>
          <a:p>
            <a:r>
              <a:rPr lang="en-US" b="1" dirty="0"/>
              <a:t>Intuition</a:t>
            </a:r>
          </a:p>
          <a:p>
            <a:pPr lvl="1"/>
            <a:r>
              <a:rPr lang="en-US" dirty="0"/>
              <a:t>If the gradient is negative, the cost function decreases when w is increased.</a:t>
            </a:r>
          </a:p>
          <a:p>
            <a:pPr lvl="1"/>
            <a:r>
              <a:rPr lang="en-US" dirty="0"/>
              <a:t>If the gradient is positive, the cost function decreases when w is decreased.</a:t>
            </a:r>
          </a:p>
          <a:p>
            <a:pPr lvl="1"/>
            <a:r>
              <a:rPr lang="en-US" dirty="0"/>
              <a:t>The magnitude of the gradient indicates how far www is from the optimal value.</a:t>
            </a:r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851B46-9C4C-8CAF-771C-1AC92F41B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957" y="1382431"/>
            <a:ext cx="2760459" cy="340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8BAC5-36CC-F30D-F5C1-D1B6A4A3C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C847-F379-1F56-D108-98EBB397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Gradient decent: The learning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9D9B-166A-2140-0C14-BEE754070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7835"/>
            <a:ext cx="7833941" cy="416567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learning rate is too small, learning will be slow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it will take more iterations to reach the bottom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learning rate is too large, training will not happen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BA06E3CB-CB37-5F5B-E9CA-39D3BCF7A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85" y="3218517"/>
            <a:ext cx="7179469" cy="217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247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0535-4C16-B93A-69CD-20E22A5D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Choosing Non-Linear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2B56C-AFEE-58A9-0E98-686536A8A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21976"/>
            <a:ext cx="8130988" cy="5558211"/>
          </a:xfrm>
        </p:spPr>
        <p:txBody>
          <a:bodyPr>
            <a:normAutofit/>
          </a:bodyPr>
          <a:lstStyle/>
          <a:p>
            <a:r>
              <a:rPr lang="en-US" dirty="0"/>
              <a:t>1. Polynomial Regression</a:t>
            </a:r>
          </a:p>
          <a:p>
            <a:pPr marL="0" indent="0">
              <a:buNone/>
            </a:pPr>
            <a:r>
              <a:rPr lang="en-US" dirty="0"/>
              <a:t>   - Data shows clear curvature</a:t>
            </a:r>
          </a:p>
          <a:p>
            <a:pPr marL="0" indent="0">
              <a:buNone/>
            </a:pPr>
            <a:r>
              <a:rPr lang="en-US" dirty="0"/>
              <a:t>   - Relationship has multiple turning points</a:t>
            </a:r>
          </a:p>
          <a:p>
            <a:pPr marL="0" indent="0">
              <a:buNone/>
            </a:pPr>
            <a:r>
              <a:rPr lang="en-US" dirty="0"/>
              <a:t>   - Example: Temperature variations over a day</a:t>
            </a:r>
          </a:p>
          <a:p>
            <a:endParaRPr lang="en-US" dirty="0"/>
          </a:p>
          <a:p>
            <a:r>
              <a:rPr lang="en-US" dirty="0"/>
              <a:t>2. Exponential Regression</a:t>
            </a:r>
          </a:p>
          <a:p>
            <a:pPr marL="0" indent="0">
              <a:buNone/>
            </a:pPr>
            <a:r>
              <a:rPr lang="en-US" dirty="0"/>
              <a:t>   - Data shows rapid growth/decay</a:t>
            </a:r>
          </a:p>
          <a:p>
            <a:pPr marL="0" indent="0">
              <a:buNone/>
            </a:pPr>
            <a:r>
              <a:rPr lang="en-US" dirty="0"/>
              <a:t>   - Values increase/decrease by percentage</a:t>
            </a:r>
          </a:p>
          <a:p>
            <a:pPr marL="0" indent="0">
              <a:buNone/>
            </a:pPr>
            <a:r>
              <a:rPr lang="en-US" dirty="0"/>
              <a:t>   - Example: Population growth, compound interest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1800" dirty="0"/>
              <a:t>3. Logarithmic Regression</a:t>
            </a:r>
          </a:p>
          <a:p>
            <a:pPr marL="0" indent="0">
              <a:buNone/>
            </a:pPr>
            <a:r>
              <a:rPr lang="en-US" sz="1800" dirty="0"/>
              <a:t>   - Growth rate decreases over time</a:t>
            </a:r>
          </a:p>
          <a:p>
            <a:pPr marL="0" indent="0">
              <a:buNone/>
            </a:pPr>
            <a:r>
              <a:rPr lang="en-US" sz="1800" dirty="0"/>
              <a:t>   - Diminishing returns relationship</a:t>
            </a:r>
          </a:p>
          <a:p>
            <a:pPr marL="0" indent="0">
              <a:buNone/>
            </a:pPr>
            <a:r>
              <a:rPr lang="en-US" sz="1800" dirty="0"/>
              <a:t>   - Example: Learning curves, sound intensity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1AF25FA-BB32-11C6-32C4-4489EA3E3BC3}"/>
              </a:ext>
            </a:extLst>
          </p:cNvPr>
          <p:cNvSpPr txBox="1">
            <a:spLocks/>
          </p:cNvSpPr>
          <p:nvPr/>
        </p:nvSpPr>
        <p:spPr>
          <a:xfrm>
            <a:off x="5059688" y="2369049"/>
            <a:ext cx="3899958" cy="258796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16765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ADA8-CB31-359E-41B2-4229DEED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9DED2-52F0-ECBF-01CD-3324D504A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30941"/>
            <a:ext cx="8328212" cy="39260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Polynomial Regression is an extension of linear regression.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Linear Regression:</a:t>
            </a:r>
            <a:r>
              <a:rPr lang="en-US" dirty="0"/>
              <a:t> Models data with a straight 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Polynomial Regression:</a:t>
            </a:r>
            <a:r>
              <a:rPr lang="en-US" dirty="0"/>
              <a:t> Models data with a curve using polynomial terms.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when data shows a nonlinear trend that cannot be captured by simple linear regression.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4601D-F732-7825-FE66-2407A2A75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2" y="4600905"/>
            <a:ext cx="6333700" cy="1979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36E4DE-D656-DA05-ED92-E0BE55F91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686" y="3161043"/>
            <a:ext cx="6053966" cy="9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5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BB375-1C4D-C844-C029-8D688567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72F7-9D22-E6B6-436C-FD65C8A00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Polynomial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76276-C2B4-EF7F-478F-E72B33495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a linear model does not fit the data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residual plots show a systematic pattern.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real-world phenomena exhibit curvature, such as economic growth, biological changes, or physical processes.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FEFE1-150E-866C-BD0A-C03A681B8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868" y="3667225"/>
            <a:ext cx="6298756" cy="1968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28608B-22A7-B61C-0CF5-112256FAC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402" y="4862703"/>
            <a:ext cx="857324" cy="1886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D8C1DB-3D4C-5050-E1AE-E2848CBEB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187" y="4840268"/>
            <a:ext cx="2595129" cy="2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469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8BF4-1596-D271-F495-5198C5DB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E6AD-B9D8-4280-BA09-4E330EC3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Regression equation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EB015-BCB4-DC89-1601-3D686D0BF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6118" y="1057835"/>
            <a:ext cx="7458635" cy="38991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degree determines the flexibility of the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Higher-degree polynomials capture more complexity but may lead to overfitting.</a:t>
            </a:r>
          </a:p>
          <a:p>
            <a:endParaRPr lang="en-US" dirty="0"/>
          </a:p>
        </p:txBody>
      </p:sp>
      <p:pic>
        <p:nvPicPr>
          <p:cNvPr id="2050" name="Picture 2" descr="Polynomial functions of degrees starting from 0 through 5 | Download  Scientific Diagram">
            <a:extLst>
              <a:ext uri="{FF2B5EF4-FFF2-40B4-BE49-F238E27FC236}">
                <a16:creationId xmlns:a16="http://schemas.microsoft.com/office/drawing/2014/main" id="{BA0B045A-0F23-8C78-F7CB-11241FF9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358" y="3233866"/>
            <a:ext cx="4511283" cy="305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184AE-3B22-ACC1-2F0E-595DD2095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85" y="1139349"/>
            <a:ext cx="4500341" cy="41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13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31AC5-C2FB-113A-73BF-D8E4BE88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8C55-056C-44A8-4AEB-C9AE6F98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Polynomial degree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E057B-639E-8EAE-6EB0-BC366A99E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39906"/>
            <a:ext cx="8337176" cy="391710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low-degree polynomial may underfit the data, missing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high-degree polynomial may overfit, capturing noise rather than the true relationship.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K-Fold Cross-Validation </a:t>
            </a:r>
            <a:r>
              <a:rPr lang="en-US" dirty="0"/>
              <a:t>and error metrics (e.g., RMSE, R²) to determine the best degree.</a:t>
            </a:r>
          </a:p>
        </p:txBody>
      </p:sp>
      <p:pic>
        <p:nvPicPr>
          <p:cNvPr id="2050" name="Picture 2" descr="Polynomial functions of degrees starting from 0 through 5 | Download  Scientific Diagram">
            <a:extLst>
              <a:ext uri="{FF2B5EF4-FFF2-40B4-BE49-F238E27FC236}">
                <a16:creationId xmlns:a16="http://schemas.microsoft.com/office/drawing/2014/main" id="{D850354C-6B33-4C14-B7FC-421CBA134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214" y="3260759"/>
            <a:ext cx="4444858" cy="3005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71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3EAB-FCA6-ED71-B528-406B099A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116C-C0C8-1112-0F75-802DF79C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Polynomial degree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5D521-EF01-BC06-C4A4-088E11B99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7482"/>
            <a:ext cx="8497166" cy="3809527"/>
          </a:xfrm>
        </p:spPr>
        <p:txBody>
          <a:bodyPr/>
          <a:lstStyle/>
          <a:p>
            <a:pPr algn="l">
              <a:buNone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Why Use Cross-Validation?</a:t>
            </a:r>
          </a:p>
          <a:p>
            <a:pPr algn="l">
              <a:buNone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Cross-validation is a technique to evaluate the performance of a model on unseen data. It helps: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Avoid overfitting by testing the model on multiple subsets of the data.</a:t>
            </a:r>
          </a:p>
          <a:p>
            <a:pPr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Provide a more robust estimate of the model's performance.</a:t>
            </a:r>
          </a:p>
        </p:txBody>
      </p:sp>
      <p:pic>
        <p:nvPicPr>
          <p:cNvPr id="4098" name="Picture 2" descr="11 Overfitting | All Models Are Wrong: Concepts of Statistical Learning">
            <a:extLst>
              <a:ext uri="{FF2B5EF4-FFF2-40B4-BE49-F238E27FC236}">
                <a16:creationId xmlns:a16="http://schemas.microsoft.com/office/drawing/2014/main" id="{8927F688-616E-3BC4-2DD8-FAEF7DB4F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54" y="3429000"/>
            <a:ext cx="6364286" cy="254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59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Bias-Variance Tradeoff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093694"/>
            <a:ext cx="8404412" cy="3589246"/>
          </a:xfrm>
        </p:spPr>
        <p:txBody>
          <a:bodyPr/>
          <a:lstStyle/>
          <a:p>
            <a:pPr>
              <a:defRPr sz="1800"/>
            </a:pPr>
            <a:r>
              <a:rPr b="1" dirty="0"/>
              <a:t>Fundamental</a:t>
            </a:r>
            <a:r>
              <a:rPr dirty="0"/>
              <a:t> </a:t>
            </a:r>
            <a:r>
              <a:rPr b="1" dirty="0"/>
              <a:t>Tradeoff</a:t>
            </a:r>
            <a:r>
              <a:rPr dirty="0"/>
              <a:t> </a:t>
            </a:r>
            <a:r>
              <a:rPr b="1" dirty="0"/>
              <a:t>in</a:t>
            </a:r>
            <a:r>
              <a:rPr dirty="0"/>
              <a:t> </a:t>
            </a:r>
            <a:r>
              <a:rPr b="1" dirty="0"/>
              <a:t>Machine</a:t>
            </a:r>
            <a:r>
              <a:rPr dirty="0"/>
              <a:t> </a:t>
            </a:r>
            <a:r>
              <a:rPr b="1" dirty="0"/>
              <a:t>Learning</a:t>
            </a:r>
            <a:r>
              <a:rPr dirty="0"/>
              <a:t>: All prediction errors can be decomposed into three components:</a:t>
            </a:r>
          </a:p>
          <a:p>
            <a:pPr lvl="1">
              <a:defRPr sz="1800"/>
            </a:pPr>
            <a:r>
              <a:rPr b="1" dirty="0"/>
              <a:t>Bias</a:t>
            </a:r>
            <a:r>
              <a:rPr dirty="0"/>
              <a:t>: Error from oversimplifying assumptions</a:t>
            </a:r>
          </a:p>
          <a:p>
            <a:pPr lvl="1">
              <a:defRPr sz="1800"/>
            </a:pPr>
            <a:r>
              <a:rPr b="1" dirty="0"/>
              <a:t>Variance</a:t>
            </a:r>
            <a:r>
              <a:rPr dirty="0"/>
              <a:t>: Error from sensitivity to small fluctuations in training data</a:t>
            </a:r>
          </a:p>
          <a:p>
            <a:pPr lvl="1">
              <a:defRPr sz="1800"/>
            </a:pPr>
            <a:r>
              <a:rPr b="1" dirty="0"/>
              <a:t>Irreducible</a:t>
            </a:r>
            <a:r>
              <a:rPr dirty="0"/>
              <a:t> </a:t>
            </a:r>
            <a:r>
              <a:rPr b="1" dirty="0"/>
              <a:t>Error</a:t>
            </a:r>
            <a:r>
              <a:rPr dirty="0"/>
              <a:t>: Noise inherent in the problem</a:t>
            </a:r>
          </a:p>
          <a:p>
            <a:pPr>
              <a:defRPr sz="1800"/>
            </a:pPr>
            <a:r>
              <a:rPr b="1" dirty="0"/>
              <a:t>Mathematical</a:t>
            </a:r>
            <a:r>
              <a:rPr dirty="0"/>
              <a:t> </a:t>
            </a:r>
            <a:r>
              <a:rPr b="1" dirty="0"/>
              <a:t>Decomposition</a:t>
            </a:r>
            <a:r>
              <a:rPr dirty="0"/>
              <a:t>: Expected Prediction Error = Bias² + Variance + Irreducible Error</a:t>
            </a:r>
          </a:p>
          <a:p>
            <a:pPr>
              <a:defRPr sz="1800"/>
            </a:pPr>
            <a:r>
              <a:rPr b="1" dirty="0"/>
              <a:t>Key</a:t>
            </a:r>
            <a:r>
              <a:rPr dirty="0"/>
              <a:t> </a:t>
            </a:r>
            <a:r>
              <a:rPr b="1" dirty="0"/>
              <a:t>Insight</a:t>
            </a:r>
            <a:r>
              <a:rPr dirty="0"/>
              <a:t>: Reducing one component often increases the other, requiring careful balance.</a:t>
            </a:r>
          </a:p>
        </p:txBody>
      </p:sp>
    </p:spTree>
    <p:extLst>
      <p:ext uri="{BB962C8B-B14F-4D97-AF65-F5344CB8AC3E}">
        <p14:creationId xmlns:p14="http://schemas.microsoft.com/office/powerpoint/2010/main" val="3637522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Bias-Variance Tradeoff - Introduction</a:t>
            </a:r>
          </a:p>
        </p:txBody>
      </p:sp>
      <p:sp>
        <p:nvSpPr>
          <p:cNvPr id="4" name="AutoShape 2" descr="Bias Variance Tradeoff in Machine Learning">
            <a:extLst>
              <a:ext uri="{FF2B5EF4-FFF2-40B4-BE49-F238E27FC236}">
                <a16:creationId xmlns:a16="http://schemas.microsoft.com/office/drawing/2014/main" id="{BD162E71-6C02-4C76-AA24-329E8F14FB14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1088231" y="2369344"/>
            <a:ext cx="7773591" cy="2313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1034" name="Picture 10" descr="Bias-Variance Trade-off. While developing machine learning… | by Arun  Addagatla | Medium">
            <a:extLst>
              <a:ext uri="{FF2B5EF4-FFF2-40B4-BE49-F238E27FC236}">
                <a16:creationId xmlns:a16="http://schemas.microsoft.com/office/drawing/2014/main" id="{E9235533-78F7-474A-BA0B-39898853F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617" y="3732652"/>
            <a:ext cx="4573681" cy="312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11 Overfitting | All Models Are Wrong: Concepts of Statistical Learning">
            <a:extLst>
              <a:ext uri="{FF2B5EF4-FFF2-40B4-BE49-F238E27FC236}">
                <a16:creationId xmlns:a16="http://schemas.microsoft.com/office/drawing/2014/main" id="{A24CA7EC-AF61-4240-A28A-A71C7E91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423" y="993686"/>
            <a:ext cx="6078071" cy="242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895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84728"/>
            <a:ext cx="8229599" cy="531607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b="1" dirty="0"/>
              <a:t>High Bias (Underfitting):</a:t>
            </a:r>
          </a:p>
          <a:p>
            <a:pPr lvl="1">
              <a:defRPr sz="1800"/>
            </a:pPr>
            <a:r>
              <a:rPr dirty="0"/>
              <a:t>Model makes strong assumptions about data</a:t>
            </a:r>
          </a:p>
          <a:p>
            <a:pPr lvl="1">
              <a:defRPr sz="1800"/>
            </a:pPr>
            <a:r>
              <a:rPr dirty="0"/>
              <a:t>Consistently misses relevant patterns</a:t>
            </a:r>
          </a:p>
          <a:p>
            <a:pPr lvl="1">
              <a:defRPr sz="1800"/>
            </a:pPr>
            <a:r>
              <a:rPr dirty="0"/>
              <a:t>Poor performance on both training and test data</a:t>
            </a:r>
          </a:p>
          <a:p>
            <a:pPr lvl="1">
              <a:defRPr sz="1800"/>
            </a:pPr>
            <a:r>
              <a:rPr dirty="0"/>
              <a:t>Model is too simple for the underlying relationship</a:t>
            </a:r>
          </a:p>
          <a:p>
            <a:pPr>
              <a:defRPr sz="1800"/>
            </a:pPr>
            <a:r>
              <a:rPr b="1" dirty="0"/>
              <a:t>Characteristics:</a:t>
            </a:r>
          </a:p>
          <a:p>
            <a:pPr lvl="1">
              <a:defRPr sz="1800"/>
            </a:pPr>
            <a:r>
              <a:rPr dirty="0"/>
              <a:t>Low model complexity</a:t>
            </a:r>
          </a:p>
          <a:p>
            <a:pPr lvl="1">
              <a:defRPr sz="1800"/>
            </a:pPr>
            <a:r>
              <a:rPr dirty="0"/>
              <a:t>High training error</a:t>
            </a:r>
          </a:p>
          <a:p>
            <a:pPr lvl="1">
              <a:defRPr sz="1800"/>
            </a:pPr>
            <a:r>
              <a:rPr dirty="0"/>
              <a:t>Training and validation errors are similar</a:t>
            </a:r>
          </a:p>
          <a:p>
            <a:pPr lvl="1">
              <a:defRPr sz="1800"/>
            </a:pPr>
            <a:r>
              <a:rPr dirty="0"/>
              <a:t>Model cannot capture underlying patterns</a:t>
            </a:r>
          </a:p>
          <a:p>
            <a:pPr>
              <a:defRPr sz="1800"/>
            </a:pPr>
            <a:r>
              <a:rPr lang="en-US" b="1" dirty="0"/>
              <a:t>Examples:</a:t>
            </a:r>
          </a:p>
          <a:p>
            <a:pPr lvl="1">
              <a:defRPr sz="1800"/>
            </a:pPr>
            <a:r>
              <a:rPr lang="en-US" dirty="0"/>
              <a:t>Linear regression for non-linear relationships</a:t>
            </a:r>
          </a:p>
          <a:p>
            <a:pPr lvl="1">
              <a:defRPr sz="1800"/>
            </a:pPr>
            <a:r>
              <a:rPr lang="en-US" dirty="0"/>
              <a:t>Using very few features for complex problems</a:t>
            </a:r>
          </a:p>
          <a:p>
            <a:pPr lvl="1">
              <a:defRPr sz="1800"/>
            </a:pPr>
            <a:r>
              <a:rPr lang="en-US" dirty="0"/>
              <a:t>Overly regularized models</a:t>
            </a:r>
          </a:p>
          <a:p>
            <a:pPr>
              <a:defRPr sz="1800"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94487F-37A2-43D8-9C93-2254CE52F81C}"/>
              </a:ext>
            </a:extLst>
          </p:cNvPr>
          <p:cNvSpPr txBox="1">
            <a:spLocks/>
          </p:cNvSpPr>
          <p:nvPr/>
        </p:nvSpPr>
        <p:spPr>
          <a:xfrm>
            <a:off x="4826969" y="2369049"/>
            <a:ext cx="3483316" cy="3028312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703893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4075"/>
            <a:ext cx="8301318" cy="5923243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b="1" dirty="0"/>
              <a:t>High Variance (Overfitting):</a:t>
            </a:r>
          </a:p>
          <a:p>
            <a:pPr lvl="1">
              <a:defRPr sz="1800"/>
            </a:pPr>
            <a:r>
              <a:rPr dirty="0"/>
              <a:t>Model is highly sensitive to training data</a:t>
            </a:r>
          </a:p>
          <a:p>
            <a:pPr lvl="1">
              <a:defRPr sz="1800"/>
            </a:pPr>
            <a:r>
              <a:rPr dirty="0"/>
              <a:t>Small changes in training data cause large changes in predictions</a:t>
            </a:r>
          </a:p>
          <a:p>
            <a:pPr lvl="1">
              <a:defRPr sz="1800"/>
            </a:pPr>
            <a:r>
              <a:rPr dirty="0"/>
              <a:t>Excellent training performance, poor test performance</a:t>
            </a:r>
          </a:p>
          <a:p>
            <a:pPr lvl="1">
              <a:defRPr sz="1800"/>
            </a:pPr>
            <a:r>
              <a:rPr dirty="0"/>
              <a:t>Model is too complex for the available data</a:t>
            </a:r>
            <a:endParaRPr lang="en-CA" dirty="0"/>
          </a:p>
          <a:p>
            <a:pPr lvl="1">
              <a:defRPr sz="1800"/>
            </a:pPr>
            <a:endParaRPr dirty="0"/>
          </a:p>
          <a:p>
            <a:pPr>
              <a:defRPr sz="1800"/>
            </a:pPr>
            <a:r>
              <a:rPr b="1" dirty="0"/>
              <a:t>Characteristics:</a:t>
            </a:r>
          </a:p>
          <a:p>
            <a:pPr lvl="1">
              <a:defRPr sz="1800"/>
            </a:pPr>
            <a:r>
              <a:rPr dirty="0"/>
              <a:t>High model complexity</a:t>
            </a:r>
          </a:p>
          <a:p>
            <a:pPr lvl="1">
              <a:defRPr sz="1800"/>
            </a:pPr>
            <a:r>
              <a:rPr dirty="0"/>
              <a:t>Low training error, high validation error</a:t>
            </a:r>
          </a:p>
          <a:p>
            <a:pPr lvl="1">
              <a:defRPr sz="1800"/>
            </a:pPr>
            <a:r>
              <a:rPr dirty="0"/>
              <a:t>Large gap between training and validation performance</a:t>
            </a:r>
          </a:p>
          <a:p>
            <a:pPr lvl="1">
              <a:defRPr sz="1800"/>
            </a:pPr>
            <a:r>
              <a:rPr dirty="0"/>
              <a:t>Model memorizes rather than generalizes</a:t>
            </a:r>
            <a:endParaRPr lang="en-CA" dirty="0"/>
          </a:p>
          <a:p>
            <a:pPr lvl="1">
              <a:defRPr sz="1800"/>
            </a:pPr>
            <a:endParaRPr lang="en-CA" dirty="0"/>
          </a:p>
          <a:p>
            <a:pPr>
              <a:defRPr sz="1800"/>
            </a:pPr>
            <a:r>
              <a:rPr lang="en-US" b="1" dirty="0"/>
              <a:t>Examples:</a:t>
            </a:r>
          </a:p>
          <a:p>
            <a:pPr lvl="1">
              <a:defRPr sz="1800"/>
            </a:pPr>
            <a:r>
              <a:rPr lang="en-US" dirty="0"/>
              <a:t>Deep decision trees</a:t>
            </a:r>
          </a:p>
          <a:p>
            <a:pPr lvl="1">
              <a:defRPr sz="1800"/>
            </a:pPr>
            <a:r>
              <a:rPr lang="en-US" dirty="0"/>
              <a:t>High-degree polynomial regression</a:t>
            </a:r>
          </a:p>
          <a:p>
            <a:pPr lvl="1">
              <a:defRPr sz="1800"/>
            </a:pPr>
            <a:r>
              <a:rPr lang="en-US" dirty="0"/>
              <a:t>k-NN with very small k</a:t>
            </a:r>
          </a:p>
          <a:p>
            <a:pPr>
              <a:defRPr sz="1800"/>
            </a:pPr>
            <a:endParaRPr lang="en-US" dirty="0"/>
          </a:p>
          <a:p>
            <a:pPr lvl="1">
              <a:defRPr sz="1800"/>
            </a:pPr>
            <a:endParaRPr dirty="0"/>
          </a:p>
          <a:p>
            <a:pPr>
              <a:defRPr sz="1800"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4B96FE-D6C7-40A1-9042-C9506B7288A7}"/>
              </a:ext>
            </a:extLst>
          </p:cNvPr>
          <p:cNvSpPr txBox="1">
            <a:spLocks/>
          </p:cNvSpPr>
          <p:nvPr/>
        </p:nvSpPr>
        <p:spPr>
          <a:xfrm>
            <a:off x="5110383" y="2369049"/>
            <a:ext cx="3483316" cy="3028312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71210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Bias-Variance Tradeoff - Visual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369049"/>
            <a:ext cx="7202456" cy="2945901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endParaRPr lang="en-CA" dirty="0"/>
          </a:p>
          <a:p>
            <a:pPr>
              <a:defRPr sz="1800"/>
            </a:pPr>
            <a:endParaRPr lang="en-CA" dirty="0"/>
          </a:p>
          <a:p>
            <a:pPr>
              <a:defRPr sz="1800"/>
            </a:pPr>
            <a:endParaRPr lang="en-CA" dirty="0"/>
          </a:p>
          <a:p>
            <a:pPr>
              <a:defRPr sz="1800"/>
            </a:pPr>
            <a:endParaRPr lang="en-CA" dirty="0"/>
          </a:p>
          <a:p>
            <a:pPr>
              <a:defRPr sz="1800"/>
            </a:pPr>
            <a:endParaRPr lang="en-CA" dirty="0"/>
          </a:p>
          <a:p>
            <a:pPr>
              <a:defRPr sz="1800"/>
            </a:pPr>
            <a:endParaRPr lang="en-CA" dirty="0"/>
          </a:p>
          <a:p>
            <a:pPr>
              <a:defRPr sz="1800"/>
            </a:pPr>
            <a:endParaRPr lang="en-CA" dirty="0"/>
          </a:p>
          <a:p>
            <a:pPr>
              <a:defRPr sz="1800"/>
            </a:pPr>
            <a:r>
              <a:rPr dirty="0"/>
              <a:t>Goal: Find the sweet spot that minimizes total error</a:t>
            </a:r>
          </a:p>
          <a:p>
            <a:pPr>
              <a:defRPr sz="1800"/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9F012C-D2C9-48DB-AC66-1B160B01D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59" y="1211356"/>
            <a:ext cx="7393772" cy="313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98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Managing the 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1625"/>
            <a:ext cx="8812305" cy="423694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b="1" dirty="0"/>
              <a:t>Strategies to Reduce Bias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/>
              <a:t>Increase model complexity</a:t>
            </a:r>
          </a:p>
          <a:p>
            <a:pPr lvl="1">
              <a:defRPr sz="1800"/>
            </a:pPr>
            <a:r>
              <a:rPr dirty="0"/>
              <a:t>Add more features</a:t>
            </a:r>
          </a:p>
          <a:p>
            <a:pPr lvl="1">
              <a:defRPr sz="1800"/>
            </a:pPr>
            <a:r>
              <a:rPr dirty="0"/>
              <a:t>Reduce regularization</a:t>
            </a:r>
          </a:p>
          <a:p>
            <a:pPr lvl="1">
              <a:defRPr sz="1800"/>
            </a:pPr>
            <a:r>
              <a:rPr dirty="0"/>
              <a:t>Use more flexible algorithms</a:t>
            </a:r>
          </a:p>
          <a:p>
            <a:pPr>
              <a:defRPr sz="1800"/>
            </a:pPr>
            <a:r>
              <a:rPr b="1" dirty="0"/>
              <a:t>Strategies to Reduce Variance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/>
              <a:t>Increase training data size</a:t>
            </a:r>
          </a:p>
          <a:p>
            <a:pPr lvl="1">
              <a:defRPr sz="1800"/>
            </a:pPr>
            <a:r>
              <a:rPr dirty="0"/>
              <a:t>Use simpler models</a:t>
            </a:r>
          </a:p>
          <a:p>
            <a:pPr lvl="1">
              <a:defRPr sz="1800"/>
            </a:pPr>
            <a:r>
              <a:rPr dirty="0"/>
              <a:t>Apply regularization</a:t>
            </a:r>
          </a:p>
          <a:p>
            <a:pPr lvl="1">
              <a:defRPr sz="1800"/>
            </a:pPr>
            <a:r>
              <a:rPr dirty="0"/>
              <a:t>Use ensemble methods (averaging)</a:t>
            </a:r>
          </a:p>
          <a:p>
            <a:pPr>
              <a:defRPr sz="1800"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5F30C9-3098-4607-9502-904CC5685E2A}"/>
              </a:ext>
            </a:extLst>
          </p:cNvPr>
          <p:cNvSpPr txBox="1">
            <a:spLocks/>
          </p:cNvSpPr>
          <p:nvPr/>
        </p:nvSpPr>
        <p:spPr>
          <a:xfrm>
            <a:off x="5003677" y="1111625"/>
            <a:ext cx="4140323" cy="297951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US" sz="1800" b="1" dirty="0"/>
              <a:t>Data-Driven Approach</a:t>
            </a:r>
            <a:r>
              <a:rPr lang="en-US" sz="1800" dirty="0"/>
              <a:t>:</a:t>
            </a:r>
          </a:p>
          <a:p>
            <a:pPr lvl="1">
              <a:defRPr sz="1800"/>
            </a:pPr>
            <a:r>
              <a:rPr lang="en-US" dirty="0"/>
              <a:t>Use validation curves to find optimal complexity</a:t>
            </a:r>
          </a:p>
          <a:p>
            <a:pPr lvl="1">
              <a:defRPr sz="1800"/>
            </a:pPr>
            <a:r>
              <a:rPr lang="en-US" dirty="0"/>
              <a:t>Cross-validation for robust evaluation</a:t>
            </a:r>
          </a:p>
          <a:p>
            <a:pPr lvl="1">
              <a:defRPr sz="1800"/>
            </a:pPr>
            <a:r>
              <a:rPr lang="en-US" dirty="0"/>
              <a:t>Learning curves to diagnose bias vs. variance issues</a:t>
            </a:r>
          </a:p>
          <a:p>
            <a:pPr>
              <a:defRPr sz="1800"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36260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Regularization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3012"/>
            <a:ext cx="7833941" cy="4384349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b="1" dirty="0"/>
              <a:t>Definition</a:t>
            </a:r>
            <a:r>
              <a:rPr dirty="0"/>
              <a:t>: Techniques that prevent overfitting by adding constraints or penalties to the model.</a:t>
            </a:r>
          </a:p>
          <a:p>
            <a:pPr>
              <a:defRPr sz="1800"/>
            </a:pPr>
            <a:r>
              <a:rPr b="1" dirty="0"/>
              <a:t>Core</a:t>
            </a:r>
            <a:r>
              <a:rPr dirty="0"/>
              <a:t> </a:t>
            </a:r>
            <a:r>
              <a:rPr b="1" dirty="0"/>
              <a:t>Principle</a:t>
            </a:r>
            <a:r>
              <a:rPr dirty="0"/>
              <a:t>: Add a penalty term to the loss function that discourages </a:t>
            </a:r>
            <a:r>
              <a:rPr i="1" dirty="0"/>
              <a:t>model complexity</a:t>
            </a:r>
          </a:p>
          <a:p>
            <a:pPr>
              <a:defRPr sz="1800"/>
            </a:pPr>
            <a:r>
              <a:rPr b="1" dirty="0"/>
              <a:t>General</a:t>
            </a:r>
            <a:r>
              <a:rPr dirty="0"/>
              <a:t> </a:t>
            </a:r>
            <a:r>
              <a:rPr b="1" dirty="0"/>
              <a:t>Form</a:t>
            </a:r>
            <a:r>
              <a:rPr dirty="0"/>
              <a:t>: Total Loss = Data Loss + λ × Regularization Term</a:t>
            </a:r>
          </a:p>
          <a:p>
            <a:pPr lvl="1">
              <a:defRPr sz="1800"/>
            </a:pPr>
            <a:r>
              <a:rPr dirty="0"/>
              <a:t>Where λ (lambda) controls the strength of regularization</a:t>
            </a:r>
          </a:p>
          <a:p>
            <a:pPr>
              <a:defRPr sz="1800"/>
            </a:pPr>
            <a:r>
              <a:rPr b="1" dirty="0"/>
              <a:t>Benefits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/>
              <a:t>Reduces overfitting</a:t>
            </a:r>
          </a:p>
          <a:p>
            <a:pPr lvl="1">
              <a:defRPr sz="1800"/>
            </a:pPr>
            <a:r>
              <a:rPr dirty="0"/>
              <a:t>Improves generalization</a:t>
            </a:r>
          </a:p>
          <a:p>
            <a:pPr lvl="1">
              <a:defRPr sz="1800"/>
            </a:pPr>
            <a:r>
              <a:rPr dirty="0"/>
              <a:t>Makes models more robust</a:t>
            </a:r>
          </a:p>
          <a:p>
            <a:pPr lvl="1">
              <a:defRPr sz="1800"/>
            </a:pPr>
            <a:r>
              <a:rPr dirty="0"/>
              <a:t>Can provide feature selection</a:t>
            </a:r>
          </a:p>
          <a:p>
            <a:pPr>
              <a:defRPr sz="18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BBA322-9527-4C1F-AECB-B19ACA75A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83264"/>
            <a:ext cx="4452231" cy="300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27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8519"/>
            <a:ext cx="8041341" cy="5441668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b="1" dirty="0"/>
              <a:t>L1 Regularization (Lasso):</a:t>
            </a:r>
          </a:p>
          <a:p>
            <a:pPr lvl="1">
              <a:defRPr sz="1800"/>
            </a:pPr>
            <a:r>
              <a:rPr dirty="0"/>
              <a:t>Penalty: λ </a:t>
            </a:r>
            <a:r>
              <a:rPr dirty="0" err="1"/>
              <a:t>Σ|wi</a:t>
            </a:r>
            <a:r>
              <a:rPr dirty="0"/>
              <a:t>|</a:t>
            </a:r>
          </a:p>
          <a:p>
            <a:pPr lvl="1">
              <a:defRPr sz="1800"/>
            </a:pPr>
            <a:r>
              <a:rPr dirty="0"/>
              <a:t>Effect: Drives some weights to exactly zero</a:t>
            </a:r>
          </a:p>
          <a:p>
            <a:pPr lvl="1">
              <a:defRPr sz="1800"/>
            </a:pPr>
            <a:r>
              <a:rPr dirty="0"/>
              <a:t>Result: Automatic feature selection</a:t>
            </a:r>
          </a:p>
          <a:p>
            <a:pPr lvl="1">
              <a:defRPr sz="1800"/>
            </a:pPr>
            <a:r>
              <a:rPr dirty="0"/>
              <a:t>Use case: When you want sparse models</a:t>
            </a:r>
          </a:p>
          <a:p>
            <a:pPr>
              <a:defRPr sz="1800"/>
            </a:pPr>
            <a:r>
              <a:rPr b="1" dirty="0"/>
              <a:t>L2 Regularization (Ridge):</a:t>
            </a:r>
          </a:p>
          <a:p>
            <a:pPr lvl="1">
              <a:defRPr sz="1800"/>
            </a:pPr>
            <a:r>
              <a:rPr dirty="0"/>
              <a:t>Penalty: λ Σwi²</a:t>
            </a:r>
          </a:p>
          <a:p>
            <a:pPr lvl="1">
              <a:defRPr sz="1800"/>
            </a:pPr>
            <a:r>
              <a:rPr dirty="0"/>
              <a:t>Effect: Shrinks weights toward zero</a:t>
            </a:r>
          </a:p>
          <a:p>
            <a:pPr lvl="1">
              <a:defRPr sz="1800"/>
            </a:pPr>
            <a:r>
              <a:rPr dirty="0"/>
              <a:t>Result: Keeps all features but reduces impact</a:t>
            </a:r>
          </a:p>
          <a:p>
            <a:pPr lvl="1">
              <a:defRPr sz="1800"/>
            </a:pPr>
            <a:r>
              <a:rPr dirty="0"/>
              <a:t>Use case: When all features are potentially relevant</a:t>
            </a:r>
            <a:endParaRPr lang="en-CA" dirty="0"/>
          </a:p>
          <a:p>
            <a:pPr>
              <a:defRPr sz="1800"/>
            </a:pPr>
            <a:r>
              <a:rPr lang="en-US" b="1" dirty="0"/>
              <a:t>Elastic Net:</a:t>
            </a:r>
          </a:p>
          <a:p>
            <a:pPr lvl="1">
              <a:defRPr sz="1800"/>
            </a:pPr>
            <a:r>
              <a:rPr lang="en-US" dirty="0"/>
              <a:t>Combines L1 and L2: </a:t>
            </a:r>
            <a:r>
              <a:rPr lang="en-US" dirty="0" err="1"/>
              <a:t>λ₁Σ|wi</a:t>
            </a:r>
            <a:r>
              <a:rPr lang="en-US" dirty="0"/>
              <a:t>| + λ₂Σwi²</a:t>
            </a:r>
          </a:p>
          <a:p>
            <a:pPr lvl="1">
              <a:defRPr sz="1800"/>
            </a:pPr>
            <a:r>
              <a:rPr lang="en-US" dirty="0"/>
              <a:t>Balances feature selection and weight shrinking</a:t>
            </a:r>
          </a:p>
          <a:p>
            <a:pPr lvl="1">
              <a:defRPr sz="1800"/>
            </a:pPr>
            <a:r>
              <a:rPr lang="en-US" dirty="0"/>
              <a:t>Good for correlated features</a:t>
            </a:r>
          </a:p>
          <a:p>
            <a:pPr lvl="1">
              <a:defRPr sz="1800"/>
            </a:pPr>
            <a:endParaRPr dirty="0"/>
          </a:p>
          <a:p>
            <a:pPr>
              <a:defRPr sz="1800"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0F7BF2-003E-4427-BB75-C98CBDBA18E7}"/>
              </a:ext>
            </a:extLst>
          </p:cNvPr>
          <p:cNvSpPr txBox="1">
            <a:spLocks/>
          </p:cNvSpPr>
          <p:nvPr/>
        </p:nvSpPr>
        <p:spPr>
          <a:xfrm>
            <a:off x="457200" y="5314951"/>
            <a:ext cx="8469063" cy="294590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019171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BCED-44F2-4C6A-8E73-5F07353D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lang="en-CA" sz="2100" dirty="0"/>
              <a:t>L2 Regularization (Ridge)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44B2C-FE57-44D0-A411-12111E245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Cost function includes:</a:t>
            </a:r>
          </a:p>
          <a:p>
            <a:pPr lvl="1"/>
            <a:r>
              <a:rPr lang="en-CA" dirty="0"/>
              <a:t>Mean Square Error</a:t>
            </a:r>
          </a:p>
          <a:p>
            <a:pPr lvl="1"/>
            <a:r>
              <a:rPr lang="en-CA" dirty="0"/>
              <a:t>Penalty</a:t>
            </a:r>
          </a:p>
          <a:p>
            <a:r>
              <a:rPr lang="en-CA" dirty="0"/>
              <a:t>One coefficient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One coefficient and intercept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5E625D-0B47-425C-8EF3-79CB16455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333" y="1327202"/>
            <a:ext cx="4681182" cy="26400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F942F5-38C9-448C-8C36-EFDF8D727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577" y="3762798"/>
            <a:ext cx="3147376" cy="8629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C6F76FB-224F-436F-83BE-6BEBBCD8A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576" y="4771091"/>
            <a:ext cx="4535037" cy="8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30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BCED-44F2-4C6A-8E73-5F07353D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lang="en-CA" sz="2100" dirty="0"/>
              <a:t>L1 Regularization (Lasso)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44B2C-FE57-44D0-A411-12111E245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Cost function includes:</a:t>
            </a:r>
          </a:p>
          <a:p>
            <a:pPr lvl="1"/>
            <a:r>
              <a:rPr lang="en-CA" dirty="0"/>
              <a:t>Mean Square Error</a:t>
            </a:r>
          </a:p>
          <a:p>
            <a:pPr lvl="1"/>
            <a:r>
              <a:rPr lang="en-CA" dirty="0"/>
              <a:t>Penalty</a:t>
            </a:r>
          </a:p>
          <a:p>
            <a:r>
              <a:rPr lang="en-CA" dirty="0"/>
              <a:t>One coefficient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One coefficient and intercept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00A2-2114-450F-8C4E-C324886EB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262" y="1233488"/>
            <a:ext cx="4475656" cy="3088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3BDA6-44FC-4608-B926-D89032DC5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42" y="3811478"/>
            <a:ext cx="4023107" cy="1035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1EE1E2-37D6-4E43-83C6-4782CA476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543" y="4847428"/>
            <a:ext cx="5058126" cy="91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54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8F62-33E8-4511-A2FB-121A6343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Lasso vs. 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30079-7868-4131-ADB7-31E05BA6E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325A1-58F1-4CB9-B91C-D900BDE5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84" y="2369049"/>
            <a:ext cx="7121895" cy="296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943099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36003</TotalTime>
  <Words>1533</Words>
  <Application>Microsoft Office PowerPoint</Application>
  <PresentationFormat>On-screen Show (4:3)</PresentationFormat>
  <Paragraphs>227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Helvetica</vt:lpstr>
      <vt:lpstr>Inter</vt:lpstr>
      <vt:lpstr>Times New Roman</vt:lpstr>
      <vt:lpstr>Verdana</vt:lpstr>
      <vt:lpstr>Webdings</vt:lpstr>
      <vt:lpstr>Wingdings</vt:lpstr>
      <vt:lpstr>os-8</vt:lpstr>
      <vt:lpstr>Regression</vt:lpstr>
      <vt:lpstr>Types of Regression</vt:lpstr>
      <vt:lpstr>Linear Regression Algorithm</vt:lpstr>
      <vt:lpstr>Gradient Descent?</vt:lpstr>
      <vt:lpstr>Using Gradient decent: The basics</vt:lpstr>
      <vt:lpstr>Using Gradient decent: The algorithm</vt:lpstr>
      <vt:lpstr>Using Gradient decent: The algorithm</vt:lpstr>
      <vt:lpstr>Using Gradient decent: The algorithm</vt:lpstr>
      <vt:lpstr>Using Gradient decent: The learning rate</vt:lpstr>
      <vt:lpstr>Choosing Non-Linear Functions</vt:lpstr>
      <vt:lpstr>Polynomial Regression</vt:lpstr>
      <vt:lpstr>When to use Polynomial Regression</vt:lpstr>
      <vt:lpstr>Polynomial Regression equation</vt:lpstr>
      <vt:lpstr>Choosing the Polynomial degree</vt:lpstr>
      <vt:lpstr>Choosing the Polynomial degree</vt:lpstr>
      <vt:lpstr>The Bias-Variance Tradeoff - Introduction</vt:lpstr>
      <vt:lpstr>The Bias-Variance Tradeoff - Introduction</vt:lpstr>
      <vt:lpstr>Understanding Bias</vt:lpstr>
      <vt:lpstr>Understanding Variance</vt:lpstr>
      <vt:lpstr>Bias-Variance Tradeoff - Visual Representation</vt:lpstr>
      <vt:lpstr>Managing the Bias-Variance Tradeoff</vt:lpstr>
      <vt:lpstr>Regularization - Introduction</vt:lpstr>
      <vt:lpstr>Types of Regularization</vt:lpstr>
      <vt:lpstr>L2 Regularization (Ridge)</vt:lpstr>
      <vt:lpstr>L1 Regularization (Lasso)</vt:lpstr>
      <vt:lpstr>Lasso vs. ridge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Yasser Ebrahim</cp:lastModifiedBy>
  <cp:revision>396</cp:revision>
  <cp:lastPrinted>2001-06-14T13:58:17Z</cp:lastPrinted>
  <dcterms:created xsi:type="dcterms:W3CDTF">2011-01-13T23:43:38Z</dcterms:created>
  <dcterms:modified xsi:type="dcterms:W3CDTF">2026-03-07T13:46:07Z</dcterms:modified>
</cp:coreProperties>
</file>