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91" r:id="rId7"/>
    <p:sldId id="292" r:id="rId8"/>
    <p:sldId id="293" r:id="rId9"/>
    <p:sldId id="294" r:id="rId10"/>
    <p:sldId id="271" r:id="rId11"/>
    <p:sldId id="295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67"/>
  </p:normalViewPr>
  <p:slideViewPr>
    <p:cSldViewPr snapToGrid="0">
      <p:cViewPr varScale="1">
        <p:scale>
          <a:sx n="85" d="100"/>
          <a:sy n="85" d="100"/>
        </p:scale>
        <p:origin x="1272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Today we'll explore Memory Management, a fundamental concept in operating systems.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593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Here's our agenda. We'll cover these topics in sequence, building understanding progressively.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753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Memory management is crucial for system performance and stability. Note the memory hierarchy - speed decreases as we move down.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774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critical concept. Logical addresses are what programs see; physical addresses are where data actually resides.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22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MMU handles address translation dynamically during program execution using base and limit registers.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069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Let's work through this example to see how logical addresses map to physical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3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Swapping allows more processes to run than physical memory can hold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09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swap process involves moving entire processes between RAM and disk. Note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0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Swapping has significant overhead. Modern systems use more sophisticated techniques like demand paging.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8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Contiguous allocation means each process gets a single, continuous block of memory.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707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Fixed partitions are simple but lead to internal fragmentation. Notice the wasted space.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278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Variable partitions eliminate internal fragmentation but create external fragmentation.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366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allocation strategies have different performance characteristics. Choose based on workload.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748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Understanding both types of fragmentation is key to designing efficient memory systems.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217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Internal fragmentation wastes space within allocated blocks. More common in fixed partitioning.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466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External fragmentation prevents allocation despite sufficient total free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021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Compaction solves external fragmentation but requires significant CPU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073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metrics help evaluate memory management effectiveness.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287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Compare the trade-offs between different techniques.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01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these key points. Modern systems build on these fundamental concepts.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420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8E64-48AD-4956-A9D7-8BCECBF9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A92C8-8FC9-4B0B-B8F3-D0FFDBEDD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E06D-69C4-436E-9325-BCD4F2F1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8EB9-E72B-48DB-B565-3E1236AB1C1A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D3B37-5821-4CFD-BDA2-AE8BF4A0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D6B8-AFA7-4899-8C1D-6B9F9E4F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81B7-0AD8-422A-B8FA-72B7C1808C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647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0E9F-B042-45F4-8564-E1522723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b="1">
                <a:latin typeface="Arial" panose="020B0604020202020204" pitchFamily="34" charset="0"/>
              </a:rPr>
              <a:t>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59507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084E-58CB-4FAE-80CD-9F1CDEB9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What is Machine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12BBE-8363-45ED-8E93-18E1E25B7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Field of AI that enables computers to learn without explicit programming</a:t>
            </a:r>
          </a:p>
          <a:p>
            <a:r>
              <a:rPr lang="en-US" dirty="0">
                <a:latin typeface="Arial" panose="020B0604020202020204" pitchFamily="34" charset="0"/>
              </a:rPr>
              <a:t>Uses algorithms to find patterns in data</a:t>
            </a:r>
          </a:p>
          <a:p>
            <a:r>
              <a:rPr lang="en-US" dirty="0">
                <a:latin typeface="Arial" panose="020B0604020202020204" pitchFamily="34" charset="0"/>
              </a:rPr>
              <a:t>Improves performance with experience</a:t>
            </a:r>
          </a:p>
          <a:p>
            <a:r>
              <a:rPr lang="en-US" dirty="0">
                <a:latin typeface="Arial" panose="020B0604020202020204" pitchFamily="34" charset="0"/>
              </a:rPr>
              <a:t>Makes predictions or decisions based on data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Instead of being explicitly programmed to perform a task, these systems are trained using large amounts of data and algorithms that give them the ability to learn how to perform the task. </a:t>
            </a:r>
          </a:p>
          <a:p>
            <a:endParaRPr lang="en-CA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2A944-155C-4964-920D-AD05D3006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540" y="3905440"/>
            <a:ext cx="4647153" cy="24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0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6062-013E-4CCF-B839-D3CDC588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>
                <a:latin typeface="Arial" panose="020B0604020202020204" pitchFamily="34" charset="0"/>
              </a:rPr>
              <a:t>Traditional Programming vs Machine Learning</a:t>
            </a:r>
            <a:endParaRPr lang="en-CA" sz="270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819B6-BF3F-4CEF-B278-4FE96C857A82}"/>
              </a:ext>
            </a:extLst>
          </p:cNvPr>
          <p:cNvSpPr txBox="1"/>
          <p:nvPr/>
        </p:nvSpPr>
        <p:spPr>
          <a:xfrm>
            <a:off x="655545" y="1172128"/>
            <a:ext cx="2857500" cy="21646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Bef>
                <a:spcPts val="750"/>
              </a:spcBef>
            </a:pPr>
            <a:r>
              <a:rPr lang="en-US" b="1" dirty="0">
                <a:latin typeface="Arial" panose="020B0604020202020204" pitchFamily="34" charset="0"/>
              </a:rPr>
              <a:t>TRADITIONAL PROGRAMMIN</a:t>
            </a:r>
            <a:r>
              <a:rPr lang="en-US" dirty="0">
                <a:latin typeface="Arial" panose="020B0604020202020204" pitchFamily="34" charset="0"/>
              </a:rPr>
              <a:t>G</a:t>
            </a:r>
          </a:p>
          <a:p>
            <a:pPr>
              <a:spcBef>
                <a:spcPts val="750"/>
              </a:spcBef>
            </a:pPr>
            <a:r>
              <a:rPr lang="en-US" dirty="0">
                <a:latin typeface="Arial" panose="020B0604020202020204" pitchFamily="34" charset="0"/>
              </a:rPr>
              <a:t>Rules + Data </a:t>
            </a:r>
            <a:r>
              <a:rPr lang="en-US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</a:rPr>
              <a:t> Answers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Fixed rules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Explicit instructions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Deterministic output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AA936-3205-4020-A696-C167A131E1F4}"/>
              </a:ext>
            </a:extLst>
          </p:cNvPr>
          <p:cNvSpPr txBox="1"/>
          <p:nvPr/>
        </p:nvSpPr>
        <p:spPr>
          <a:xfrm>
            <a:off x="4628601" y="1216930"/>
            <a:ext cx="28575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Bef>
                <a:spcPts val="750"/>
              </a:spcBef>
            </a:pPr>
            <a:r>
              <a:rPr lang="en-US" b="1" dirty="0">
                <a:latin typeface="Arial" panose="020B0604020202020204" pitchFamily="34" charset="0"/>
              </a:rPr>
              <a:t>MACHINE LEARNING</a:t>
            </a:r>
          </a:p>
          <a:p>
            <a:pPr>
              <a:spcBef>
                <a:spcPts val="750"/>
              </a:spcBef>
            </a:pPr>
            <a:r>
              <a:rPr lang="en-US" dirty="0">
                <a:latin typeface="Arial" panose="020B0604020202020204" pitchFamily="34" charset="0"/>
              </a:rPr>
              <a:t>Answers + Data </a:t>
            </a:r>
            <a:r>
              <a:rPr lang="en-US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</a:rPr>
              <a:t> Rules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Learns patterns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Adapts to new data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Probabilistic output</a:t>
            </a:r>
            <a:endParaRPr lang="en-CA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15423-5F9E-4A5B-8AB8-F1E98EE5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2938"/>
            <a:ext cx="3379431" cy="1204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AC0AAB-BFBA-48A3-ABA7-3D95D3D06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01" y="3194276"/>
            <a:ext cx="4189543" cy="3627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874AA3-EBF6-4D3A-A2B6-173CD4264380}"/>
              </a:ext>
            </a:extLst>
          </p:cNvPr>
          <p:cNvSpPr txBox="1"/>
          <p:nvPr/>
        </p:nvSpPr>
        <p:spPr>
          <a:xfrm>
            <a:off x="7790330" y="4410636"/>
            <a:ext cx="112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F0"/>
                </a:solidFill>
              </a:rPr>
              <a:t>(Model)</a:t>
            </a:r>
          </a:p>
        </p:txBody>
      </p:sp>
    </p:spTree>
    <p:extLst>
      <p:ext uri="{BB962C8B-B14F-4D97-AF65-F5344CB8AC3E}">
        <p14:creationId xmlns:p14="http://schemas.microsoft.com/office/powerpoint/2010/main" val="300596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E7CA-25F4-4EC3-AA69-E5A5163B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Why Machine Learning Now?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09D48-C9DB-41E3-953B-6B7169BC1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1. Big Data Explosion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2.5 quintillion bytes of data created daily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IoT devices, social media, sensors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2. Increased Computing Power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Cloud computing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GPU acceleration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3. Better Algorithms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Deep learning breakthroughs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Improved accuracy</a:t>
            </a:r>
          </a:p>
        </p:txBody>
      </p:sp>
    </p:spTree>
    <p:extLst>
      <p:ext uri="{BB962C8B-B14F-4D97-AF65-F5344CB8AC3E}">
        <p14:creationId xmlns:p14="http://schemas.microsoft.com/office/powerpoint/2010/main" val="272018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BDF2-CE26-451C-9F93-F4B8EB1C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Types of Machine Learning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B55B124-D4C5-4656-AB61-B4D4D6F40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9" y="1171016"/>
            <a:ext cx="7726958" cy="552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6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985" y="-378848"/>
            <a:ext cx="4094129" cy="994172"/>
          </a:xfrm>
        </p:spPr>
        <p:txBody>
          <a:bodyPr>
            <a:normAutofit/>
          </a:bodyPr>
          <a:lstStyle/>
          <a:p>
            <a:r>
              <a:rPr lang="en-US" dirty="0"/>
              <a:t>Terminology: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71" y="1216029"/>
            <a:ext cx="8287282" cy="31443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The foundation of any ML model.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It consists of the information that the algorithm will learn from.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Data can be structured (e.g., tables in a database) or unstructured (e.g., text, images).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921AA-5A18-16EF-8AFA-A1695613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859" y="3030889"/>
            <a:ext cx="5594717" cy="330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3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491" y="96282"/>
            <a:ext cx="6452968" cy="540212"/>
          </a:xfrm>
        </p:spPr>
        <p:txBody>
          <a:bodyPr>
            <a:normAutofit fontScale="90000"/>
          </a:bodyPr>
          <a:lstStyle/>
          <a:p>
            <a:r>
              <a:rPr lang="en-US" dirty="0"/>
              <a:t>Terminology: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71" y="1063629"/>
            <a:ext cx="8325470" cy="31443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specific characteristics or attributes derived from the data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help the model make predictions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In a dataset, these are often the columns that are input into the model.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For example, features of a house might include its square footage, number of bedrooms, and age.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D511B-5417-357D-071A-7251A879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16" y="3179300"/>
            <a:ext cx="5480139" cy="323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5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950" y="132141"/>
            <a:ext cx="4094129" cy="531248"/>
          </a:xfrm>
        </p:spPr>
        <p:txBody>
          <a:bodyPr>
            <a:normAutofit fontScale="90000"/>
          </a:bodyPr>
          <a:lstStyle/>
          <a:p>
            <a:r>
              <a:rPr lang="en-US" dirty="0"/>
              <a:t>Terminology: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50" y="1018806"/>
            <a:ext cx="8201085" cy="31443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the outcomes or the target variable that the model is trying to predict.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In supervised learning, every training example includes both features and the corresponding label.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For instance, in a spam detection model, the labels would be "spam" or "not spam."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B79AA-A4CC-D742-A64C-36EAAAE8D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202" y="2874500"/>
            <a:ext cx="5965439" cy="352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16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068" y="69387"/>
            <a:ext cx="4094129" cy="549177"/>
          </a:xfrm>
        </p:spPr>
        <p:txBody>
          <a:bodyPr>
            <a:normAutofit fontScale="90000"/>
          </a:bodyPr>
          <a:lstStyle/>
          <a:p>
            <a:r>
              <a:rPr lang="en-US" dirty="0"/>
              <a:t>Terminology: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71" y="1072594"/>
            <a:ext cx="8191000" cy="31443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a mathematical representation of a real-world process.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It's the outcome of the training process, where the algorithm learns the relationship between features and labels.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tabLst>
                <a:tab pos="342900" algn="l"/>
              </a:tabLst>
            </a:pPr>
            <a:r>
              <a:rPr lang="en-US" dirty="0">
                <a:solidFill>
                  <a:srgbClr val="0D0D0D"/>
                </a:solidFill>
                <a:latin typeface="Söhne"/>
              </a:rPr>
              <a:t>The model can then make predictions on new, unseen data.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7890" name="Picture 2" descr="ML Models: Understanding the Fundamentals">
            <a:extLst>
              <a:ext uri="{FF2B5EF4-FFF2-40B4-BE49-F238E27FC236}">
                <a16:creationId xmlns:a16="http://schemas.microsoft.com/office/drawing/2014/main" id="{56E7630C-846D-8B41-9CC4-57574382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683" y="2732089"/>
            <a:ext cx="6463552" cy="393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18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BDF2-CE26-451C-9F93-F4B8EB1C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Types of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F599-BDC4-4D7A-81BE-1F5A6200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950259"/>
            <a:ext cx="8229600" cy="57643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1. SUPERVISED LEARNING (what we’ve seen in the diagram earlier)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Labeled data (i.e., observations come with the corresponding output)</a:t>
            </a:r>
          </a:p>
          <a:p>
            <a:pPr lvl="2"/>
            <a:r>
              <a:rPr lang="en-US" dirty="0">
                <a:latin typeface="Arial" panose="020B0604020202020204" pitchFamily="34" charset="0"/>
              </a:rPr>
              <a:t>Inputs are called observations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Classification &amp; Regression</a:t>
            </a:r>
          </a:p>
          <a:p>
            <a:pPr lvl="2"/>
            <a:r>
              <a:rPr lang="en-US" dirty="0">
                <a:latin typeface="Arial" panose="020B0604020202020204" pitchFamily="34" charset="0"/>
              </a:rPr>
              <a:t>Classification: classify new observations (e.g., spam vs. non-spam)</a:t>
            </a:r>
          </a:p>
          <a:p>
            <a:pPr lvl="2"/>
            <a:r>
              <a:rPr lang="en-US" dirty="0">
                <a:latin typeface="Arial" panose="020B0604020202020204" pitchFamily="34" charset="0"/>
              </a:rPr>
              <a:t>Regression: predict a value (e.g., stock price)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2. UNSUPERVISED LEARNING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Unlabeled data (i.e., we only have the observations)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Clustering &amp; Association</a:t>
            </a:r>
          </a:p>
          <a:p>
            <a:pPr lvl="2"/>
            <a:r>
              <a:rPr lang="en-US" dirty="0">
                <a:latin typeface="Arial" panose="020B0604020202020204" pitchFamily="34" charset="0"/>
              </a:rPr>
              <a:t>Clustering: group the observations into clusters</a:t>
            </a:r>
          </a:p>
          <a:p>
            <a:pPr lvl="2"/>
            <a:r>
              <a:rPr lang="en-US" dirty="0">
                <a:latin typeface="Arial" panose="020B0604020202020204" pitchFamily="34" charset="0"/>
              </a:rPr>
              <a:t>Association: discover relationships amongst things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3. REINFORCEMENT LEARNING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Reward-based learning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Trial and error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54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ED5B-EF4B-46DC-A533-6627F538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BD259-DB2E-47D6-A369-B713CAFFF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49" y="1233488"/>
            <a:ext cx="7790703" cy="453072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Train a model by showing it labeled data</a:t>
            </a:r>
          </a:p>
          <a:p>
            <a:r>
              <a:rPr lang="en-US" dirty="0">
                <a:latin typeface="Arial" panose="020B0604020202020204" pitchFamily="34" charset="0"/>
              </a:rPr>
              <a:t>Use the trained model to figure out the label of new data 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endParaRPr lang="en-CA" dirty="0">
              <a:latin typeface="Arial" panose="020B060402020202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854AB6-65DD-4234-BA7A-D96C81CD7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918" y="2433156"/>
            <a:ext cx="5903294" cy="395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24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ED5B-EF4B-46DC-A533-6627F538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BD259-DB2E-47D6-A369-B713CAFFF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3657974" cy="4530725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rial" panose="020B0604020202020204" pitchFamily="34" charset="0"/>
              </a:rPr>
              <a:t>Learning from labeled data</a:t>
            </a:r>
          </a:p>
          <a:p>
            <a:r>
              <a:rPr lang="en-US" dirty="0">
                <a:latin typeface="Arial" panose="020B0604020202020204" pitchFamily="34" charset="0"/>
              </a:rPr>
              <a:t>Algorithm learns to map input to output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CLASSIFICATION: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Predict discrete categories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Examples: Spam detection, Image recognition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REGRESSION: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Predict continuous values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Examples: Price prediction, Temperature forecast</a:t>
            </a:r>
            <a:endParaRPr lang="en-CA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393FC-6362-4394-AB16-EA9AE093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881" y="4509819"/>
            <a:ext cx="4219028" cy="2348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76D821-B7C4-49FA-97B2-E913D5069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420" y="1932385"/>
            <a:ext cx="3049492" cy="25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3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DA21-27E3-4EDF-9D4A-6A4EB5DB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Unsupervised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3DE1C-2F55-4865-A0B5-564C14F0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4455832" cy="528385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</a:rPr>
              <a:t>Learning from unlabeled data</a:t>
            </a:r>
          </a:p>
          <a:p>
            <a:r>
              <a:rPr lang="en-US" dirty="0">
                <a:latin typeface="Arial" panose="020B0604020202020204" pitchFamily="34" charset="0"/>
              </a:rPr>
              <a:t>Finding hidden patterns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CLUSTERING: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Group similar items together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Examples: Customer segmentation, Image compression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DIMENSIONALITY REDUCTION: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Reduce number of features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Examples: Feature extraction, Data visualization</a:t>
            </a:r>
          </a:p>
          <a:p>
            <a:pPr lvl="1"/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ASSOCIATION: 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discover relationships amongst things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Example: If a customer buys bread, they are 70% likely to also buy milk.</a:t>
            </a:r>
          </a:p>
          <a:p>
            <a:endParaRPr lang="en-CA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C18AF-8C22-4B5F-BD02-9DCC7C8E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046" y="1453837"/>
            <a:ext cx="3866508" cy="1610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9BCA9-B9A9-400F-87B0-4A7BCB87B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046" y="3064484"/>
            <a:ext cx="3690942" cy="365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72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CFB9-EA36-4848-AC49-0B6352F9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Reinforcement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E25E3-D310-4EF9-90EB-4786264C1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4276538" cy="545707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Arial" panose="020B0604020202020204" pitchFamily="34" charset="0"/>
              </a:rPr>
              <a:t>Agent learns through interaction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b="1" dirty="0">
                <a:latin typeface="+mj-lt"/>
              </a:rPr>
              <a:t>The Cycle (step by step)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Observation</a:t>
            </a:r>
            <a:r>
              <a:rPr lang="en-US" dirty="0">
                <a:latin typeface="+mj-lt"/>
              </a:rPr>
              <a:t> → The environment sends the current state to the agent (e.g., a game screen, sensor data)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Policy</a:t>
            </a:r>
            <a:r>
              <a:rPr lang="en-US" dirty="0">
                <a:latin typeface="+mj-lt"/>
              </a:rPr>
              <a:t> → The agent uses its policy to decide what action to take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Action</a:t>
            </a:r>
            <a:r>
              <a:rPr lang="en-US" dirty="0">
                <a:latin typeface="+mj-lt"/>
              </a:rPr>
              <a:t> → The agent acts on the environment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Reward</a:t>
            </a:r>
            <a:r>
              <a:rPr lang="en-US" dirty="0">
                <a:latin typeface="+mj-lt"/>
              </a:rPr>
              <a:t> → The environment evaluates the action and sends a reward signal (positive or negative)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RL Algorithm</a:t>
            </a:r>
            <a:r>
              <a:rPr lang="en-US" dirty="0">
                <a:latin typeface="+mj-lt"/>
              </a:rPr>
              <a:t> → Uses the reward to update the policy, making better decisions next time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The Goal</a:t>
            </a:r>
          </a:p>
          <a:p>
            <a:pPr lvl="1"/>
            <a:r>
              <a:rPr lang="en-US" dirty="0">
                <a:latin typeface="+mj-lt"/>
              </a:rPr>
              <a:t>The agent learns to </a:t>
            </a:r>
            <a:r>
              <a:rPr lang="en-US" b="1" dirty="0">
                <a:latin typeface="+mj-lt"/>
              </a:rPr>
              <a:t>maximize cumulative reward</a:t>
            </a:r>
            <a:r>
              <a:rPr lang="en-US" dirty="0">
                <a:latin typeface="+mj-lt"/>
              </a:rPr>
              <a:t> over time by continuously refining its policy through trial and error — without being explicitly programmed on </a:t>
            </a:r>
            <a:r>
              <a:rPr lang="en-US" i="1" dirty="0">
                <a:latin typeface="+mj-lt"/>
              </a:rPr>
              <a:t>how</a:t>
            </a:r>
            <a:r>
              <a:rPr lang="en-US" dirty="0">
                <a:latin typeface="+mj-lt"/>
              </a:rPr>
              <a:t> to act.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19C3A-582D-45AB-AF08-77DCD0430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772" y="973685"/>
            <a:ext cx="3657917" cy="3069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E83C0-F9EF-4225-9771-93BEA8F5E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881" y="4162516"/>
            <a:ext cx="3570808" cy="25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78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D30E-760F-4F61-B7F1-EB13A717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Common Machine Learning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75CB6-7518-4BDC-A0D7-886B31A89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5490041"/>
          </a:xfrm>
        </p:spPr>
        <p:txBody>
          <a:bodyPr>
            <a:normAutofit fontScale="92500" lnSpcReduction="10000"/>
          </a:bodyPr>
          <a:lstStyle/>
          <a:p>
            <a:r>
              <a:rPr lang="en-CA" dirty="0">
                <a:latin typeface="Arial" panose="020B0604020202020204" pitchFamily="34" charset="0"/>
              </a:rPr>
              <a:t>SUPERVISED: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Linear/Logistic Regression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Decision Trees &amp; Random Forests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Support Vector Machines (SVM)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Neural Networks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</a:rPr>
              <a:t>UNSUPERVISED: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K-Means Clustering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Hierarchical Clustering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Principal Component Analysis (PCA)</a:t>
            </a:r>
          </a:p>
          <a:p>
            <a:pPr lvl="1"/>
            <a:endParaRPr lang="en-CA" dirty="0">
              <a:latin typeface="Arial" panose="020B0604020202020204" pitchFamily="34" charset="0"/>
            </a:endParaRPr>
          </a:p>
          <a:p>
            <a:pPr>
              <a:defRPr sz="1800"/>
            </a:pPr>
            <a:r>
              <a:rPr lang="en-CA" sz="1800" b="1" dirty="0">
                <a:latin typeface="Arial" panose="020B0604020202020204" pitchFamily="34" charset="0"/>
                <a:cs typeface="Arial" panose="020B0604020202020204" pitchFamily="34" charset="0"/>
              </a:rPr>
              <a:t>Algorithm Selection Considerations</a:t>
            </a:r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defRPr sz="1800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Data size and dimensionality</a:t>
            </a:r>
          </a:p>
          <a:p>
            <a:pPr lvl="1">
              <a:defRPr sz="1800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Interpretability requirements</a:t>
            </a:r>
          </a:p>
          <a:p>
            <a:pPr lvl="1">
              <a:defRPr sz="1800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Computational resources</a:t>
            </a:r>
          </a:p>
          <a:p>
            <a:pPr lvl="1">
              <a:defRPr sz="1800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Problem complexity</a:t>
            </a:r>
          </a:p>
          <a:p>
            <a:pPr lvl="1"/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6E18-F2DC-4F2D-B36B-25B5268B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The Machine Learning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05D4B-6D8E-44DD-9255-E9109B66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376555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1. Data Collection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Gather relevant data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2. Data Preparation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Clean, transform, split data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3. Model Selection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Choose appropriate algorithm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4. Training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Feed data to algorithm</a:t>
            </a:r>
          </a:p>
          <a:p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3085F59-0FAC-41E4-A394-ABEF64590264}"/>
              </a:ext>
            </a:extLst>
          </p:cNvPr>
          <p:cNvSpPr txBox="1">
            <a:spLocks/>
          </p:cNvSpPr>
          <p:nvPr/>
        </p:nvSpPr>
        <p:spPr bwMode="auto">
          <a:xfrm>
            <a:off x="4572000" y="1233487"/>
            <a:ext cx="37655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5. Evaluation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Test model performance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Arial" panose="020B0604020202020204" pitchFamily="34" charset="0"/>
              </a:rPr>
              <a:t>6. Deployment</a:t>
            </a:r>
          </a:p>
          <a:p>
            <a:pPr marL="457200" lvl="1" indent="0">
              <a:buNone/>
            </a:pPr>
            <a:r>
              <a:rPr lang="en-CA" dirty="0">
                <a:latin typeface="Arial" panose="020B0604020202020204" pitchFamily="34" charset="0"/>
              </a:rPr>
              <a:t>Put model into production</a:t>
            </a:r>
          </a:p>
        </p:txBody>
      </p:sp>
    </p:spTree>
    <p:extLst>
      <p:ext uri="{BB962C8B-B14F-4D97-AF65-F5344CB8AC3E}">
        <p14:creationId xmlns:p14="http://schemas.microsoft.com/office/powerpoint/2010/main" val="91298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16BE-C758-4FE5-B732-5DE9B0D6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Data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89003-829F-4B5D-9024-E312F3C58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497008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Data Cleaning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Handle missing values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Remove duplicates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Fix inconsistencies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Feature Engineering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Create relevant features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Select important features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Data Splitting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Training set (70-80%)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Testing set (20-30%)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117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5514-620F-4450-AD00-A7E26FE4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Model Evaluation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60D8F-9063-4D1A-88E2-6FFBC1CC4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Arial" panose="020B0604020202020204" pitchFamily="34" charset="0"/>
              </a:rPr>
              <a:t>CLASSIFICATION METRICS: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Accuracy = (TP+TN)/(Total)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Precision = TP/(TP+FP)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Recall = TP/(TP+FN)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F1 Score = 2*(Precision*Recall)/(</a:t>
            </a:r>
            <a:r>
              <a:rPr lang="en-CA" dirty="0" err="1">
                <a:latin typeface="Arial" panose="020B0604020202020204" pitchFamily="34" charset="0"/>
              </a:rPr>
              <a:t>Precision+Recall</a:t>
            </a:r>
            <a:r>
              <a:rPr lang="en-CA" dirty="0">
                <a:latin typeface="Arial" panose="020B0604020202020204" pitchFamily="34" charset="0"/>
              </a:rPr>
              <a:t>)</a:t>
            </a:r>
          </a:p>
          <a:p>
            <a:pPr lvl="1"/>
            <a:endParaRPr lang="en-CA" dirty="0">
              <a:latin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</a:rPr>
              <a:t>REGRESSION METRICS: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Mean Absolute Error (MAE)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Mean Squared Error (MSE)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R-squared (R²)</a:t>
            </a:r>
          </a:p>
        </p:txBody>
      </p:sp>
    </p:spTree>
    <p:extLst>
      <p:ext uri="{BB962C8B-B14F-4D97-AF65-F5344CB8AC3E}">
        <p14:creationId xmlns:p14="http://schemas.microsoft.com/office/powerpoint/2010/main" val="399742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AB6F-77B5-4692-8C7D-4D7CEF1B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Real-World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5787E-7E5E-43DF-AD22-85AE55F60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CA" dirty="0">
                <a:latin typeface="Arial" panose="020B0604020202020204" pitchFamily="34" charset="0"/>
              </a:rPr>
              <a:t>Healthcare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Disease diagnosis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Drug discovery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</a:rPr>
              <a:t>Finance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Fraud detection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Algorithmic trading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</a:rPr>
              <a:t>E-commerce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Recommendation systems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Customer churn prediction</a:t>
            </a:r>
          </a:p>
          <a:p>
            <a:endParaRPr lang="en-CA" dirty="0">
              <a:latin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</a:rPr>
              <a:t>Transportation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Route optimization</a:t>
            </a:r>
          </a:p>
          <a:p>
            <a:pPr lvl="1"/>
            <a:r>
              <a:rPr lang="en-CA" dirty="0">
                <a:latin typeface="Arial" panose="020B0604020202020204" pitchFamily="34" charset="0"/>
              </a:rPr>
              <a:t>   Autonomous vehicles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BE547-8E9A-40B0-8FDE-1D9CADE6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435" y="1093787"/>
            <a:ext cx="4234269" cy="1613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CAF07E-13CF-40DC-90EC-E137B18BD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09" y="2946848"/>
            <a:ext cx="4123087" cy="23152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09127C-E3D2-47EA-9FAD-C3B6BBC3E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011" y="5333859"/>
            <a:ext cx="3612777" cy="152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6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CFB3-B4DC-4052-88F3-0A095C45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Challenges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BFD11-AF31-4AC3-9C57-AE654A8F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Data Quality and Quantity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Need large amounts of quality data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Bias in training data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Interpretability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Black box models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   Difficulty explaining decisions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Overfitting/Underfitting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Model too complex or too simple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Computational Resources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Training time and costs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80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209D-AF9A-452A-985D-84FBC0EA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700">
                <a:latin typeface="Arial" panose="020B0604020202020204" pitchFamily="34" charset="0"/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120B2-14E9-4135-8B81-067124AFA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Machine Learning enables computers to learn from data</a:t>
            </a:r>
          </a:p>
          <a:p>
            <a:r>
              <a:rPr lang="en-US" dirty="0">
                <a:latin typeface="Arial" panose="020B0604020202020204" pitchFamily="34" charset="0"/>
              </a:rPr>
              <a:t>Three main types: Supervised, Unsupervised, Reinforcement</a:t>
            </a:r>
          </a:p>
          <a:p>
            <a:r>
              <a:rPr lang="en-US" dirty="0">
                <a:latin typeface="Arial" panose="020B0604020202020204" pitchFamily="34" charset="0"/>
              </a:rPr>
              <a:t>Follows a systematic workflow from data to deployment</a:t>
            </a:r>
          </a:p>
          <a:p>
            <a:r>
              <a:rPr lang="en-US" dirty="0">
                <a:latin typeface="Arial" panose="020B0604020202020204" pitchFamily="34" charset="0"/>
              </a:rPr>
              <a:t>Wide range of real-world applications</a:t>
            </a:r>
          </a:p>
          <a:p>
            <a:r>
              <a:rPr lang="en-US" dirty="0">
                <a:latin typeface="Arial" panose="020B0604020202020204" pitchFamily="34" charset="0"/>
              </a:rPr>
              <a:t>Growing field with immense potential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QUESTIONS?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Thank you for your attention!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254944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36518</TotalTime>
  <Words>1318</Words>
  <Application>Microsoft Office PowerPoint</Application>
  <PresentationFormat>On-screen Show (4:3)</PresentationFormat>
  <Paragraphs>245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Helvetica</vt:lpstr>
      <vt:lpstr>Söhne</vt:lpstr>
      <vt:lpstr>Times New Roman</vt:lpstr>
      <vt:lpstr>Verdana</vt:lpstr>
      <vt:lpstr>Webdings</vt:lpstr>
      <vt:lpstr>Wingdings</vt:lpstr>
      <vt:lpstr>os-8</vt:lpstr>
      <vt:lpstr>Introduction to Machine Learning</vt:lpstr>
      <vt:lpstr>What is Machine Learning?</vt:lpstr>
      <vt:lpstr>Traditional Programming vs Machine Learning</vt:lpstr>
      <vt:lpstr>Why Machine Learning Now?</vt:lpstr>
      <vt:lpstr>Types of Machine Learning</vt:lpstr>
      <vt:lpstr>Terminology: Data</vt:lpstr>
      <vt:lpstr>Terminology: Features</vt:lpstr>
      <vt:lpstr>Terminology: Labels</vt:lpstr>
      <vt:lpstr>Terminology: Model</vt:lpstr>
      <vt:lpstr>Types of Machine Learning</vt:lpstr>
      <vt:lpstr>Supervised Learning</vt:lpstr>
      <vt:lpstr>Supervised Learning</vt:lpstr>
      <vt:lpstr>Unsupervised Learning</vt:lpstr>
      <vt:lpstr>Reinforcement Learning</vt:lpstr>
      <vt:lpstr>Common Machine Learning Algorithms</vt:lpstr>
      <vt:lpstr>The Machine Learning Workflow</vt:lpstr>
      <vt:lpstr>Data Preparation</vt:lpstr>
      <vt:lpstr>Model Evaluation Metrics</vt:lpstr>
      <vt:lpstr>Real-World Applications</vt:lpstr>
      <vt:lpstr>Challenges and Limitations</vt:lpstr>
      <vt:lpstr>Summary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395</cp:revision>
  <cp:lastPrinted>2001-06-14T13:58:17Z</cp:lastPrinted>
  <dcterms:created xsi:type="dcterms:W3CDTF">2011-01-13T23:43:38Z</dcterms:created>
  <dcterms:modified xsi:type="dcterms:W3CDTF">2026-03-12T02:24:04Z</dcterms:modified>
</cp:coreProperties>
</file>